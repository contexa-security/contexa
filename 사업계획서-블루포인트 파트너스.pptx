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237" r:id="rId2"/>
    <p:sldId id="2244" r:id="rId3"/>
    <p:sldId id="2210" r:id="rId4"/>
    <p:sldId id="2228" r:id="rId5"/>
    <p:sldId id="2231" r:id="rId6"/>
    <p:sldId id="2241" r:id="rId7"/>
    <p:sldId id="2243" r:id="rId8"/>
    <p:sldId id="2232" r:id="rId9"/>
    <p:sldId id="2246" r:id="rId10"/>
    <p:sldId id="2247" r:id="rId11"/>
    <p:sldId id="2248" r:id="rId12"/>
    <p:sldId id="2249" r:id="rId13"/>
    <p:sldId id="2216" r:id="rId14"/>
    <p:sldId id="2239" r:id="rId15"/>
    <p:sldId id="2233" r:id="rId16"/>
    <p:sldId id="2245" r:id="rId17"/>
    <p:sldId id="2221" r:id="rId18"/>
    <p:sldId id="2236" r:id="rId19"/>
    <p:sldId id="2240" r:id="rId20"/>
    <p:sldId id="222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D7B8"/>
    <a:srgbClr val="172949"/>
    <a:srgbClr val="A50021"/>
    <a:srgbClr val="13181F"/>
    <a:srgbClr val="10141A"/>
    <a:srgbClr val="181E26"/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242" autoAdjust="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20" d="100"/>
          <a:sy n="120" d="100"/>
        </p:scale>
        <p:origin x="3120" y="-4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DBA16B-5826-410B-9ABF-3B8513C99D7B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389857-5745-4489-9591-8F76802FE2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565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D53BE4-5461-4F5A-8182-700EF7397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5E7EF0A-0117-4CB8-9FE1-4CA0337B1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160D8E-9233-4A1F-BFE5-B8C386FD0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250CCC-6EDB-4FDB-BB7F-2838884D2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2C91E1-3610-46D4-ABF3-0DA1686F9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477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8D8BBE-4C53-48D2-8E8C-332C1A7DC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C71E04-7F90-4A50-856E-6F26CD88C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9FF0E-CB7C-405F-84CE-ECE8F470E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7A929-E9BE-4695-9475-BD6BAA20D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432A27-94A6-4C6E-9C4B-C6D9322CE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6202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F66AA-DF62-4272-B2FD-E48B8F0D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8379AF-BCBA-4692-9910-A8763B735D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52C36A-152C-4E5D-B288-43DB0989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D5FE97-BDBC-4F0D-9053-3A1BBC9F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06F85B-E2E1-456B-B9CC-F6F703C87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271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1329E-10AA-45D7-B5C3-5C4742443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3C0486-FC06-416E-9BCC-678FA6564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B4E112-0924-47EA-B01F-21343D984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1B9B50-3062-419B-A44E-FEED2AD49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9D9BF8-0451-4C06-9A97-AD5766098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383D2C-8F39-49EE-9874-1814404A5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864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6EB5E-85BC-43FB-B570-E8E3E905A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C7BD85-2B40-4884-9EDF-7B3EA69ED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5C8E85-D0AD-434C-9089-9C5919E44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43619C6-0910-420E-AF7E-502C5EC3AF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CAE667-50D9-48AB-B558-DDA8C38CC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F8B4F7C-EC33-4F04-9782-B01377B27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B7E586E-7C0A-4A86-ACA5-EA77FB566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DDD153-7B67-4C83-B964-F089D03C5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849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E865F-76E4-405D-AC80-1272F66D4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444BF05-4FF4-43DB-A24B-BC13E5FC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7AA3E2-6801-49F0-9159-A78358710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49C9C4-038B-4DD8-A94F-8F1955A88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700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36AC9F1-67EA-401E-8C95-535C39144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18EBEA-5811-4AE4-8E93-9A763612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00AC36-1C93-4757-9ADB-B6E0E75A5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530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973CF-09D8-4D9A-AE90-A8912069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F7291D-6414-4F15-B545-7B0CD972A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519E01-3776-4855-9D5B-FE3AA0E2B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E30612-DA39-4A0E-8065-A2AB6ED01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8664F-BD21-48D0-809C-0927167DF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2F02CC-C5C0-416D-8E73-AB2F6A9D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15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74C901-7C76-433F-AF14-2D22DBB91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D92351F-279D-4AAB-A584-3989792465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C84A72-DF0F-49D8-832B-28A7327210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09898B-AF39-4C69-91ED-810656B1D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DB728B-C900-4A6E-A710-4D6FE44C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CA8D1E-8EBB-4D2F-ABD6-505013172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904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92CEF5-1BCB-433F-817D-6D4C9BFAB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ABF70A-FEF8-4BA0-B397-313A27F8A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3B7AF3-0412-4C7C-B9C8-9F959EC12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9A85CC-2515-402B-8C70-29CCD80D5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5AC5AC-9B06-4DAE-830D-1BCC61A40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441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1A1D019-5A2E-414B-A544-2A286D97D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2A40D8-975B-4744-8363-03C892998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B1F922-93E7-4807-B49E-FB541F8D9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9F19DA-E8D7-4EE3-B152-ACE935FA1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5BEAD0-5CE7-44FB-8D23-D9799053E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893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메인인트로">
    <p:bg>
      <p:bgPr>
        <a:solidFill>
          <a:srgbClr val="13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919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브인트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869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465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브 화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064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0E320DD-2C95-4A9F-B47E-A2B6B465B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CE6E85-CD73-4C33-9C3A-04A63FEFE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415052-CD51-4E41-97BA-77FFC22A9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282CD-00C4-4B39-966C-ACF9714DDC98}" type="datetimeFigureOut">
              <a:rPr lang="ko-KR" altLang="en-US" smtClean="0"/>
              <a:t>2025-10-18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4FF08C-2A41-4AE5-9B12-5A0CA3A71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1CFF7C-F46A-451F-8D9F-E730733E0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87C30-6B73-4CA4-985A-5850C27D1B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038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0" r:id="rId13"/>
    <p:sldLayoutId id="2147483663" r:id="rId14"/>
    <p:sldLayoutId id="2147483662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onjsdnjs/ai3security/tree/0.3-agent-ai-brain" TargetMode="Externa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onjsdnjs/ai3security/tree/0.3-agent-ai-brain/aidc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onjsdnjs/ai3security/tree/0.3-agent-ai-brain/aiam" TargetMode="Externa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onjsdnjs/ai3security/tree/0.3-agent-ai-brain/aicore/src/main/java/io/spring/aicore/soar" TargetMode="Externa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onjsdnjs/ai3security/tree/0.3-agent-ai-brain" TargetMode="Externa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부제 2">
            <a:extLst>
              <a:ext uri="{FF2B5EF4-FFF2-40B4-BE49-F238E27FC236}">
                <a16:creationId xmlns:a16="http://schemas.microsoft.com/office/drawing/2014/main" id="{7ECAFF40-3F29-4189-9280-B8FE4B1A783C}"/>
              </a:ext>
            </a:extLst>
          </p:cNvPr>
          <p:cNvSpPr txBox="1">
            <a:spLocks/>
          </p:cNvSpPr>
          <p:nvPr/>
        </p:nvSpPr>
        <p:spPr>
          <a:xfrm>
            <a:off x="10071660" y="6378417"/>
            <a:ext cx="1856588" cy="299925"/>
          </a:xfrm>
          <a:prstGeom prst="rect">
            <a:avLst/>
          </a:prstGeom>
        </p:spPr>
        <p:txBody>
          <a:bodyPr vert="horz" lIns="80010" tIns="40006" rIns="80010" bIns="40006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ko-KR" altLang="en-US" sz="100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endParaRPr lang="ko-KR" altLang="en-US" sz="1000" noProof="0">
              <a:solidFill>
                <a:schemeClr val="tx2">
                  <a:lumMod val="40000"/>
                  <a:lumOff val="6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A46F9F-C376-36B4-135B-2FA70FCD44E7}"/>
              </a:ext>
            </a:extLst>
          </p:cNvPr>
          <p:cNvSpPr txBox="1"/>
          <p:nvPr/>
        </p:nvSpPr>
        <p:spPr>
          <a:xfrm>
            <a:off x="549518" y="947686"/>
            <a:ext cx="10954458" cy="1361911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50000"/>
              </a:lnSpc>
              <a:spcAft>
                <a:spcPts val="1500"/>
              </a:spcAft>
              <a:buNone/>
            </a:pPr>
            <a:r>
              <a:rPr lang="en-US" altLang="ko-KR" sz="6000" b="1" i="0">
                <a:solidFill>
                  <a:srgbClr val="FFFFFF"/>
                </a:solidFill>
                <a:effectLst/>
              </a:rPr>
              <a:t>AI-Native </a:t>
            </a:r>
            <a:r>
              <a:rPr lang="ko-KR" altLang="en-US" sz="6000" b="1" i="0">
                <a:solidFill>
                  <a:srgbClr val="FFFFFF"/>
                </a:solidFill>
                <a:effectLst/>
              </a:rPr>
              <a:t>자율 보안 플랫폼</a:t>
            </a:r>
            <a:endParaRPr lang="en-US" altLang="ko-KR" sz="6000" b="1" i="0">
              <a:solidFill>
                <a:srgbClr val="FFFFFF"/>
              </a:solidFill>
              <a:effectLst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31EE8D9-B3D0-08C0-3E74-C4ED5045CAFD}"/>
              </a:ext>
            </a:extLst>
          </p:cNvPr>
          <p:cNvSpPr/>
          <p:nvPr/>
        </p:nvSpPr>
        <p:spPr>
          <a:xfrm>
            <a:off x="495292" y="631163"/>
            <a:ext cx="968131" cy="316523"/>
          </a:xfrm>
          <a:prstGeom prst="roundRect">
            <a:avLst/>
          </a:prstGeom>
          <a:solidFill>
            <a:srgbClr val="1DD7B8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</a:rPr>
              <a:t>2025.10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983FDF-2086-D2FE-3303-BE18EDD56BA4}"/>
              </a:ext>
            </a:extLst>
          </p:cNvPr>
          <p:cNvSpPr txBox="1"/>
          <p:nvPr/>
        </p:nvSpPr>
        <p:spPr>
          <a:xfrm>
            <a:off x="665276" y="5708881"/>
            <a:ext cx="2538047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 i="0">
                <a:solidFill>
                  <a:srgbClr val="5A6B8C"/>
                </a:solidFill>
                <a:effectLst/>
                <a:latin typeface="Pretendard"/>
              </a:rPr>
              <a:t>Contexa </a:t>
            </a:r>
            <a:r>
              <a:rPr lang="ko-KR" altLang="en-US" sz="1200" b="0" i="0">
                <a:solidFill>
                  <a:srgbClr val="5A6B8C"/>
                </a:solidFill>
                <a:effectLst/>
                <a:latin typeface="Pretendard"/>
              </a:rPr>
              <a:t>대표 정수원</a:t>
            </a:r>
            <a:br>
              <a:rPr lang="ko-KR" altLang="en-US" sz="1200"/>
            </a:br>
            <a:r>
              <a:rPr lang="en-US" altLang="ko-KR" sz="1200" b="0" i="0">
                <a:solidFill>
                  <a:srgbClr val="5A6B8C"/>
                </a:solidFill>
                <a:effectLst/>
                <a:latin typeface="Pretendard"/>
              </a:rPr>
              <a:t>TIPS </a:t>
            </a:r>
            <a:r>
              <a:rPr lang="ko-KR" altLang="en-US" sz="1200" b="0" i="0">
                <a:solidFill>
                  <a:srgbClr val="5A6B8C"/>
                </a:solidFill>
                <a:effectLst/>
                <a:latin typeface="Pretendard"/>
              </a:rPr>
              <a:t>딥테크 트랙 제출용 사업계획서</a:t>
            </a:r>
            <a:endParaRPr lang="ko-KR" altLang="en-US" sz="12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2948E1-DD83-59A1-ED57-F4806F20C7EC}"/>
              </a:ext>
            </a:extLst>
          </p:cNvPr>
          <p:cNvSpPr txBox="1"/>
          <p:nvPr/>
        </p:nvSpPr>
        <p:spPr>
          <a:xfrm>
            <a:off x="339986" y="3273523"/>
            <a:ext cx="11588262" cy="135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0" i="0">
                <a:solidFill>
                  <a:srgbClr val="8B9DC3"/>
                </a:solidFill>
                <a:effectLst/>
              </a:rPr>
              <a:t>지난 수십 년간 이어져 온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규칙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기반 보안의 시대는 한계에 이르렀습니다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. </a:t>
            </a:r>
            <a:br>
              <a:rPr lang="en-US" altLang="ko-KR" sz="1400" b="0" i="0">
                <a:solidFill>
                  <a:srgbClr val="8B9DC3"/>
                </a:solidFill>
                <a:effectLst/>
              </a:rPr>
            </a:br>
            <a:r>
              <a:rPr lang="en-US" altLang="ko-KR" sz="1400" b="0" i="0">
                <a:solidFill>
                  <a:srgbClr val="8B9DC3"/>
                </a:solidFill>
                <a:effectLst/>
              </a:rPr>
              <a:t>Contexa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는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AI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가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WHO, WHEN, WHAT, HOW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의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맥락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(Context)'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을 실시간으로 이해하여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, 98%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의 정상 요청은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5~10ms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내에 처리하고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2%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의 예측 불가능한 위협은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50</a:t>
            </a:r>
            <a:r>
              <a:rPr lang="en-US" altLang="ko-KR" sz="1400">
                <a:solidFill>
                  <a:srgbClr val="8B9DC3"/>
                </a:solidFill>
              </a:rPr>
              <a:t>ms</a:t>
            </a:r>
            <a:r>
              <a:rPr lang="ko-KR" altLang="en-US" sz="1400">
                <a:solidFill>
                  <a:srgbClr val="8B9DC3"/>
                </a:solidFill>
              </a:rPr>
              <a:t> </a:t>
            </a:r>
            <a:r>
              <a:rPr lang="en-US" altLang="ko-KR" sz="1400">
                <a:solidFill>
                  <a:srgbClr val="8B9DC3"/>
                </a:solidFill>
              </a:rPr>
              <a:t>~</a:t>
            </a:r>
            <a:r>
              <a:rPr lang="ko-KR" altLang="en-US" sz="1400">
                <a:solidFill>
                  <a:srgbClr val="8B9DC3"/>
                </a:solidFill>
              </a:rPr>
              <a:t> 수초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내에 자율적으로 차단하는 차세대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AI-Native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자율 보안 플랫폼 입니다</a:t>
            </a:r>
            <a:br>
              <a:rPr lang="en-US" altLang="ko-KR" sz="1400" b="0" i="0">
                <a:solidFill>
                  <a:srgbClr val="8B9DC3"/>
                </a:solidFill>
                <a:effectLst/>
              </a:rPr>
            </a:br>
            <a:r>
              <a:rPr lang="en-US" altLang="ko-KR" sz="1400" b="0" i="0">
                <a:solidFill>
                  <a:srgbClr val="8B9DC3"/>
                </a:solidFill>
                <a:effectLst/>
              </a:rPr>
              <a:t>Contexa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는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400" b="0" i="0">
                <a:solidFill>
                  <a:schemeClr val="accent5">
                    <a:lumMod val="75000"/>
                  </a:schemeClr>
                </a:solidFill>
                <a:effectLst/>
              </a:rPr>
              <a:t>맥락</a:t>
            </a:r>
            <a:r>
              <a:rPr lang="en-US" altLang="ko-KR" sz="1400" b="0" i="0">
                <a:solidFill>
                  <a:schemeClr val="accent5">
                    <a:lumMod val="75000"/>
                  </a:schemeClr>
                </a:solidFill>
                <a:effectLst/>
              </a:rPr>
              <a:t>(Context)'</a:t>
            </a:r>
            <a:r>
              <a:rPr lang="ko-KR" altLang="en-US" sz="1400" b="0" i="0">
                <a:solidFill>
                  <a:schemeClr val="accent5">
                    <a:lumMod val="75000"/>
                  </a:schemeClr>
                </a:solidFill>
                <a:effectLst/>
              </a:rPr>
              <a:t>을 중심으로 모든 것을 연결</a:t>
            </a:r>
            <a:r>
              <a:rPr lang="en-US" altLang="ko-KR" sz="1400" b="0" i="0">
                <a:solidFill>
                  <a:schemeClr val="accent5">
                    <a:lumMod val="75000"/>
                  </a:schemeClr>
                </a:solidFill>
                <a:effectLst/>
              </a:rPr>
              <a:t>(Nexus)</a:t>
            </a:r>
            <a:r>
              <a:rPr lang="ko-KR" altLang="en-US" sz="1400" b="0" i="0">
                <a:solidFill>
                  <a:schemeClr val="accent5">
                    <a:lumMod val="75000"/>
                  </a:schemeClr>
                </a:solidFill>
                <a:effectLst/>
              </a:rPr>
              <a:t>하고 </a:t>
            </a:r>
            <a:r>
              <a:rPr lang="en-US" altLang="ko-KR" sz="1400" b="0" i="0">
                <a:solidFill>
                  <a:schemeClr val="accent5">
                    <a:lumMod val="75000"/>
                  </a:schemeClr>
                </a:solidFill>
                <a:effectLst/>
              </a:rPr>
              <a:t>AI</a:t>
            </a:r>
            <a:r>
              <a:rPr lang="ko-KR" altLang="en-US" sz="1400" b="0" i="0">
                <a:solidFill>
                  <a:schemeClr val="accent5">
                    <a:lumMod val="75000"/>
                  </a:schemeClr>
                </a:solidFill>
                <a:effectLst/>
              </a:rPr>
              <a:t>로 해석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하는 우리의 철학을 담은 이름입니다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.</a:t>
            </a:r>
            <a:endParaRPr lang="ko-KR" alt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04E613-5679-DE9A-DBFA-7F64C679A1C2}"/>
              </a:ext>
            </a:extLst>
          </p:cNvPr>
          <p:cNvSpPr txBox="1"/>
          <p:nvPr/>
        </p:nvSpPr>
        <p:spPr>
          <a:xfrm>
            <a:off x="4935415" y="2296232"/>
            <a:ext cx="53882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i="1">
                <a:solidFill>
                  <a:schemeClr val="bg1"/>
                </a:solidFill>
                <a:effectLst/>
                <a:latin typeface="Inter"/>
              </a:rPr>
              <a:t>전 세계 수 백만 스프링 개발자를 위한  </a:t>
            </a:r>
            <a:r>
              <a:rPr lang="en-US" altLang="ko-KR" sz="1400" i="1">
                <a:solidFill>
                  <a:schemeClr val="bg1"/>
                </a:solidFill>
                <a:effectLst/>
                <a:latin typeface="Inter"/>
              </a:rPr>
              <a:t>'</a:t>
            </a:r>
            <a:r>
              <a:rPr lang="ko-KR" altLang="en-US" sz="1400" i="1">
                <a:solidFill>
                  <a:schemeClr val="bg1"/>
                </a:solidFill>
                <a:effectLst/>
                <a:latin typeface="Inter"/>
              </a:rPr>
              <a:t>단 하나의 </a:t>
            </a:r>
            <a:r>
              <a:rPr lang="en-US" altLang="ko-KR" sz="1400" i="1">
                <a:solidFill>
                  <a:schemeClr val="bg1"/>
                </a:solidFill>
                <a:effectLst/>
                <a:latin typeface="Inter"/>
              </a:rPr>
              <a:t>'  AI </a:t>
            </a:r>
            <a:r>
              <a:rPr lang="ko-KR" altLang="en-US" sz="1400" i="1">
                <a:solidFill>
                  <a:schemeClr val="bg1"/>
                </a:solidFill>
                <a:effectLst/>
                <a:latin typeface="Inter"/>
              </a:rPr>
              <a:t>네이티브 보안 표준</a:t>
            </a:r>
            <a:endParaRPr lang="ko-KR" altLang="en-US" sz="14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6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F5577F-FF6E-9F1B-1423-74D59BA70FA4}"/>
              </a:ext>
            </a:extLst>
          </p:cNvPr>
          <p:cNvSpPr txBox="1"/>
          <p:nvPr/>
        </p:nvSpPr>
        <p:spPr>
          <a:xfrm>
            <a:off x="882817" y="90250"/>
            <a:ext cx="9187615" cy="6424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  <a:buNone/>
            </a:pPr>
            <a:r>
              <a:rPr lang="ko-KR" altLang="en-US" sz="2800" i="0">
                <a:solidFill>
                  <a:schemeClr val="bg1"/>
                </a:solidFill>
                <a:effectLst/>
                <a:latin typeface="-apple-system"/>
              </a:rPr>
              <a:t>목차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문제 정의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(Problem) : 3-6p</a:t>
            </a:r>
            <a:endParaRPr lang="en-US" altLang="ko-KR" sz="1400" i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-apple-system"/>
            </a:endParaRP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솔루션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(Solution)</a:t>
            </a:r>
            <a:r>
              <a:rPr lang="en-US" altLang="ko-KR" sz="1600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: 7p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시장 분석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(Market)</a:t>
            </a:r>
            <a:r>
              <a:rPr lang="en-US" altLang="ko-KR" sz="1600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: 8p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경쟁 우위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(Competitive Advantage) </a:t>
            </a:r>
            <a:r>
              <a:rPr lang="en-US" altLang="ko-KR" sz="1600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– </a:t>
            </a:r>
            <a:r>
              <a:rPr lang="ko-KR" altLang="en-US" sz="1600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제품 및 기술</a:t>
            </a:r>
            <a:r>
              <a:rPr lang="en-US" altLang="ko-KR" sz="1600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: 9-13p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비즈니스 모델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(Business Model):</a:t>
            </a:r>
            <a:r>
              <a:rPr lang="en-US" altLang="ko-KR" sz="1600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14p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로드맵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(Roadmap): 15p 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M&amp;A </a:t>
            </a: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전략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(Exit Strategy): 16p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en-US" altLang="ko-KR">
                <a:solidFill>
                  <a:schemeClr val="tx2">
                    <a:lumMod val="60000"/>
                    <a:lumOff val="40000"/>
                  </a:schemeClr>
                </a:solidFill>
                <a:latin typeface="-apple-system"/>
              </a:rPr>
              <a:t> KISA </a:t>
            </a:r>
            <a:r>
              <a:rPr lang="ko-KR" altLang="en-US">
                <a:solidFill>
                  <a:schemeClr val="tx2">
                    <a:lumMod val="60000"/>
                    <a:lumOff val="40000"/>
                  </a:schemeClr>
                </a:solidFill>
                <a:latin typeface="-apple-system"/>
              </a:rPr>
              <a:t>제로트러스트 정책 실현</a:t>
            </a:r>
            <a:r>
              <a:rPr lang="en-US" altLang="ko-KR">
                <a:solidFill>
                  <a:schemeClr val="tx2">
                    <a:lumMod val="60000"/>
                    <a:lumOff val="40000"/>
                  </a:schemeClr>
                </a:solidFill>
                <a:latin typeface="-apple-system"/>
              </a:rPr>
              <a:t>: 17p</a:t>
            </a:r>
            <a:endParaRPr lang="en-US" altLang="ko-KR" i="0">
              <a:solidFill>
                <a:schemeClr val="tx2">
                  <a:lumMod val="60000"/>
                  <a:lumOff val="40000"/>
                </a:schemeClr>
              </a:solidFill>
              <a:effectLst/>
              <a:latin typeface="-apple-system"/>
            </a:endParaRP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팀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(Team): 18-19p</a:t>
            </a:r>
          </a:p>
          <a:p>
            <a:pPr algn="l">
              <a:lnSpc>
                <a:spcPct val="200000"/>
              </a:lnSpc>
              <a:buFont typeface="+mj-lt"/>
              <a:buAutoNum type="arabicPeriod"/>
            </a:pPr>
            <a:r>
              <a:rPr lang="ko-KR" altLang="en-US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 맺음말 </a:t>
            </a:r>
            <a:r>
              <a:rPr lang="en-US" altLang="ko-KR" i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-apple-system"/>
              </a:rPr>
              <a:t>(Closing): 20p</a:t>
            </a:r>
          </a:p>
        </p:txBody>
      </p:sp>
    </p:spTree>
    <p:extLst>
      <p:ext uri="{BB962C8B-B14F-4D97-AF65-F5344CB8AC3E}">
        <p14:creationId xmlns:p14="http://schemas.microsoft.com/office/powerpoint/2010/main" val="2552939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3A305-76E4-43F3-3F49-7EB99B10E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부제 2">
            <a:extLst>
              <a:ext uri="{FF2B5EF4-FFF2-40B4-BE49-F238E27FC236}">
                <a16:creationId xmlns:a16="http://schemas.microsoft.com/office/drawing/2014/main" id="{68472CCE-25E1-5838-D4DD-6C0500CBF083}"/>
              </a:ext>
            </a:extLst>
          </p:cNvPr>
          <p:cNvSpPr txBox="1">
            <a:spLocks/>
          </p:cNvSpPr>
          <p:nvPr/>
        </p:nvSpPr>
        <p:spPr>
          <a:xfrm>
            <a:off x="10071660" y="6378417"/>
            <a:ext cx="1856588" cy="299925"/>
          </a:xfrm>
          <a:prstGeom prst="rect">
            <a:avLst/>
          </a:prstGeom>
        </p:spPr>
        <p:txBody>
          <a:bodyPr vert="horz" lIns="80010" tIns="40006" rIns="80010" bIns="40006" rtlCol="0">
            <a:no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ko-KR" altLang="en-US" sz="100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endParaRPr lang="ko-KR" altLang="en-US" sz="1000" noProof="0">
              <a:solidFill>
                <a:schemeClr val="tx2">
                  <a:lumMod val="40000"/>
                  <a:lumOff val="6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DC67E-151E-56B0-03A7-247A0B3494FC}"/>
              </a:ext>
            </a:extLst>
          </p:cNvPr>
          <p:cNvSpPr txBox="1"/>
          <p:nvPr/>
        </p:nvSpPr>
        <p:spPr>
          <a:xfrm>
            <a:off x="138566" y="119812"/>
            <a:ext cx="5401857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규칙 기반 보안의 한계와 위험성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912267-2CBE-BC75-CD3B-4F16BD8428F6}"/>
              </a:ext>
            </a:extLst>
          </p:cNvPr>
          <p:cNvSpPr txBox="1"/>
          <p:nvPr/>
        </p:nvSpPr>
        <p:spPr>
          <a:xfrm>
            <a:off x="197186" y="692863"/>
            <a:ext cx="10096164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0" i="0">
                <a:solidFill>
                  <a:srgbClr val="8B9DC3"/>
                </a:solidFill>
                <a:effectLst/>
              </a:rPr>
              <a:t>국내 대기업 및 글로벌 기업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(MS, HPE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등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..)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의 보안 시스템을 무너뜨린 해킹은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 </a:t>
            </a:r>
            <a:r>
              <a:rPr lang="en-US" altLang="ko-KR" sz="1400">
                <a:solidFill>
                  <a:srgbClr val="8B9DC3"/>
                </a:solidFill>
              </a:rPr>
              <a:t>'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규칙 보안 패러다임의 종말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을 고하는 신호탄입니다</a:t>
            </a:r>
            <a:endParaRPr lang="ko-KR" altLang="en-US" sz="140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4C91953-30D9-9AA6-3042-C854CA4841DD}"/>
              </a:ext>
            </a:extLst>
          </p:cNvPr>
          <p:cNvSpPr/>
          <p:nvPr/>
        </p:nvSpPr>
        <p:spPr>
          <a:xfrm>
            <a:off x="5821292" y="1439970"/>
            <a:ext cx="6106956" cy="1417878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43FE455-7ED4-E089-54A2-86BBAC411E22}"/>
              </a:ext>
            </a:extLst>
          </p:cNvPr>
          <p:cNvSpPr/>
          <p:nvPr/>
        </p:nvSpPr>
        <p:spPr>
          <a:xfrm>
            <a:off x="5821293" y="1425409"/>
            <a:ext cx="6106956" cy="3885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EAFC9-6689-3B06-12BA-3269ACFB49D6}"/>
              </a:ext>
            </a:extLst>
          </p:cNvPr>
          <p:cNvSpPr txBox="1"/>
          <p:nvPr/>
        </p:nvSpPr>
        <p:spPr>
          <a:xfrm>
            <a:off x="5821292" y="1365568"/>
            <a:ext cx="6206601" cy="13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400" b="1" i="0">
                <a:solidFill>
                  <a:srgbClr val="00D4AA"/>
                </a:solidFill>
                <a:effectLst/>
              </a:rPr>
              <a:t>열쇠는 맞지만 사람은 틀렸다</a:t>
            </a:r>
            <a:r>
              <a:rPr lang="en-US" altLang="ko-KR" sz="1400" b="1" i="0">
                <a:solidFill>
                  <a:srgbClr val="00D4AA"/>
                </a:solidFill>
                <a:effectLst/>
              </a:rPr>
              <a:t>.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공격자는 더 이상 성벽을 넘지 않</a:t>
            </a:r>
            <a:r>
              <a:rPr lang="ko-KR" altLang="en-US" sz="1200">
                <a:solidFill>
                  <a:srgbClr val="DDE4F0"/>
                </a:solidFill>
              </a:rPr>
              <a:t>고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직원의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열쇠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(ID/PW, MFA)'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를 훔쳐 정문으로 들어옵니다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규칙 보안은 이 열쇠가 진짜인지만 확인할 뿐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 </a:t>
            </a:r>
            <a:r>
              <a:rPr lang="ko-KR" altLang="en-US" sz="1200" b="1">
                <a:solidFill>
                  <a:srgbClr val="FF6B6B"/>
                </a:solidFill>
              </a:rPr>
              <a:t>열쇠를 든 사람이 진짜 주인인지는 판단하지 못합니다</a:t>
            </a:r>
            <a:r>
              <a:rPr lang="en-US" altLang="ko-KR" sz="1200" b="1">
                <a:solidFill>
                  <a:srgbClr val="FF6B6B"/>
                </a:solidFill>
              </a:rPr>
              <a:t>.</a:t>
            </a:r>
            <a:endParaRPr lang="ko-KR" altLang="en-US" sz="1200" b="0" i="0">
              <a:solidFill>
                <a:srgbClr val="DDE4F0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인증은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당신은 누구인가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에서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b="1">
                <a:solidFill>
                  <a:srgbClr val="FF6B6B"/>
                </a:solidFill>
              </a:rPr>
              <a:t>당신은 정말 그 사람이 맞는가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로 개념이 바뀌어야 합니다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.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 </a:t>
            </a:r>
            <a:endParaRPr lang="en-US" altLang="ko-KR" sz="1200" b="0" i="0">
              <a:solidFill>
                <a:srgbClr val="DDE4F0"/>
              </a:solidFill>
              <a:effectLst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FE87F5B-EFBF-DC50-C2D8-1BC5EEA3E78E}"/>
              </a:ext>
            </a:extLst>
          </p:cNvPr>
          <p:cNvSpPr/>
          <p:nvPr/>
        </p:nvSpPr>
        <p:spPr>
          <a:xfrm>
            <a:off x="304797" y="1590253"/>
            <a:ext cx="1224344" cy="5123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공격자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0CDE67-AF7B-DB09-AFB3-AA02F9D3DB56}"/>
              </a:ext>
            </a:extLst>
          </p:cNvPr>
          <p:cNvSpPr/>
          <p:nvPr/>
        </p:nvSpPr>
        <p:spPr>
          <a:xfrm>
            <a:off x="304797" y="2332359"/>
            <a:ext cx="1224344" cy="5123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사용자</a:t>
            </a:r>
          </a:p>
        </p:txBody>
      </p:sp>
      <p:sp>
        <p:nvSpPr>
          <p:cNvPr id="10" name="원통형 9">
            <a:extLst>
              <a:ext uri="{FF2B5EF4-FFF2-40B4-BE49-F238E27FC236}">
                <a16:creationId xmlns:a16="http://schemas.microsoft.com/office/drawing/2014/main" id="{CBA49967-19C6-8270-1F91-33687BB2AE09}"/>
              </a:ext>
            </a:extLst>
          </p:cNvPr>
          <p:cNvSpPr/>
          <p:nvPr/>
        </p:nvSpPr>
        <p:spPr>
          <a:xfrm>
            <a:off x="2875430" y="1709293"/>
            <a:ext cx="627881" cy="879231"/>
          </a:xfrm>
          <a:prstGeom prst="ca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0080C91-AED8-1531-765B-FC6084EFB626}"/>
              </a:ext>
            </a:extLst>
          </p:cNvPr>
          <p:cNvCxnSpPr>
            <a:stCxn id="3" idx="3"/>
            <a:endCxn id="10" idx="2"/>
          </p:cNvCxnSpPr>
          <p:nvPr/>
        </p:nvCxnSpPr>
        <p:spPr>
          <a:xfrm>
            <a:off x="1529141" y="1846418"/>
            <a:ext cx="1346289" cy="302491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1A38791-6FC9-E81D-60E1-16645B1E2C91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1529141" y="2286033"/>
            <a:ext cx="1346289" cy="302491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BBEC783-D146-E090-F92B-D737B84C9FEC}"/>
              </a:ext>
            </a:extLst>
          </p:cNvPr>
          <p:cNvSpPr/>
          <p:nvPr/>
        </p:nvSpPr>
        <p:spPr>
          <a:xfrm>
            <a:off x="1362572" y="2692254"/>
            <a:ext cx="1023072" cy="25209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user1 / 1234</a:t>
            </a:r>
            <a:endParaRPr lang="ko-KR" altLang="en-US" sz="100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4136449-A196-C09D-A2B1-7F67049BACC8}"/>
              </a:ext>
            </a:extLst>
          </p:cNvPr>
          <p:cNvSpPr/>
          <p:nvPr/>
        </p:nvSpPr>
        <p:spPr>
          <a:xfrm>
            <a:off x="1362572" y="1457201"/>
            <a:ext cx="1023072" cy="252092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user1 / 1234</a:t>
            </a:r>
            <a:endParaRPr lang="ko-KR" altLang="en-US" sz="1000"/>
          </a:p>
        </p:txBody>
      </p:sp>
      <p:sp>
        <p:nvSpPr>
          <p:cNvPr id="27" name="원통형 26">
            <a:extLst>
              <a:ext uri="{FF2B5EF4-FFF2-40B4-BE49-F238E27FC236}">
                <a16:creationId xmlns:a16="http://schemas.microsoft.com/office/drawing/2014/main" id="{7969D342-5496-6BBB-B573-AE37D94FF668}"/>
              </a:ext>
            </a:extLst>
          </p:cNvPr>
          <p:cNvSpPr/>
          <p:nvPr/>
        </p:nvSpPr>
        <p:spPr>
          <a:xfrm>
            <a:off x="4704497" y="1709293"/>
            <a:ext cx="627881" cy="879231"/>
          </a:xfrm>
          <a:prstGeom prst="can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72AB363-1F84-98B4-D4AE-21892D91C6A0}"/>
              </a:ext>
            </a:extLst>
          </p:cNvPr>
          <p:cNvSpPr txBox="1"/>
          <p:nvPr/>
        </p:nvSpPr>
        <p:spPr>
          <a:xfrm>
            <a:off x="2898879" y="1985180"/>
            <a:ext cx="5770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규칙</a:t>
            </a:r>
            <a:endParaRPr lang="en-US" altLang="ko-KR" sz="1200">
              <a:solidFill>
                <a:schemeClr val="bg1"/>
              </a:solidFill>
            </a:endParaRPr>
          </a:p>
          <a:p>
            <a:pPr algn="ctr"/>
            <a:r>
              <a:rPr lang="ko-KR" altLang="en-US" sz="1200">
                <a:solidFill>
                  <a:schemeClr val="bg1"/>
                </a:solidFill>
              </a:rPr>
              <a:t>보안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A9A86A-654D-DB6F-CE62-37C12CD4E216}"/>
              </a:ext>
            </a:extLst>
          </p:cNvPr>
          <p:cNvSpPr txBox="1"/>
          <p:nvPr/>
        </p:nvSpPr>
        <p:spPr>
          <a:xfrm>
            <a:off x="4773062" y="2014489"/>
            <a:ext cx="5141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</a:rPr>
              <a:t>고객</a:t>
            </a:r>
            <a:endParaRPr lang="en-US" altLang="ko-KR" sz="1200">
              <a:solidFill>
                <a:schemeClr val="bg1"/>
              </a:solidFill>
            </a:endParaRPr>
          </a:p>
          <a:p>
            <a:pPr algn="ctr"/>
            <a:r>
              <a:rPr lang="ko-KR" altLang="en-US" sz="1200">
                <a:solidFill>
                  <a:schemeClr val="bg1"/>
                </a:solidFill>
              </a:rPr>
              <a:t>정보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B38A1A9-E7C3-E295-55FC-BC7522F1F722}"/>
              </a:ext>
            </a:extLst>
          </p:cNvPr>
          <p:cNvCxnSpPr>
            <a:cxnSpLocks/>
            <a:stCxn id="10" idx="4"/>
            <a:endCxn id="27" idx="2"/>
          </p:cNvCxnSpPr>
          <p:nvPr/>
        </p:nvCxnSpPr>
        <p:spPr>
          <a:xfrm>
            <a:off x="3503311" y="2148909"/>
            <a:ext cx="1201186" cy="0"/>
          </a:xfrm>
          <a:prstGeom prst="straightConnector1">
            <a:avLst/>
          </a:prstGeom>
          <a:ln w="9525">
            <a:solidFill>
              <a:schemeClr val="bg1">
                <a:lumMod val="6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2125DF4-19D2-E065-BAFA-BACDBFFD4A31}"/>
              </a:ext>
            </a:extLst>
          </p:cNvPr>
          <p:cNvSpPr txBox="1"/>
          <p:nvPr/>
        </p:nvSpPr>
        <p:spPr>
          <a:xfrm>
            <a:off x="3600604" y="1882190"/>
            <a:ext cx="9256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>
                <a:solidFill>
                  <a:schemeClr val="bg1">
                    <a:lumMod val="65000"/>
                  </a:schemeClr>
                </a:solidFill>
              </a:rPr>
              <a:t>접근 가능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5536FC9B-281B-4184-D417-22A7D0615EAD}"/>
              </a:ext>
            </a:extLst>
          </p:cNvPr>
          <p:cNvSpPr/>
          <p:nvPr/>
        </p:nvSpPr>
        <p:spPr>
          <a:xfrm>
            <a:off x="314306" y="3959757"/>
            <a:ext cx="1224344" cy="5123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공격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실시간 변이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D4081AF-9EFF-391A-CEF7-A4EC49441E69}"/>
              </a:ext>
            </a:extLst>
          </p:cNvPr>
          <p:cNvSpPr/>
          <p:nvPr/>
        </p:nvSpPr>
        <p:spPr>
          <a:xfrm>
            <a:off x="7391402" y="3572857"/>
            <a:ext cx="1224344" cy="5123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차단 성공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99C0D2F-B2E9-3BDC-1284-19B24DE0D28C}"/>
              </a:ext>
            </a:extLst>
          </p:cNvPr>
          <p:cNvSpPr/>
          <p:nvPr/>
        </p:nvSpPr>
        <p:spPr>
          <a:xfrm>
            <a:off x="2661083" y="3959757"/>
            <a:ext cx="1224344" cy="51233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차 공격 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패턴 변경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83F7668-5DBD-3E11-7B00-3008EC11C687}"/>
              </a:ext>
            </a:extLst>
          </p:cNvPr>
          <p:cNvSpPr/>
          <p:nvPr/>
        </p:nvSpPr>
        <p:spPr>
          <a:xfrm>
            <a:off x="4881860" y="3959757"/>
            <a:ext cx="1224344" cy="51233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규칙 기반 보안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고정된 패턴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E66CD919-C278-7EE1-7E8E-CBF2B4DF08F9}"/>
              </a:ext>
            </a:extLst>
          </p:cNvPr>
          <p:cNvSpPr/>
          <p:nvPr/>
        </p:nvSpPr>
        <p:spPr>
          <a:xfrm>
            <a:off x="7391402" y="4450927"/>
            <a:ext cx="1224344" cy="51233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탐지 실패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24849D2-B25B-CDB4-2429-D65285610894}"/>
              </a:ext>
            </a:extLst>
          </p:cNvPr>
          <p:cNvSpPr/>
          <p:nvPr/>
        </p:nvSpPr>
        <p:spPr>
          <a:xfrm>
            <a:off x="9476305" y="4448315"/>
            <a:ext cx="1224344" cy="5123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무력화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798BE8A6-7BDC-7466-53CD-A407234AED24}"/>
              </a:ext>
            </a:extLst>
          </p:cNvPr>
          <p:cNvCxnSpPr>
            <a:stCxn id="43" idx="3"/>
            <a:endCxn id="57" idx="1"/>
          </p:cNvCxnSpPr>
          <p:nvPr/>
        </p:nvCxnSpPr>
        <p:spPr>
          <a:xfrm>
            <a:off x="1538650" y="4215922"/>
            <a:ext cx="1122433" cy="0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C6839F46-C502-6A6A-9F92-3D2D86615728}"/>
              </a:ext>
            </a:extLst>
          </p:cNvPr>
          <p:cNvCxnSpPr>
            <a:cxnSpLocks/>
            <a:stCxn id="57" idx="3"/>
            <a:endCxn id="58" idx="1"/>
          </p:cNvCxnSpPr>
          <p:nvPr/>
        </p:nvCxnSpPr>
        <p:spPr>
          <a:xfrm>
            <a:off x="3885427" y="4215922"/>
            <a:ext cx="996433" cy="0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6FA427F2-1198-A187-1E1A-CD41DEC71EA6}"/>
              </a:ext>
            </a:extLst>
          </p:cNvPr>
          <p:cNvCxnSpPr>
            <a:cxnSpLocks/>
            <a:stCxn id="58" idx="3"/>
            <a:endCxn id="44" idx="1"/>
          </p:cNvCxnSpPr>
          <p:nvPr/>
        </p:nvCxnSpPr>
        <p:spPr>
          <a:xfrm flipV="1">
            <a:off x="6106204" y="3829022"/>
            <a:ext cx="1285198" cy="386900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012947A1-855F-F899-D68E-F014793AA7C6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6106204" y="4215922"/>
            <a:ext cx="1285198" cy="491170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768FF4D6-C94A-717A-51C3-D04D3C429E10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 flipV="1">
            <a:off x="8615746" y="4704480"/>
            <a:ext cx="860559" cy="2612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ECA8F8C1-35A4-B005-A3D2-CEEF68F2233D}"/>
              </a:ext>
            </a:extLst>
          </p:cNvPr>
          <p:cNvSpPr txBox="1"/>
          <p:nvPr/>
        </p:nvSpPr>
        <p:spPr>
          <a:xfrm>
            <a:off x="1607709" y="3944731"/>
            <a:ext cx="9256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>
                <a:solidFill>
                  <a:schemeClr val="bg1">
                    <a:lumMod val="65000"/>
                  </a:schemeClr>
                </a:solidFill>
              </a:rPr>
              <a:t>학습</a:t>
            </a:r>
            <a:r>
              <a:rPr lang="en-US" altLang="ko-KR" sz="1100">
                <a:solidFill>
                  <a:schemeClr val="bg1">
                    <a:lumMod val="65000"/>
                  </a:schemeClr>
                </a:solidFill>
              </a:rPr>
              <a:t>&amp;</a:t>
            </a:r>
            <a:r>
              <a:rPr lang="ko-KR" altLang="en-US" sz="1100">
                <a:solidFill>
                  <a:schemeClr val="bg1">
                    <a:lumMod val="65000"/>
                  </a:schemeClr>
                </a:solidFill>
              </a:rPr>
              <a:t>변형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9F68D47-BCF8-C765-2D7F-00A6686AA148}"/>
              </a:ext>
            </a:extLst>
          </p:cNvPr>
          <p:cNvSpPr txBox="1"/>
          <p:nvPr/>
        </p:nvSpPr>
        <p:spPr>
          <a:xfrm>
            <a:off x="3873703" y="3954382"/>
            <a:ext cx="9256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>
                <a:solidFill>
                  <a:schemeClr val="bg1">
                    <a:lumMod val="65000"/>
                  </a:schemeClr>
                </a:solidFill>
              </a:rPr>
              <a:t>변형 된 공격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C059272-B07F-2D7E-862F-06286AD95336}"/>
              </a:ext>
            </a:extLst>
          </p:cNvPr>
          <p:cNvSpPr txBox="1"/>
          <p:nvPr/>
        </p:nvSpPr>
        <p:spPr>
          <a:xfrm>
            <a:off x="6281014" y="3649386"/>
            <a:ext cx="9256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>
                <a:solidFill>
                  <a:schemeClr val="bg1">
                    <a:lumMod val="65000"/>
                  </a:schemeClr>
                </a:solidFill>
              </a:rPr>
              <a:t>1</a:t>
            </a:r>
            <a:r>
              <a:rPr lang="ko-KR" altLang="en-US" sz="1100">
                <a:solidFill>
                  <a:schemeClr val="bg1">
                    <a:lumMod val="65000"/>
                  </a:schemeClr>
                </a:solidFill>
              </a:rPr>
              <a:t>차 공격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8362590-5A28-9BCA-F45F-DB4C92BAC115}"/>
              </a:ext>
            </a:extLst>
          </p:cNvPr>
          <p:cNvSpPr txBox="1"/>
          <p:nvPr/>
        </p:nvSpPr>
        <p:spPr>
          <a:xfrm>
            <a:off x="6281014" y="4537889"/>
            <a:ext cx="9256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>
                <a:solidFill>
                  <a:schemeClr val="bg1">
                    <a:lumMod val="65000"/>
                  </a:schemeClr>
                </a:solidFill>
              </a:rPr>
              <a:t>2</a:t>
            </a:r>
            <a:r>
              <a:rPr lang="ko-KR" altLang="en-US" sz="1100">
                <a:solidFill>
                  <a:schemeClr val="bg1">
                    <a:lumMod val="65000"/>
                  </a:schemeClr>
                </a:solidFill>
              </a:rPr>
              <a:t>차 공격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C668FFC6-CE9F-37EB-985D-0C8BFCB27AF7}"/>
              </a:ext>
            </a:extLst>
          </p:cNvPr>
          <p:cNvSpPr/>
          <p:nvPr/>
        </p:nvSpPr>
        <p:spPr>
          <a:xfrm>
            <a:off x="304797" y="5148706"/>
            <a:ext cx="8610603" cy="1513275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F0ED848-CA91-2A5E-F631-E1E86335A69E}"/>
              </a:ext>
            </a:extLst>
          </p:cNvPr>
          <p:cNvSpPr/>
          <p:nvPr/>
        </p:nvSpPr>
        <p:spPr>
          <a:xfrm>
            <a:off x="304797" y="5147006"/>
            <a:ext cx="8610603" cy="3885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CCF3CB7-359E-81D5-76D5-5DC2A5A3EAE4}"/>
              </a:ext>
            </a:extLst>
          </p:cNvPr>
          <p:cNvSpPr txBox="1"/>
          <p:nvPr/>
        </p:nvSpPr>
        <p:spPr>
          <a:xfrm>
            <a:off x="355291" y="5119867"/>
            <a:ext cx="8560109" cy="13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en-US" altLang="ko-KR" sz="1400" b="1" i="0">
                <a:solidFill>
                  <a:srgbClr val="00D4AA"/>
                </a:solidFill>
                <a:effectLst/>
              </a:rPr>
              <a:t>AI </a:t>
            </a:r>
            <a:r>
              <a:rPr lang="ko-KR" altLang="en-US" sz="1400" b="1" i="0">
                <a:solidFill>
                  <a:srgbClr val="00D4AA"/>
                </a:solidFill>
                <a:effectLst/>
              </a:rPr>
              <a:t>공격자의 등장</a:t>
            </a:r>
            <a:r>
              <a:rPr lang="ko-KR" altLang="en-US" sz="1400" b="1">
                <a:solidFill>
                  <a:srgbClr val="00D4AA"/>
                </a:solidFill>
              </a:rPr>
              <a:t>과 예측 불가능한 위협의 시대</a:t>
            </a:r>
            <a:endParaRPr lang="ko-KR" altLang="en-US" sz="1400" b="1" i="0">
              <a:solidFill>
                <a:srgbClr val="00D4AA"/>
              </a:solidFill>
              <a:effectLst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ko-KR" sz="1200" b="0" i="0">
                <a:solidFill>
                  <a:srgbClr val="DDE4F0"/>
                </a:solidFill>
                <a:effectLst/>
              </a:rPr>
              <a:t>AI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가 만들어내는 무한대의 공격 변수 앞에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기존의 정적인 규칙은 </a:t>
            </a:r>
            <a:r>
              <a:rPr lang="ko-KR" altLang="en-US" sz="1200" b="1" i="0">
                <a:solidFill>
                  <a:srgbClr val="FF6B6B"/>
                </a:solidFill>
                <a:effectLst/>
              </a:rPr>
              <a:t>필연적으로 무력화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될 수 밖에 없습니다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rgbClr val="DDE4F0"/>
                </a:solidFill>
              </a:rPr>
              <a:t>우리는 지난 수십 년간 </a:t>
            </a:r>
            <a:r>
              <a:rPr lang="en-US" altLang="ko-KR" sz="1200">
                <a:solidFill>
                  <a:srgbClr val="DDE4F0"/>
                </a:solidFill>
              </a:rPr>
              <a:t>'</a:t>
            </a:r>
            <a:r>
              <a:rPr lang="ko-KR" altLang="en-US" sz="1200">
                <a:solidFill>
                  <a:srgbClr val="DDE4F0"/>
                </a:solidFill>
              </a:rPr>
              <a:t>예측 가능한 공격</a:t>
            </a:r>
            <a:r>
              <a:rPr lang="en-US" altLang="ko-KR" sz="1200">
                <a:solidFill>
                  <a:srgbClr val="DDE4F0"/>
                </a:solidFill>
              </a:rPr>
              <a:t>'</a:t>
            </a:r>
            <a:r>
              <a:rPr lang="ko-KR" altLang="en-US" sz="1200">
                <a:solidFill>
                  <a:srgbClr val="DDE4F0"/>
                </a:solidFill>
              </a:rPr>
              <a:t>을 막는 데 집중해왔습니다</a:t>
            </a:r>
            <a:r>
              <a:rPr lang="en-US" altLang="ko-KR" sz="1200">
                <a:solidFill>
                  <a:srgbClr val="DDE4F0"/>
                </a:solidFill>
              </a:rPr>
              <a:t>. </a:t>
            </a:r>
            <a:r>
              <a:rPr lang="ko-KR" altLang="en-US" sz="1200">
                <a:solidFill>
                  <a:srgbClr val="DDE4F0"/>
                </a:solidFill>
              </a:rPr>
              <a:t>그러나 이제 세상은 </a:t>
            </a:r>
            <a:r>
              <a:rPr lang="en-US" altLang="ko-KR" sz="1200" b="1">
                <a:solidFill>
                  <a:srgbClr val="FF6B6B"/>
                </a:solidFill>
              </a:rPr>
              <a:t>'</a:t>
            </a:r>
            <a:r>
              <a:rPr lang="ko-KR" altLang="en-US" sz="1200" b="1">
                <a:solidFill>
                  <a:srgbClr val="FF6B6B"/>
                </a:solidFill>
              </a:rPr>
              <a:t>예측 불가능한 위협</a:t>
            </a:r>
            <a:r>
              <a:rPr lang="en-US" altLang="ko-KR" sz="1200" b="1">
                <a:solidFill>
                  <a:srgbClr val="FF6B6B"/>
                </a:solidFill>
              </a:rPr>
              <a:t>'</a:t>
            </a:r>
            <a:r>
              <a:rPr lang="ko-KR" altLang="en-US" sz="1200">
                <a:solidFill>
                  <a:srgbClr val="DDE4F0"/>
                </a:solidFill>
              </a:rPr>
              <a:t>의 시대로 접어들었습니다</a:t>
            </a:r>
            <a:r>
              <a:rPr lang="en-US" altLang="ko-KR" sz="1200">
                <a:solidFill>
                  <a:srgbClr val="DDE4F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rgbClr val="DDE4F0"/>
                </a:solidFill>
              </a:rPr>
              <a:t>기존의 보안 규칙으로는 공격을 막을 수 없는 명백한 한계에 이르렀습니다</a:t>
            </a:r>
            <a:endParaRPr lang="en-US" altLang="ko-KR" sz="1200" b="0" i="0">
              <a:solidFill>
                <a:srgbClr val="DDE4F0"/>
              </a:solidFill>
              <a:effectLst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E27CDF5-05ED-3CAA-2B93-A0BE3153F3AC}"/>
              </a:ext>
            </a:extLst>
          </p:cNvPr>
          <p:cNvCxnSpPr/>
          <p:nvPr/>
        </p:nvCxnSpPr>
        <p:spPr>
          <a:xfrm>
            <a:off x="197186" y="3335214"/>
            <a:ext cx="11611707" cy="0"/>
          </a:xfrm>
          <a:prstGeom prst="line">
            <a:avLst/>
          </a:prstGeom>
          <a:ln w="19050">
            <a:solidFill>
              <a:schemeClr val="bg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D3CCD608-EF2E-DEE2-CC65-1D6156CA3935}"/>
              </a:ext>
            </a:extLst>
          </p:cNvPr>
          <p:cNvSpPr txBox="1"/>
          <p:nvPr/>
        </p:nvSpPr>
        <p:spPr>
          <a:xfrm>
            <a:off x="3613769" y="2174978"/>
            <a:ext cx="9256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>
                <a:solidFill>
                  <a:schemeClr val="bg1">
                    <a:lumMod val="65000"/>
                  </a:schemeClr>
                </a:solidFill>
              </a:rPr>
              <a:t>데이터 유출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D3D5F1-A8F5-0661-1AF0-1B4DCB75F683}"/>
              </a:ext>
            </a:extLst>
          </p:cNvPr>
          <p:cNvSpPr txBox="1"/>
          <p:nvPr/>
        </p:nvSpPr>
        <p:spPr>
          <a:xfrm>
            <a:off x="1411261" y="1205951"/>
            <a:ext cx="92569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>
                <a:solidFill>
                  <a:schemeClr val="bg1">
                    <a:lumMod val="65000"/>
                  </a:schemeClr>
                </a:solidFill>
              </a:rPr>
              <a:t>계정 탈취</a:t>
            </a:r>
          </a:p>
        </p:txBody>
      </p:sp>
    </p:spTree>
    <p:extLst>
      <p:ext uri="{BB962C8B-B14F-4D97-AF65-F5344CB8AC3E}">
        <p14:creationId xmlns:p14="http://schemas.microsoft.com/office/powerpoint/2010/main" val="603973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10725-EEA2-AFD0-984D-5D5206FC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BA7B44-2B70-3159-59F5-D653F35249F6}"/>
              </a:ext>
            </a:extLst>
          </p:cNvPr>
          <p:cNvSpPr txBox="1"/>
          <p:nvPr/>
        </p:nvSpPr>
        <p:spPr>
          <a:xfrm>
            <a:off x="197186" y="196018"/>
            <a:ext cx="6448779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규칙 </a:t>
            </a:r>
            <a:r>
              <a:rPr lang="en-US" altLang="ko-KR" sz="3200" b="1" i="0">
                <a:solidFill>
                  <a:srgbClr val="FFFFFF"/>
                </a:solidFill>
                <a:effectLst/>
              </a:rPr>
              <a:t>vs </a:t>
            </a:r>
            <a:r>
              <a:rPr lang="ko-KR" altLang="en-US" sz="3200" b="1" i="0">
                <a:solidFill>
                  <a:srgbClr val="FFFFFF"/>
                </a:solidFill>
                <a:effectLst/>
              </a:rPr>
              <a:t>맥락</a:t>
            </a:r>
            <a:r>
              <a:rPr lang="en-US" altLang="ko-KR" sz="3200" b="1">
                <a:solidFill>
                  <a:srgbClr val="FFFFFF"/>
                </a:solidFill>
              </a:rPr>
              <a:t> – </a:t>
            </a:r>
            <a:r>
              <a:rPr lang="ko-KR" altLang="en-US" sz="3200" b="1">
                <a:solidFill>
                  <a:srgbClr val="FFFFFF"/>
                </a:solidFill>
              </a:rPr>
              <a:t>보안 </a:t>
            </a:r>
            <a:r>
              <a:rPr lang="ko-KR" altLang="en-US" sz="3200" b="1" i="0">
                <a:solidFill>
                  <a:srgbClr val="FFFFFF"/>
                </a:solidFill>
                <a:effectLst/>
              </a:rPr>
              <a:t>패러다임의 전환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8B5443-FDBC-6040-B9C4-27C0C7EC4A28}"/>
              </a:ext>
            </a:extLst>
          </p:cNvPr>
          <p:cNvSpPr txBox="1"/>
          <p:nvPr/>
        </p:nvSpPr>
        <p:spPr>
          <a:xfrm>
            <a:off x="197187" y="780793"/>
            <a:ext cx="4871770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0" i="0">
                <a:solidFill>
                  <a:srgbClr val="8B9DC3"/>
                </a:solidFill>
                <a:effectLst/>
              </a:rPr>
              <a:t>규칙은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무엇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(What)'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을 보지만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 AI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는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맥락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(Why)'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을 봅니다</a:t>
            </a:r>
            <a:endParaRPr lang="ko-KR" altLang="en-US" sz="140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96D3BE-60B5-581E-5D85-ECB41B526141}"/>
              </a:ext>
            </a:extLst>
          </p:cNvPr>
          <p:cNvSpPr/>
          <p:nvPr/>
        </p:nvSpPr>
        <p:spPr>
          <a:xfrm>
            <a:off x="411843" y="2680922"/>
            <a:ext cx="3316095" cy="2695051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65496DE-F9A4-234F-BF7C-115CBBAB4A0D}"/>
              </a:ext>
            </a:extLst>
          </p:cNvPr>
          <p:cNvSpPr/>
          <p:nvPr/>
        </p:nvSpPr>
        <p:spPr>
          <a:xfrm>
            <a:off x="7526035" y="488405"/>
            <a:ext cx="4384138" cy="1765275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BD42A4-45A6-BAEB-8F0D-482AB37FE203}"/>
              </a:ext>
            </a:extLst>
          </p:cNvPr>
          <p:cNvSpPr txBox="1"/>
          <p:nvPr/>
        </p:nvSpPr>
        <p:spPr>
          <a:xfrm>
            <a:off x="7526033" y="587796"/>
            <a:ext cx="4231550" cy="150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200" b="1" i="0">
                <a:solidFill>
                  <a:srgbClr val="00D4AA"/>
                </a:solidFill>
                <a:effectLst/>
              </a:rPr>
              <a:t>🔍 맥락 분석 요소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ko-KR" sz="1100" b="1" i="0">
                <a:solidFill>
                  <a:srgbClr val="00D4AA"/>
                </a:solidFill>
                <a:effectLst/>
              </a:rPr>
              <a:t>WHO?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 평소와 다른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IP/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국가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– BaselineVector 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와 비교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이탈 점수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+8</a:t>
            </a:r>
            <a:br>
              <a:rPr lang="ko-KR" altLang="en-US" sz="1100" b="0" i="0">
                <a:solidFill>
                  <a:srgbClr val="DDE4F0"/>
                </a:solidFill>
                <a:effectLst/>
              </a:rPr>
            </a:br>
            <a:r>
              <a:rPr lang="en-US" altLang="ko-KR" sz="1100" b="1" i="0">
                <a:solidFill>
                  <a:srgbClr val="00D4AA"/>
                </a:solidFill>
                <a:effectLst/>
              </a:rPr>
              <a:t>WHEN?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 비정상적인 시간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- Temporal Anomaly 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분석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이탈 점수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+7</a:t>
            </a:r>
            <a:br>
              <a:rPr lang="ko-KR" altLang="en-US" sz="1100" b="0" i="0">
                <a:solidFill>
                  <a:srgbClr val="DDE4F0"/>
                </a:solidFill>
                <a:effectLst/>
              </a:rPr>
            </a:br>
            <a:r>
              <a:rPr lang="en-US" altLang="ko-KR" sz="1100" b="1" i="0">
                <a:solidFill>
                  <a:srgbClr val="00D4AA"/>
                </a:solidFill>
                <a:effectLst/>
              </a:rPr>
              <a:t>WHAT?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 이례적인 대규모 쿼리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- RAG 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위협 사례 검색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유사도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98%</a:t>
            </a:r>
            <a:br>
              <a:rPr lang="ko-KR" altLang="en-US" sz="1100" b="0" i="0">
                <a:solidFill>
                  <a:srgbClr val="DDE4F0"/>
                </a:solidFill>
                <a:effectLst/>
              </a:rPr>
            </a:br>
            <a:r>
              <a:rPr lang="en-US" altLang="ko-KR" sz="1100" b="1" i="0">
                <a:solidFill>
                  <a:srgbClr val="00D4AA"/>
                </a:solidFill>
                <a:effectLst/>
              </a:rPr>
              <a:t>HOW?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 평소와 다른 인증 경로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- IP Reputation 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조회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100" b="0" i="0">
                <a:solidFill>
                  <a:srgbClr val="DDE4F0"/>
                </a:solidFill>
                <a:effectLst/>
              </a:rPr>
              <a:t>위협 점수 </a:t>
            </a:r>
            <a:r>
              <a:rPr lang="en-US" altLang="ko-KR" sz="1100" b="0" i="0">
                <a:solidFill>
                  <a:srgbClr val="DDE4F0"/>
                </a:solidFill>
                <a:effectLst/>
              </a:rPr>
              <a:t>9.5/10</a:t>
            </a:r>
            <a:endParaRPr lang="ko-KR" altLang="en-US" sz="1100" b="0" i="0">
              <a:solidFill>
                <a:srgbClr val="DDE4F0"/>
              </a:solidFill>
              <a:effectLst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E1FDE84-F1F0-9B5C-5501-5A3E2341699D}"/>
              </a:ext>
            </a:extLst>
          </p:cNvPr>
          <p:cNvSpPr/>
          <p:nvPr/>
        </p:nvSpPr>
        <p:spPr>
          <a:xfrm>
            <a:off x="4616396" y="2524723"/>
            <a:ext cx="2087217" cy="3007447"/>
          </a:xfrm>
          <a:prstGeom prst="roundRect">
            <a:avLst>
              <a:gd name="adj" fmla="val 2827"/>
            </a:avLst>
          </a:prstGeom>
          <a:solidFill>
            <a:srgbClr val="A50021">
              <a:alpha val="25000"/>
            </a:srgbClr>
          </a:solidFill>
          <a:ln w="3175">
            <a:solidFill>
              <a:srgbClr val="C00000">
                <a:alpha val="8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6A2381-016D-7057-A552-815041FCD28C}"/>
              </a:ext>
            </a:extLst>
          </p:cNvPr>
          <p:cNvSpPr txBox="1"/>
          <p:nvPr/>
        </p:nvSpPr>
        <p:spPr>
          <a:xfrm>
            <a:off x="4616396" y="2510086"/>
            <a:ext cx="2173356" cy="275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400" b="1" i="0">
                <a:solidFill>
                  <a:srgbClr val="FF6B6B"/>
                </a:solidFill>
                <a:effectLst/>
              </a:rPr>
              <a:t>            기존 규칙 </a:t>
            </a:r>
            <a:r>
              <a:rPr lang="ko-KR" altLang="en-US" sz="1400" b="1">
                <a:solidFill>
                  <a:srgbClr val="FF6B6B"/>
                </a:solidFill>
              </a:rPr>
              <a:t>보안</a:t>
            </a:r>
            <a:endParaRPr lang="en-US" altLang="ko-KR" sz="1400" b="1" i="0">
              <a:solidFill>
                <a:srgbClr val="FF6B6B"/>
              </a:solidFill>
              <a:effectLst/>
            </a:endParaRPr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en-US" altLang="ko-KR" sz="1200" b="0" i="0">
                <a:solidFill>
                  <a:srgbClr val="FFFFFF"/>
                </a:solidFill>
                <a:effectLst/>
              </a:rPr>
              <a:t>"ADMIN </a:t>
            </a:r>
            <a:r>
              <a:rPr lang="ko-KR" altLang="en-US" sz="1200" b="0" i="0">
                <a:solidFill>
                  <a:srgbClr val="FFFFFF"/>
                </a:solidFill>
                <a:effectLst/>
              </a:rPr>
              <a:t>은 </a:t>
            </a:r>
            <a:r>
              <a:rPr lang="en-US" altLang="ko-KR" sz="1200" b="0" i="0">
                <a:solidFill>
                  <a:srgbClr val="FFFFFF"/>
                </a:solidFill>
                <a:effectLst/>
              </a:rPr>
              <a:t>DB </a:t>
            </a:r>
            <a:r>
              <a:rPr lang="ko-KR" altLang="en-US" sz="1200" b="0" i="0">
                <a:solidFill>
                  <a:srgbClr val="FFFFFF"/>
                </a:solidFill>
                <a:effectLst/>
              </a:rPr>
              <a:t>접근 허용</a:t>
            </a:r>
            <a:r>
              <a:rPr lang="en-US" altLang="ko-KR" sz="1200" b="0" i="0">
                <a:solidFill>
                  <a:srgbClr val="FFFFFF"/>
                </a:solidFill>
                <a:effectLst/>
              </a:rPr>
              <a:t>"</a:t>
            </a:r>
          </a:p>
          <a:p>
            <a:pPr>
              <a:lnSpc>
                <a:spcPct val="150000"/>
              </a:lnSpc>
              <a:buNone/>
            </a:pPr>
            <a:br>
              <a:rPr lang="ko-KR" altLang="en-US" sz="1200"/>
            </a:br>
            <a:endParaRPr lang="ko-KR" altLang="en-US" sz="1200"/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200" b="1" i="0">
                <a:solidFill>
                  <a:srgbClr val="FF6B6B"/>
                </a:solidFill>
                <a:effectLst/>
              </a:rPr>
              <a:t>결론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1" i="0">
                <a:solidFill>
                  <a:srgbClr val="FFFFFF"/>
                </a:solidFill>
                <a:effectLst/>
              </a:rPr>
              <a:t>정상 </a:t>
            </a:r>
            <a:r>
              <a:rPr lang="en-US" altLang="ko-KR" sz="1200" b="1" i="0">
                <a:solidFill>
                  <a:srgbClr val="FFFFFF"/>
                </a:solidFill>
                <a:effectLst/>
              </a:rPr>
              <a:t>(Allow) – </a:t>
            </a:r>
            <a:r>
              <a:rPr lang="ko-KR" altLang="en-US" sz="1200" b="1" i="0">
                <a:solidFill>
                  <a:srgbClr val="FFFFFF"/>
                </a:solidFill>
                <a:effectLst/>
              </a:rPr>
              <a:t>계정 일치</a:t>
            </a:r>
            <a:endParaRPr lang="en-US" altLang="ko-KR" sz="1200">
              <a:solidFill>
                <a:srgbClr val="FFFFFF"/>
              </a:solidFill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FF6B6B"/>
                </a:solidFill>
                <a:effectLst/>
              </a:rPr>
              <a:t>수백억 보안 시스템도 무력화</a:t>
            </a:r>
            <a:r>
              <a:rPr lang="en-US" altLang="ko-KR" sz="1200" b="0" i="0">
                <a:solidFill>
                  <a:srgbClr val="FF6B6B"/>
                </a:solidFill>
                <a:effectLst/>
              </a:rPr>
              <a:t> 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FF6B6B"/>
                </a:solidFill>
                <a:effectLst/>
              </a:rPr>
              <a:t>데이터 유출 발생</a:t>
            </a:r>
            <a:endParaRPr lang="en-US" altLang="ko-KR" sz="1200" b="0" i="0">
              <a:solidFill>
                <a:srgbClr val="FF6B6B"/>
              </a:solidFill>
              <a:effectLst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5C00950-5D67-EF42-E062-6F018349C330}"/>
              </a:ext>
            </a:extLst>
          </p:cNvPr>
          <p:cNvSpPr/>
          <p:nvPr/>
        </p:nvSpPr>
        <p:spPr>
          <a:xfrm>
            <a:off x="7491099" y="2484545"/>
            <a:ext cx="4437148" cy="4210768"/>
          </a:xfrm>
          <a:prstGeom prst="roundRect">
            <a:avLst>
              <a:gd name="adj" fmla="val 2827"/>
            </a:avLst>
          </a:prstGeom>
          <a:solidFill>
            <a:srgbClr val="00B050">
              <a:alpha val="25000"/>
            </a:srgbClr>
          </a:solidFill>
          <a:ln w="3175">
            <a:solidFill>
              <a:srgbClr val="00B050">
                <a:alpha val="8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34653A48-5925-23B7-04CD-D36603A74EB9}"/>
              </a:ext>
            </a:extLst>
          </p:cNvPr>
          <p:cNvSpPr/>
          <p:nvPr/>
        </p:nvSpPr>
        <p:spPr>
          <a:xfrm>
            <a:off x="3937755" y="3840878"/>
            <a:ext cx="364435" cy="38856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CF70122-A2C8-8C4C-2CFF-1843AFB0B745}"/>
              </a:ext>
            </a:extLst>
          </p:cNvPr>
          <p:cNvCxnSpPr>
            <a:cxnSpLocks/>
            <a:stCxn id="3" idx="0"/>
            <a:endCxn id="6" idx="2"/>
          </p:cNvCxnSpPr>
          <p:nvPr/>
        </p:nvCxnSpPr>
        <p:spPr>
          <a:xfrm flipV="1">
            <a:off x="9715174" y="2253680"/>
            <a:ext cx="2930" cy="214749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9C14808-B4DA-AF22-AED4-B62CAEAA1552}"/>
              </a:ext>
            </a:extLst>
          </p:cNvPr>
          <p:cNvSpPr txBox="1"/>
          <p:nvPr/>
        </p:nvSpPr>
        <p:spPr>
          <a:xfrm>
            <a:off x="7523105" y="2468429"/>
            <a:ext cx="4384138" cy="4210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en-US" altLang="ko-KR" sz="1400" b="1" i="0">
                <a:solidFill>
                  <a:srgbClr val="00D4AA"/>
                </a:solidFill>
                <a:effectLst/>
              </a:rPr>
              <a:t>                                          AI </a:t>
            </a:r>
            <a:r>
              <a:rPr lang="ko-KR" altLang="en-US" sz="1400" b="1" i="0">
                <a:solidFill>
                  <a:srgbClr val="00D4AA"/>
                </a:solidFill>
                <a:effectLst/>
              </a:rPr>
              <a:t>맥락 </a:t>
            </a:r>
            <a:r>
              <a:rPr lang="ko-KR" altLang="en-US" sz="1400" b="1">
                <a:solidFill>
                  <a:srgbClr val="00D4AA"/>
                </a:solidFill>
              </a:rPr>
              <a:t>보안</a:t>
            </a:r>
            <a:endParaRPr lang="en-US" altLang="ko-KR" sz="1400" b="1" i="0">
              <a:solidFill>
                <a:srgbClr val="00D4AA"/>
              </a:solidFill>
              <a:effectLst/>
            </a:endParaRPr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en-US" altLang="ko-KR" sz="1200" b="0" i="0">
                <a:solidFill>
                  <a:srgbClr val="FFFFFF"/>
                </a:solidFill>
                <a:effectLst/>
              </a:rPr>
              <a:t>4</a:t>
            </a:r>
            <a:r>
              <a:rPr lang="ko-KR" altLang="en-US" sz="1200" b="0" i="0">
                <a:solidFill>
                  <a:srgbClr val="FFFFFF"/>
                </a:solidFill>
                <a:effectLst/>
              </a:rPr>
              <a:t>가지 의심 요소 종합 분석</a:t>
            </a:r>
            <a:br>
              <a:rPr lang="ko-KR" altLang="en-US" sz="1200" b="0" i="0">
                <a:solidFill>
                  <a:srgbClr val="FFFFFF"/>
                </a:solidFill>
                <a:effectLst/>
              </a:rPr>
            </a:br>
            <a:r>
              <a:rPr lang="ko-KR" altLang="en-US" sz="1200" b="1" i="0">
                <a:solidFill>
                  <a:srgbClr val="FFC000"/>
                </a:solidFill>
                <a:effectLst/>
              </a:rPr>
              <a:t>위험도 점수</a:t>
            </a:r>
            <a:r>
              <a:rPr lang="en-US" altLang="ko-KR" sz="1200" b="1" i="0">
                <a:solidFill>
                  <a:srgbClr val="FFC000"/>
                </a:solidFill>
                <a:effectLst/>
              </a:rPr>
              <a:t>: 94/100</a:t>
            </a:r>
            <a:br>
              <a:rPr lang="en-US" altLang="ko-KR" sz="1200" b="0" i="0">
                <a:solidFill>
                  <a:srgbClr val="FFFFFF"/>
                </a:solidFill>
                <a:effectLst/>
              </a:rPr>
            </a:br>
            <a:r>
              <a:rPr lang="en-US" altLang="ko-KR" sz="1200" b="0" i="0">
                <a:solidFill>
                  <a:srgbClr val="FFFFFF"/>
                </a:solidFill>
                <a:effectLst/>
              </a:rPr>
              <a:t>(</a:t>
            </a:r>
            <a:r>
              <a:rPr lang="ko-KR" altLang="en-US" sz="1200" b="0" i="0">
                <a:solidFill>
                  <a:srgbClr val="FFFFFF"/>
                </a:solidFill>
                <a:effectLst/>
              </a:rPr>
              <a:t>실시간 요청 벡터와 학습된 </a:t>
            </a:r>
            <a:r>
              <a:rPr lang="en-US" altLang="ko-KR" sz="1200" b="0" i="0">
                <a:solidFill>
                  <a:srgbClr val="FFFFFF"/>
                </a:solidFill>
                <a:effectLst/>
              </a:rPr>
              <a:t>BaselineVector </a:t>
            </a:r>
            <a:r>
              <a:rPr lang="ko-KR" altLang="en-US" sz="1200" b="0" i="0">
                <a:solidFill>
                  <a:srgbClr val="FFFFFF"/>
                </a:solidFill>
                <a:effectLst/>
              </a:rPr>
              <a:t>간 유사도 분석</a:t>
            </a:r>
            <a:r>
              <a:rPr lang="en-US" altLang="ko-KR" sz="1200" b="0" i="0">
                <a:solidFill>
                  <a:srgbClr val="FFFFFF"/>
                </a:solidFill>
                <a:effectLst/>
              </a:rPr>
              <a:t>)</a:t>
            </a:r>
            <a:br>
              <a:rPr lang="en-US" altLang="ko-KR" sz="1200" b="0" i="0">
                <a:solidFill>
                  <a:srgbClr val="FFFFFF"/>
                </a:solidFill>
                <a:effectLst/>
              </a:rPr>
            </a:br>
            <a:r>
              <a:rPr lang="ko-KR" altLang="en-US" sz="1100" b="0" i="0">
                <a:solidFill>
                  <a:srgbClr val="1DD7B8"/>
                </a:solidFill>
                <a:effectLst/>
              </a:rPr>
              <a:t>주요 이탈 요인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(Anomaly Factors)</a:t>
            </a:r>
            <a:br>
              <a:rPr lang="en-US" altLang="ko-KR" sz="1100" b="0" i="0">
                <a:solidFill>
                  <a:srgbClr val="1DD7B8"/>
                </a:solidFill>
                <a:effectLst/>
              </a:rPr>
            </a:br>
            <a:r>
              <a:rPr lang="en-US" altLang="ko-KR" sz="1100" b="0" i="0">
                <a:solidFill>
                  <a:srgbClr val="1DD7B8"/>
                </a:solidFill>
                <a:effectLst/>
              </a:rPr>
              <a:t>• IP/</a:t>
            </a:r>
            <a:r>
              <a:rPr lang="ko-KR" altLang="en-US" sz="1100" b="0" i="0">
                <a:solidFill>
                  <a:srgbClr val="1DD7B8"/>
                </a:solidFill>
                <a:effectLst/>
              </a:rPr>
              <a:t>위치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: 98% </a:t>
            </a:r>
            <a:r>
              <a:rPr lang="ko-KR" altLang="en-US" sz="1100" b="0" i="0">
                <a:solidFill>
                  <a:srgbClr val="1DD7B8"/>
                </a:solidFill>
                <a:effectLst/>
              </a:rPr>
              <a:t>불일치 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(</a:t>
            </a:r>
            <a:r>
              <a:rPr lang="ko-KR" altLang="en-US" sz="1100" b="0" i="0">
                <a:solidFill>
                  <a:srgbClr val="1DD7B8"/>
                </a:solidFill>
                <a:effectLst/>
              </a:rPr>
              <a:t>과거 이력 없음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)</a:t>
            </a:r>
            <a:br>
              <a:rPr lang="en-US" altLang="ko-KR" sz="1100" b="0" i="0">
                <a:solidFill>
                  <a:srgbClr val="1DD7B8"/>
                </a:solidFill>
                <a:effectLst/>
              </a:rPr>
            </a:br>
            <a:r>
              <a:rPr lang="en-US" altLang="ko-KR" sz="1100" b="0" i="0">
                <a:solidFill>
                  <a:srgbClr val="1DD7B8"/>
                </a:solidFill>
                <a:effectLst/>
              </a:rPr>
              <a:t>• </a:t>
            </a:r>
            <a:r>
              <a:rPr lang="ko-KR" altLang="en-US" sz="1100" b="0" i="0">
                <a:solidFill>
                  <a:srgbClr val="1DD7B8"/>
                </a:solidFill>
                <a:effectLst/>
              </a:rPr>
              <a:t>시간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: 95% </a:t>
            </a:r>
            <a:r>
              <a:rPr lang="ko-KR" altLang="en-US" sz="1100" b="0" i="0">
                <a:solidFill>
                  <a:srgbClr val="1DD7B8"/>
                </a:solidFill>
                <a:effectLst/>
              </a:rPr>
              <a:t>불일치 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(</a:t>
            </a:r>
            <a:r>
              <a:rPr lang="ko-KR" altLang="en-US" sz="1100" b="0" i="0">
                <a:solidFill>
                  <a:srgbClr val="1DD7B8"/>
                </a:solidFill>
                <a:effectLst/>
              </a:rPr>
              <a:t>통계적 이상치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)</a:t>
            </a:r>
            <a:br>
              <a:rPr lang="en-US" altLang="ko-KR" sz="1100" b="0" i="0">
                <a:solidFill>
                  <a:srgbClr val="1DD7B8"/>
                </a:solidFill>
                <a:effectLst/>
              </a:rPr>
            </a:br>
            <a:r>
              <a:rPr lang="en-US" altLang="ko-KR" sz="1100" b="0" i="0">
                <a:solidFill>
                  <a:srgbClr val="1DD7B8"/>
                </a:solidFill>
                <a:effectLst/>
              </a:rPr>
              <a:t>• User-Agent: 100% </a:t>
            </a:r>
            <a:r>
              <a:rPr lang="ko-KR" altLang="en-US" sz="1100" b="0" i="0">
                <a:solidFill>
                  <a:srgbClr val="1DD7B8"/>
                </a:solidFill>
                <a:effectLst/>
              </a:rPr>
              <a:t>불일치 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(</a:t>
            </a:r>
            <a:r>
              <a:rPr lang="ko-KR" altLang="en-US" sz="1100" b="0" i="0">
                <a:solidFill>
                  <a:srgbClr val="1DD7B8"/>
                </a:solidFill>
                <a:effectLst/>
              </a:rPr>
              <a:t>비인가 클라이언트</a:t>
            </a:r>
            <a:r>
              <a:rPr lang="en-US" altLang="ko-KR" sz="1100" b="0" i="0">
                <a:solidFill>
                  <a:srgbClr val="1DD7B8"/>
                </a:solidFill>
                <a:effectLst/>
              </a:rPr>
              <a:t>)</a:t>
            </a:r>
            <a:endParaRPr lang="ko-KR" altLang="en-US" sz="1100">
              <a:solidFill>
                <a:srgbClr val="1DD7B8"/>
              </a:solidFill>
            </a:endParaRPr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200" b="1" i="0">
                <a:solidFill>
                  <a:srgbClr val="00D4AA"/>
                </a:solidFill>
                <a:effectLst/>
              </a:rPr>
              <a:t>결론</a:t>
            </a:r>
            <a:br>
              <a:rPr lang="en-US" altLang="ko-KR" sz="1200" b="1" i="0">
                <a:solidFill>
                  <a:srgbClr val="00D4AA"/>
                </a:solidFill>
                <a:effectLst/>
              </a:rPr>
            </a:br>
            <a:r>
              <a:rPr lang="ko-KR" altLang="en-US" sz="1200" b="1" i="0">
                <a:solidFill>
                  <a:srgbClr val="FFC000"/>
                </a:solidFill>
                <a:effectLst/>
              </a:rPr>
              <a:t>비정상 </a:t>
            </a:r>
            <a:r>
              <a:rPr lang="en-US" altLang="ko-KR" sz="1200" b="1" i="0">
                <a:solidFill>
                  <a:srgbClr val="FFC000"/>
                </a:solidFill>
                <a:effectLst/>
              </a:rPr>
              <a:t>- </a:t>
            </a:r>
            <a:r>
              <a:rPr lang="ko-KR" altLang="en-US" sz="1200" b="1" i="0">
                <a:solidFill>
                  <a:srgbClr val="FFC000"/>
                </a:solidFill>
                <a:effectLst/>
              </a:rPr>
              <a:t>계정 탈취 </a:t>
            </a:r>
            <a:r>
              <a:rPr lang="en-US" altLang="ko-KR" sz="1200" b="1" i="0">
                <a:solidFill>
                  <a:srgbClr val="FFC000"/>
                </a:solidFill>
                <a:effectLst/>
              </a:rPr>
              <a:t>(Block &amp; Invalidate)</a:t>
            </a:r>
            <a:br>
              <a:rPr lang="en-US" altLang="ko-KR" sz="1200">
                <a:solidFill>
                  <a:srgbClr val="FFFFFF"/>
                </a:solidFill>
              </a:rPr>
            </a:br>
            <a:r>
              <a:rPr lang="ko-KR" altLang="en-US" sz="1200" b="0" i="0">
                <a:solidFill>
                  <a:schemeClr val="bg1"/>
                </a:solidFill>
                <a:effectLst/>
              </a:rPr>
              <a:t>유출 시도 수초 내 자동 탐지 및 세션 강제 종료</a:t>
            </a:r>
            <a:r>
              <a:rPr lang="en-US" altLang="ko-KR" sz="1200" b="0" i="0">
                <a:solidFill>
                  <a:schemeClr val="bg1"/>
                </a:solidFill>
                <a:effectLst/>
              </a:rPr>
              <a:t> </a:t>
            </a:r>
            <a:r>
              <a:rPr lang="ko-KR" altLang="en-US" sz="1200" b="0" i="0">
                <a:solidFill>
                  <a:schemeClr val="bg1"/>
                </a:solidFill>
                <a:effectLst/>
              </a:rPr>
              <a:t>피해 </a:t>
            </a:r>
            <a:r>
              <a:rPr lang="en-US" altLang="ko-KR" sz="1200" b="0" i="0">
                <a:solidFill>
                  <a:schemeClr val="bg1"/>
                </a:solidFill>
                <a:effectLst/>
              </a:rPr>
              <a:t>'0’</a:t>
            </a:r>
            <a:r>
              <a:rPr lang="ko-KR" altLang="en-US" sz="1200" b="0" i="0">
                <a:solidFill>
                  <a:schemeClr val="bg1"/>
                </a:solidFill>
                <a:effectLst/>
              </a:rPr>
              <a:t>건</a:t>
            </a:r>
            <a:br>
              <a:rPr lang="en-US" altLang="ko-KR" sz="1200" b="0" i="0">
                <a:solidFill>
                  <a:schemeClr val="bg1"/>
                </a:solidFill>
                <a:effectLst/>
              </a:rPr>
            </a:br>
            <a:r>
              <a:rPr lang="en-US" altLang="ko-KR" sz="1100" b="0" i="0">
                <a:solidFill>
                  <a:srgbClr val="00D4AA"/>
                </a:solidFill>
                <a:effectLst/>
              </a:rPr>
              <a:t>(※ </a:t>
            </a:r>
            <a:r>
              <a:rPr lang="en-US" altLang="ko-KR" sz="1100" b="1" i="0">
                <a:solidFill>
                  <a:srgbClr val="00D4AA"/>
                </a:solidFill>
                <a:effectLst/>
              </a:rPr>
              <a:t>HCADFilter </a:t>
            </a:r>
            <a:r>
              <a:rPr lang="ko-KR" altLang="en-US" sz="1100" b="0" i="0">
                <a:solidFill>
                  <a:srgbClr val="00D4AA"/>
                </a:solidFill>
                <a:effectLst/>
              </a:rPr>
              <a:t>가 실시간 행동 벡터의 미세 편차를 감지</a:t>
            </a:r>
            <a:r>
              <a:rPr lang="en-US" altLang="ko-KR" sz="1100" b="0" i="0">
                <a:solidFill>
                  <a:srgbClr val="00D4AA"/>
                </a:solidFill>
                <a:effectLst/>
              </a:rPr>
              <a:t>. </a:t>
            </a:r>
            <a:r>
              <a:rPr lang="ko-KR" altLang="en-US" sz="1100" b="0" i="0">
                <a:solidFill>
                  <a:srgbClr val="00D4AA"/>
                </a:solidFill>
                <a:effectLst/>
              </a:rPr>
              <a:t>이상 징후는 </a:t>
            </a:r>
            <a:r>
              <a:rPr lang="en-US" altLang="ko-KR" sz="1100" b="1" i="0">
                <a:solidFill>
                  <a:srgbClr val="00D4AA"/>
                </a:solidFill>
                <a:effectLst/>
              </a:rPr>
              <a:t>ColdPath</a:t>
            </a:r>
            <a:r>
              <a:rPr lang="en-US" altLang="ko-KR" sz="1100" b="0" i="0">
                <a:solidFill>
                  <a:srgbClr val="00D4AA"/>
                </a:solidFill>
                <a:effectLst/>
              </a:rPr>
              <a:t> </a:t>
            </a:r>
            <a:r>
              <a:rPr lang="ko-KR" altLang="en-US" sz="1100" b="0" i="0">
                <a:solidFill>
                  <a:srgbClr val="00D4AA"/>
                </a:solidFill>
                <a:effectLst/>
              </a:rPr>
              <a:t>의 </a:t>
            </a:r>
            <a:r>
              <a:rPr lang="en-US" altLang="ko-KR" sz="1100" b="0" i="0">
                <a:solidFill>
                  <a:srgbClr val="00D4AA"/>
                </a:solidFill>
                <a:effectLst/>
              </a:rPr>
              <a:t>3-Tier AI </a:t>
            </a:r>
            <a:r>
              <a:rPr lang="ko-KR" altLang="en-US" sz="1100" b="0" i="0">
                <a:solidFill>
                  <a:srgbClr val="00D4AA"/>
                </a:solidFill>
                <a:effectLst/>
              </a:rPr>
              <a:t>전문가 시스템으로 전달되어 자율적으로 최종 위협 판단 및 대응 완료</a:t>
            </a:r>
            <a:r>
              <a:rPr lang="en-US" altLang="ko-KR" sz="1100" b="0" i="0">
                <a:solidFill>
                  <a:srgbClr val="00D4AA"/>
                </a:solidFill>
                <a:effectLst/>
              </a:rPr>
              <a:t>. </a:t>
            </a:r>
            <a:r>
              <a:rPr lang="ko-KR" altLang="en-US" sz="1100" b="0" i="0">
                <a:solidFill>
                  <a:srgbClr val="00D4AA"/>
                </a:solidFill>
                <a:effectLst/>
              </a:rPr>
              <a:t>제출된 </a:t>
            </a:r>
            <a:r>
              <a:rPr lang="en-US" altLang="ko-KR" sz="1100" b="0" i="0">
                <a:solidFill>
                  <a:srgbClr val="00D4AA"/>
                </a:solidFill>
                <a:effectLst/>
              </a:rPr>
              <a:t>PoC </a:t>
            </a:r>
            <a:r>
              <a:rPr lang="ko-KR" altLang="en-US" sz="1100" b="0" i="0">
                <a:solidFill>
                  <a:srgbClr val="00D4AA"/>
                </a:solidFill>
                <a:effectLst/>
              </a:rPr>
              <a:t>코드로 즉시 검증 가능</a:t>
            </a:r>
            <a:r>
              <a:rPr lang="en-US" altLang="ko-KR" sz="1100" b="0" i="0">
                <a:solidFill>
                  <a:srgbClr val="00D4AA"/>
                </a:solidFill>
                <a:effectLst/>
              </a:rPr>
              <a:t>)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82CB048-4F4A-3347-DCA6-1810B8E87D28}"/>
              </a:ext>
            </a:extLst>
          </p:cNvPr>
          <p:cNvCxnSpPr/>
          <p:nvPr/>
        </p:nvCxnSpPr>
        <p:spPr>
          <a:xfrm>
            <a:off x="4616396" y="2912334"/>
            <a:ext cx="2087217" cy="0"/>
          </a:xfrm>
          <a:prstGeom prst="line">
            <a:avLst/>
          </a:prstGeom>
          <a:ln w="31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C638900-AA48-4556-6E65-CF0BB0EA54BB}"/>
              </a:ext>
            </a:extLst>
          </p:cNvPr>
          <p:cNvCxnSpPr>
            <a:cxnSpLocks/>
          </p:cNvCxnSpPr>
          <p:nvPr/>
        </p:nvCxnSpPr>
        <p:spPr>
          <a:xfrm>
            <a:off x="7491099" y="2895608"/>
            <a:ext cx="4437148" cy="0"/>
          </a:xfrm>
          <a:prstGeom prst="line">
            <a:avLst/>
          </a:prstGeom>
          <a:ln w="3175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BACB1F2-7B2A-8A3A-47DE-7416E172E1A0}"/>
              </a:ext>
            </a:extLst>
          </p:cNvPr>
          <p:cNvSpPr txBox="1"/>
          <p:nvPr/>
        </p:nvSpPr>
        <p:spPr>
          <a:xfrm>
            <a:off x="411842" y="2642537"/>
            <a:ext cx="3316096" cy="2703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200" b="1" i="0">
                <a:solidFill>
                  <a:srgbClr val="00D4AA"/>
                </a:solidFill>
                <a:effectLst/>
              </a:rPr>
              <a:t>⚠️ 공격 시나리오 </a:t>
            </a:r>
            <a:r>
              <a:rPr lang="en-US" altLang="ko-KR" sz="1200" b="1" i="0">
                <a:solidFill>
                  <a:srgbClr val="00D4AA"/>
                </a:solidFill>
                <a:effectLst/>
              </a:rPr>
              <a:t>&amp; </a:t>
            </a:r>
            <a:r>
              <a:rPr lang="ko-KR" altLang="en-US" sz="1200" b="1">
                <a:solidFill>
                  <a:srgbClr val="00D4AA"/>
                </a:solidFill>
              </a:rPr>
              <a:t>결과</a:t>
            </a:r>
            <a:endParaRPr lang="ko-KR" altLang="en-US" sz="1200" b="1" i="0">
              <a:solidFill>
                <a:srgbClr val="00D4AA"/>
              </a:solidFill>
              <a:effectLst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ko-KR" sz="1200" b="1" i="0">
                <a:solidFill>
                  <a:srgbClr val="FFC000"/>
                </a:solidFill>
                <a:effectLst/>
              </a:rPr>
              <a:t>[</a:t>
            </a:r>
            <a:r>
              <a:rPr lang="ko-KR" altLang="en-US" sz="1200" b="1" i="0">
                <a:solidFill>
                  <a:srgbClr val="FFC000"/>
                </a:solidFill>
                <a:effectLst/>
              </a:rPr>
              <a:t>기존 시스템</a:t>
            </a:r>
            <a:r>
              <a:rPr lang="en-US" altLang="ko-KR" sz="1200" b="1" i="0">
                <a:solidFill>
                  <a:srgbClr val="FFC000"/>
                </a:solidFill>
                <a:effectLst/>
              </a:rPr>
              <a:t>] </a:t>
            </a:r>
            <a:br>
              <a:rPr lang="en-US" altLang="ko-KR" sz="1200" b="1" i="0">
                <a:solidFill>
                  <a:srgbClr val="FFC000"/>
                </a:solidFill>
                <a:effectLst/>
              </a:rPr>
            </a:br>
            <a:r>
              <a:rPr lang="en-US" altLang="ko-KR" sz="1200" b="1" i="0">
                <a:solidFill>
                  <a:srgbClr val="DDE4F0"/>
                </a:solidFill>
                <a:effectLst/>
              </a:rPr>
              <a:t>ADMIN 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계정 탈취로 새벽 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3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시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 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해외 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IP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에서 대규모 데이터 조회 및 고객 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DB 100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만 건 유출 사고 발생 </a:t>
            </a:r>
            <a:endParaRPr lang="en-US" altLang="ko-KR" sz="1200" b="1" i="0">
              <a:solidFill>
                <a:srgbClr val="DDE4F0"/>
              </a:solidFill>
              <a:effectLst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altLang="ko-KR" sz="1200" b="1" i="0">
                <a:solidFill>
                  <a:srgbClr val="DDE4F0"/>
                </a:solidFill>
                <a:effectLst/>
              </a:rPr>
              <a:t>(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예상 피해액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: 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수십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~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수백억 원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)</a:t>
            </a:r>
            <a:br>
              <a:rPr lang="en-US" altLang="ko-KR" sz="1200" b="1" i="0">
                <a:solidFill>
                  <a:srgbClr val="DDE4F0"/>
                </a:solidFill>
                <a:effectLst/>
              </a:rPr>
            </a:br>
            <a:br>
              <a:rPr lang="en-US" altLang="ko-KR" sz="1200" b="1" i="0">
                <a:solidFill>
                  <a:srgbClr val="DDE4F0"/>
                </a:solidFill>
                <a:effectLst/>
              </a:rPr>
            </a:br>
            <a:r>
              <a:rPr lang="en-US" altLang="ko-KR" sz="1200" b="1" i="0">
                <a:solidFill>
                  <a:srgbClr val="FFC000"/>
                </a:solidFill>
                <a:effectLst/>
              </a:rPr>
              <a:t>[AI </a:t>
            </a:r>
            <a:r>
              <a:rPr lang="ko-KR" altLang="en-US" sz="1200" b="1" i="0">
                <a:solidFill>
                  <a:srgbClr val="FFC000"/>
                </a:solidFill>
                <a:effectLst/>
              </a:rPr>
              <a:t>보안 플랫폼</a:t>
            </a:r>
            <a:r>
              <a:rPr lang="en-US" altLang="ko-KR" sz="1200" b="1" i="0">
                <a:solidFill>
                  <a:srgbClr val="FFC000"/>
                </a:solidFill>
                <a:effectLst/>
              </a:rPr>
              <a:t>]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 </a:t>
            </a:r>
            <a:br>
              <a:rPr lang="en-US" altLang="ko-KR" sz="1200" b="1" i="0">
                <a:solidFill>
                  <a:srgbClr val="DDE4F0"/>
                </a:solidFill>
                <a:effectLst/>
              </a:rPr>
            </a:br>
            <a:r>
              <a:rPr lang="en-US" altLang="ko-KR" sz="1200" b="1" i="0">
                <a:solidFill>
                  <a:srgbClr val="DDE4F0"/>
                </a:solidFill>
                <a:effectLst/>
              </a:rPr>
              <a:t>ADMIN 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계정 탈취 → 수 초 내 자동 탐지 및 차단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ko-KR" sz="1200" b="1" i="0">
                <a:solidFill>
                  <a:srgbClr val="DDE4F0"/>
                </a:solidFill>
                <a:effectLst/>
              </a:rPr>
              <a:t>(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피해액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: '0' </a:t>
            </a:r>
            <a:r>
              <a:rPr lang="ko-KR" altLang="en-US" sz="1200" b="1" i="0">
                <a:solidFill>
                  <a:srgbClr val="DDE4F0"/>
                </a:solidFill>
                <a:effectLst/>
              </a:rPr>
              <a:t>원</a:t>
            </a:r>
            <a:r>
              <a:rPr lang="en-US" altLang="ko-KR" sz="1200" b="1" i="0">
                <a:solidFill>
                  <a:srgbClr val="DDE4F0"/>
                </a:solidFill>
                <a:effectLst/>
              </a:rPr>
              <a:t>)</a:t>
            </a:r>
            <a:endParaRPr lang="ko-KR" altLang="en-US" sz="1200" b="0" i="0">
              <a:solidFill>
                <a:srgbClr val="DDE4F0"/>
              </a:solidFill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ACDF93-6B1A-6DA4-1464-1D397A1A077A}"/>
              </a:ext>
            </a:extLst>
          </p:cNvPr>
          <p:cNvSpPr txBox="1"/>
          <p:nvPr/>
        </p:nvSpPr>
        <p:spPr>
          <a:xfrm>
            <a:off x="6808463" y="3840878"/>
            <a:ext cx="5818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>
                <a:solidFill>
                  <a:schemeClr val="bg1"/>
                </a:solidFill>
              </a:rPr>
              <a:t>VS</a:t>
            </a:r>
            <a:endParaRPr lang="ko-KR" altLang="en-US" sz="2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308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91B1E-659D-E291-95A0-889E14E4D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C3522B-8914-D6EC-5BB7-17FA04DCC23D}"/>
              </a:ext>
            </a:extLst>
          </p:cNvPr>
          <p:cNvSpPr txBox="1"/>
          <p:nvPr/>
        </p:nvSpPr>
        <p:spPr>
          <a:xfrm>
            <a:off x="197186" y="196018"/>
            <a:ext cx="2299367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시장의 현실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086AEF-820C-6395-A449-CC19F2E670C0}"/>
              </a:ext>
            </a:extLst>
          </p:cNvPr>
          <p:cNvSpPr txBox="1"/>
          <p:nvPr/>
        </p:nvSpPr>
        <p:spPr>
          <a:xfrm>
            <a:off x="197186" y="780793"/>
            <a:ext cx="6057839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0" i="0">
                <a:solidFill>
                  <a:srgbClr val="8B9DC3"/>
                </a:solidFill>
                <a:effectLst/>
              </a:rPr>
              <a:t>AI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보안 수요는 점점  늘어나고 공급은 아직 초기 상태인 골든 타임입니다</a:t>
            </a:r>
            <a:endParaRPr lang="ko-KR" altLang="en-US" sz="14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083DBF8-B77F-9C0F-2F50-9DC2EF61C53C}"/>
              </a:ext>
            </a:extLst>
          </p:cNvPr>
          <p:cNvSpPr/>
          <p:nvPr/>
        </p:nvSpPr>
        <p:spPr>
          <a:xfrm>
            <a:off x="288209" y="1385876"/>
            <a:ext cx="2326037" cy="680472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고객의 </a:t>
            </a:r>
            <a:r>
              <a:rPr lang="en-US" altLang="ko-KR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요구 증가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A0FD9B8-3472-7034-5C83-F3FFF60690BA}"/>
              </a:ext>
            </a:extLst>
          </p:cNvPr>
          <p:cNvSpPr/>
          <p:nvPr/>
        </p:nvSpPr>
        <p:spPr>
          <a:xfrm>
            <a:off x="2614246" y="1385876"/>
            <a:ext cx="9378462" cy="680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갈수록 지능화 된 해킹에 속수무책인 기업들은</a:t>
            </a:r>
            <a:r>
              <a:rPr lang="ko-KR" altLang="en-US" sz="1200" b="1">
                <a:solidFill>
                  <a:srgbClr val="FFFF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en-US" altLang="ko-KR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XA(AI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보안으로 전환</a:t>
            </a:r>
            <a:r>
              <a:rPr lang="en-US" altLang="ko-KR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를 요구하고 있으며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보안은 이제 선택이 아닌 필연적 과제가 되고 있습니다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시장은 이미 불타고 있는데 불을 끌 수 있는 소방수가 없는 상황입니다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93012DA-3D7C-B830-A1C3-5EC5E4DA9438}"/>
              </a:ext>
            </a:extLst>
          </p:cNvPr>
          <p:cNvSpPr/>
          <p:nvPr/>
        </p:nvSpPr>
        <p:spPr>
          <a:xfrm>
            <a:off x="288209" y="2183042"/>
            <a:ext cx="2326037" cy="680472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플랫폼 </a:t>
            </a:r>
            <a:r>
              <a:rPr lang="en-US" altLang="ko-KR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</a:t>
            </a:r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표준 부재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C3660E6-C69E-C72E-D911-2925336E4CF7}"/>
              </a:ext>
            </a:extLst>
          </p:cNvPr>
          <p:cNvSpPr/>
          <p:nvPr/>
        </p:nvSpPr>
        <p:spPr>
          <a:xfrm>
            <a:off x="2614246" y="2183042"/>
            <a:ext cx="9378462" cy="680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국내외 보안 기업들은 아직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개발 초기 단계이며 개발자들이 즉시 사용할 수 있는 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검증된 플랫폼이나 표준을 제공하는 곳은 거의 전무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합니다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EF7B43-A60C-3FE7-48FC-AF7C04FD6E28}"/>
              </a:ext>
            </a:extLst>
          </p:cNvPr>
          <p:cNvSpPr/>
          <p:nvPr/>
        </p:nvSpPr>
        <p:spPr>
          <a:xfrm>
            <a:off x="288209" y="2991930"/>
            <a:ext cx="2326037" cy="680472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개발자 역량 미비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9DE8530-BBB3-8D49-2D71-9DD77418ECC6}"/>
              </a:ext>
            </a:extLst>
          </p:cNvPr>
          <p:cNvSpPr/>
          <p:nvPr/>
        </p:nvSpPr>
        <p:spPr>
          <a:xfrm>
            <a:off x="2614246" y="2991930"/>
            <a:ext cx="9378462" cy="680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초격차 </a:t>
            </a:r>
            <a:r>
              <a:rPr lang="en-US" altLang="ko-KR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AI-Native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개발 가능 개발자는 거의 전무하거나 단순한 실험적인 수준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에 머무르고 있으며 이는 시장의 심각한 인력 부족 으로 이어집니다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 </a:t>
            </a:r>
            <a:endParaRPr lang="en-US" altLang="ko-KR" sz="1200" b="1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결론적으로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개발자들의 </a:t>
            </a:r>
            <a:r>
              <a:rPr lang="en-US" altLang="ko-KR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개발은 그들의 생존 문제와 직결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됩니다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74E67B-A4B4-AE0F-DF79-80608F954556}"/>
              </a:ext>
            </a:extLst>
          </p:cNvPr>
          <p:cNvSpPr/>
          <p:nvPr/>
        </p:nvSpPr>
        <p:spPr>
          <a:xfrm>
            <a:off x="288209" y="3806679"/>
            <a:ext cx="2326037" cy="680472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골든 타임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A4FD6E6-7432-50DD-D5D5-1CF4693782C4}"/>
              </a:ext>
            </a:extLst>
          </p:cNvPr>
          <p:cNvSpPr/>
          <p:nvPr/>
        </p:nvSpPr>
        <p:spPr>
          <a:xfrm>
            <a:off x="2614246" y="3806679"/>
            <a:ext cx="9378462" cy="680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시기상조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는 기회를 못 보는 자들의 변명일 뿐 바로 지금이 아무도 없는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텅 빈 경기장에서 가장 먼저 깃발을 꽂아야 하는 시점</a:t>
            </a:r>
            <a:r>
              <a:rPr lang="ko-KR" altLang="en-US" sz="1200" b="1">
                <a:solidFill>
                  <a:srgbClr val="FFFF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CC7CC4F-A47B-0689-94B7-EAAA536ED492}"/>
              </a:ext>
            </a:extLst>
          </p:cNvPr>
          <p:cNvSpPr/>
          <p:nvPr/>
        </p:nvSpPr>
        <p:spPr>
          <a:xfrm>
            <a:off x="288209" y="4621430"/>
            <a:ext cx="2326037" cy="680472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피해 비용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6659FD8-6592-9CC5-D167-615F30238785}"/>
              </a:ext>
            </a:extLst>
          </p:cNvPr>
          <p:cNvSpPr/>
          <p:nvPr/>
        </p:nvSpPr>
        <p:spPr>
          <a:xfrm>
            <a:off x="2614246" y="4621430"/>
            <a:ext cx="9378462" cy="680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전 세계 사이버 범죄 총 비용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10.5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조 달러</a:t>
            </a:r>
            <a:b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공격 비율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16%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추정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공격 피해액은 약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1.68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조 달러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(IBM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의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2025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보고서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64C47A-F3F8-73C1-3B4B-2CDA09DC8658}"/>
              </a:ext>
            </a:extLst>
          </p:cNvPr>
          <p:cNvSpPr/>
          <p:nvPr/>
        </p:nvSpPr>
        <p:spPr>
          <a:xfrm>
            <a:off x="288209" y="5436180"/>
            <a:ext cx="2326037" cy="952587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레거시 시스템의 </a:t>
            </a:r>
            <a:r>
              <a:rPr lang="en-US" altLang="ko-KR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4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전환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F03DE9-E15C-E753-DCD4-E381EC49562A}"/>
              </a:ext>
            </a:extLst>
          </p:cNvPr>
          <p:cNvSpPr/>
          <p:nvPr/>
        </p:nvSpPr>
        <p:spPr>
          <a:xfrm>
            <a:off x="2614246" y="5436180"/>
            <a:ext cx="9378462" cy="95258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Gartner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보고서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(2024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년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3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 - 2026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년까지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기업의 </a:t>
            </a:r>
            <a:r>
              <a:rPr lang="en-US" altLang="ko-KR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60%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가 레거시 현대화에 </a:t>
            </a:r>
            <a:r>
              <a:rPr lang="en-US" altLang="ko-KR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기반 보안 통제를 요구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할 것</a:t>
            </a:r>
            <a:b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IBM Cost of Data Breach Report (2024) -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레거시 시스템은 현대적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방어 통합 불가로 </a:t>
            </a:r>
            <a:r>
              <a:rPr lang="en-US" altLang="ko-KR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3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배 더 해킹당하기 쉬움</a:t>
            </a:r>
            <a:b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Forrester Wave (2024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년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월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 -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레거시</a:t>
            </a:r>
            <a:r>
              <a:rPr lang="en-US" altLang="ko-KR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AI </a:t>
            </a:r>
            <a:r>
              <a:rPr lang="ko-KR" altLang="en-US" sz="1200" b="1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마이그레이션 도구는 사이버 보안에서 가장 빠르게 성장하는 분야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2027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년까지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$15B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시장</a:t>
            </a:r>
            <a:endParaRPr lang="en-US" altLang="ko-KR" sz="1200" b="1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3343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2A9D8-3B06-515C-3EFF-197B8C9B0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직사각형 20">
            <a:extLst>
              <a:ext uri="{FF2B5EF4-FFF2-40B4-BE49-F238E27FC236}">
                <a16:creationId xmlns:a16="http://schemas.microsoft.com/office/drawing/2014/main" id="{AAE6974B-1F7A-0ECD-6E2B-94DD0BF6DDB6}"/>
              </a:ext>
            </a:extLst>
          </p:cNvPr>
          <p:cNvSpPr/>
          <p:nvPr/>
        </p:nvSpPr>
        <p:spPr>
          <a:xfrm>
            <a:off x="338888" y="1269880"/>
            <a:ext cx="11403930" cy="39039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 b="1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C3C5DD-A337-7350-EDB3-C0FD444D0C1C}"/>
              </a:ext>
            </a:extLst>
          </p:cNvPr>
          <p:cNvSpPr txBox="1"/>
          <p:nvPr/>
        </p:nvSpPr>
        <p:spPr>
          <a:xfrm>
            <a:off x="197186" y="196018"/>
            <a:ext cx="4555288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기존 솔루션의 명백한 한계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73F1ED-2B8C-4EFA-8459-86F72E8517A8}"/>
              </a:ext>
            </a:extLst>
          </p:cNvPr>
          <p:cNvSpPr txBox="1"/>
          <p:nvPr/>
        </p:nvSpPr>
        <p:spPr>
          <a:xfrm>
            <a:off x="197186" y="744697"/>
            <a:ext cx="8982909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0" i="0">
                <a:solidFill>
                  <a:srgbClr val="8B9DC3"/>
                </a:solidFill>
                <a:effectLst/>
              </a:rPr>
              <a:t>그렇다면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Okta, Microsoft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같은 글로벌 기업들은 왜 이 문제를 해결하지 못하고 있을까요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?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바로 여기에 그 해답이 있습니다</a:t>
            </a:r>
            <a:endParaRPr lang="ko-KR" altLang="en-US" sz="140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9BBD1E0-02E7-8A29-E90A-9DCD7518B139}"/>
              </a:ext>
            </a:extLst>
          </p:cNvPr>
          <p:cNvGraphicFramePr>
            <a:graphicFrameLocks noGrp="1"/>
          </p:cNvGraphicFramePr>
          <p:nvPr/>
        </p:nvGraphicFramePr>
        <p:xfrm>
          <a:off x="338889" y="1657880"/>
          <a:ext cx="11403930" cy="2438400"/>
        </p:xfrm>
        <a:graphic>
          <a:graphicData uri="http://schemas.openxmlformats.org/drawingml/2006/table">
            <a:tbl>
              <a:tblPr/>
              <a:tblGrid>
                <a:gridCol w="2280786">
                  <a:extLst>
                    <a:ext uri="{9D8B030D-6E8A-4147-A177-3AD203B41FA5}">
                      <a16:colId xmlns:a16="http://schemas.microsoft.com/office/drawing/2014/main" val="3618933444"/>
                    </a:ext>
                  </a:extLst>
                </a:gridCol>
                <a:gridCol w="2280786">
                  <a:extLst>
                    <a:ext uri="{9D8B030D-6E8A-4147-A177-3AD203B41FA5}">
                      <a16:colId xmlns:a16="http://schemas.microsoft.com/office/drawing/2014/main" val="3218306046"/>
                    </a:ext>
                  </a:extLst>
                </a:gridCol>
                <a:gridCol w="2280786">
                  <a:extLst>
                    <a:ext uri="{9D8B030D-6E8A-4147-A177-3AD203B41FA5}">
                      <a16:colId xmlns:a16="http://schemas.microsoft.com/office/drawing/2014/main" val="1133739364"/>
                    </a:ext>
                  </a:extLst>
                </a:gridCol>
                <a:gridCol w="2280786">
                  <a:extLst>
                    <a:ext uri="{9D8B030D-6E8A-4147-A177-3AD203B41FA5}">
                      <a16:colId xmlns:a16="http://schemas.microsoft.com/office/drawing/2014/main" val="1687943023"/>
                    </a:ext>
                  </a:extLst>
                </a:gridCol>
                <a:gridCol w="2280786">
                  <a:extLst>
                    <a:ext uri="{9D8B030D-6E8A-4147-A177-3AD203B41FA5}">
                      <a16:colId xmlns:a16="http://schemas.microsoft.com/office/drawing/2014/main" val="1565270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1">
                          <a:effectLst/>
                          <a:latin typeface="+mn-lt"/>
                        </a:rPr>
                        <a:t>항목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+mn-lt"/>
                        </a:rPr>
                        <a:t>Contexa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+mn-lt"/>
                        </a:rPr>
                        <a:t>Okta/Auth0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+mn-lt"/>
                        </a:rPr>
                        <a:t>Microsoft Entra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00"/>
                        </a:lnSpc>
                        <a:buNone/>
                      </a:pPr>
                      <a:r>
                        <a:rPr lang="en-US" sz="1200" b="1">
                          <a:effectLst/>
                          <a:latin typeface="+mn-lt"/>
                        </a:rPr>
                        <a:t>Palo Alto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021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Spring </a:t>
                      </a:r>
                      <a:r>
                        <a:rPr lang="ko-KR" altLang="en-US" sz="1200" b="0">
                          <a:effectLst/>
                          <a:latin typeface="+mn-lt"/>
                        </a:rPr>
                        <a:t>통합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✅ </a:t>
                      </a:r>
                      <a:r>
                        <a:rPr lang="en-US" sz="1200" b="0">
                          <a:effectLst/>
                          <a:latin typeface="+mn-lt"/>
                        </a:rPr>
                        <a:t>Native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약함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⚠️ 보통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없음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184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AI-Native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✅ 핵심 </a:t>
                      </a:r>
                      <a:r>
                        <a:rPr lang="en-US" sz="1200" b="0">
                          <a:effectLst/>
                          <a:latin typeface="+mn-lt"/>
                        </a:rPr>
                        <a:t>DNA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없음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⚠️ 실험적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없음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4912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레거시 통합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✅ </a:t>
                      </a:r>
                      <a:r>
                        <a:rPr lang="en-US" sz="1200" b="0">
                          <a:effectLst/>
                          <a:latin typeface="+mn-lt"/>
                        </a:rPr>
                        <a:t>Shadow Mode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전면 교체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재구축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불가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805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오픈소스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✅ 계획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독점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독점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독점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726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개발자 도구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✅ </a:t>
                      </a:r>
                      <a:r>
                        <a:rPr lang="en-US" sz="1200" b="0">
                          <a:effectLst/>
                          <a:latin typeface="+mn-lt"/>
                        </a:rPr>
                        <a:t>DSL </a:t>
                      </a:r>
                      <a:r>
                        <a:rPr lang="ko-KR" altLang="en-US" sz="1200" b="0">
                          <a:effectLst/>
                          <a:latin typeface="+mn-lt"/>
                        </a:rPr>
                        <a:t>제공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⚠️ SDK</a:t>
                      </a:r>
                      <a:r>
                        <a:rPr lang="ko-KR" altLang="en-US" sz="1200" b="0">
                          <a:effectLst/>
                          <a:latin typeface="+mn-lt"/>
                        </a:rPr>
                        <a:t>만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⚠️ SDK</a:t>
                      </a:r>
                      <a:r>
                        <a:rPr lang="ko-KR" altLang="en-US" sz="1200" b="0">
                          <a:effectLst/>
                          <a:latin typeface="+mn-lt"/>
                        </a:rPr>
                        <a:t>만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❌ 없음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3146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KISA Level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✅ </a:t>
                      </a:r>
                      <a:r>
                        <a:rPr lang="en-US" sz="1200" b="0">
                          <a:effectLst/>
                          <a:latin typeface="+mn-lt"/>
                        </a:rPr>
                        <a:t>Level 4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⚠️ Level 2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⚠️ Level 3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+mn-lt"/>
                        </a:rPr>
                        <a:t>⚠️ Level 2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593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타겟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개발자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기업 </a:t>
                      </a:r>
                      <a:r>
                        <a:rPr lang="en-US" sz="1200" b="0">
                          <a:effectLst/>
                          <a:latin typeface="+mn-lt"/>
                        </a:rPr>
                        <a:t>IT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기업 </a:t>
                      </a:r>
                      <a:r>
                        <a:rPr lang="en-US" sz="1200" b="0">
                          <a:effectLst/>
                          <a:latin typeface="+mn-lt"/>
                        </a:rPr>
                        <a:t>IT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500"/>
                        </a:lnSpc>
                        <a:buNone/>
                      </a:pPr>
                      <a:r>
                        <a:rPr lang="ko-KR" altLang="en-US" sz="1200" b="0">
                          <a:effectLst/>
                          <a:latin typeface="+mn-lt"/>
                        </a:rPr>
                        <a:t>보안팀</a:t>
                      </a:r>
                    </a:p>
                  </a:txBody>
                  <a:tcPr marL="114300" marR="11430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47329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2D0558D-B834-79D0-199E-61578A7EA3EC}"/>
              </a:ext>
            </a:extLst>
          </p:cNvPr>
          <p:cNvSpPr txBox="1"/>
          <p:nvPr/>
        </p:nvSpPr>
        <p:spPr>
          <a:xfrm>
            <a:off x="5276310" y="1275742"/>
            <a:ext cx="1639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>
                <a:solidFill>
                  <a:schemeClr val="bg1"/>
                </a:solidFill>
              </a:rPr>
              <a:t>경쟁사 분석표</a:t>
            </a: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684F157-BCC4-C25F-ACB6-6389F989E309}"/>
              </a:ext>
            </a:extLst>
          </p:cNvPr>
          <p:cNvSpPr/>
          <p:nvPr/>
        </p:nvSpPr>
        <p:spPr>
          <a:xfrm>
            <a:off x="1430215" y="4834031"/>
            <a:ext cx="2778370" cy="5123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Spring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의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심장부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에서 직접 작동</a:t>
            </a:r>
            <a:endParaRPr lang="en-US" altLang="ko-KR" sz="120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8A0BC3-FB69-4674-DFA5-A626DF9F6C48}"/>
              </a:ext>
            </a:extLst>
          </p:cNvPr>
          <p:cNvSpPr/>
          <p:nvPr/>
        </p:nvSpPr>
        <p:spPr>
          <a:xfrm>
            <a:off x="338887" y="4834031"/>
            <a:ext cx="1091327" cy="512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Spring </a:t>
            </a:r>
            <a:r>
              <a:rPr lang="ko-KR" altLang="en-US" sz="1200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통합</a:t>
            </a:r>
            <a:endParaRPr lang="en-US" altLang="ko-KR" sz="1200">
              <a:solidFill>
                <a:srgbClr val="FF0000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257BBC-6E3A-1979-8DDF-C3A36E3F746A}"/>
              </a:ext>
            </a:extLst>
          </p:cNvPr>
          <p:cNvSpPr/>
          <p:nvPr/>
        </p:nvSpPr>
        <p:spPr>
          <a:xfrm>
            <a:off x="1430215" y="5459528"/>
            <a:ext cx="2778370" cy="5123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의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학습과 진화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를 전제로 시스템 설계</a:t>
            </a:r>
            <a:endParaRPr lang="en-US" altLang="ko-KR" sz="120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9830F0D-DBB4-A3E5-D695-53B424387449}"/>
              </a:ext>
            </a:extLst>
          </p:cNvPr>
          <p:cNvSpPr/>
          <p:nvPr/>
        </p:nvSpPr>
        <p:spPr>
          <a:xfrm>
            <a:off x="338887" y="5459528"/>
            <a:ext cx="1091327" cy="512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AI-Native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E6DA94-B699-EE5F-4C6F-045AF7F97B19}"/>
              </a:ext>
            </a:extLst>
          </p:cNvPr>
          <p:cNvSpPr/>
          <p:nvPr/>
        </p:nvSpPr>
        <p:spPr>
          <a:xfrm>
            <a:off x="1430215" y="6086308"/>
            <a:ext cx="2778370" cy="5123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최소 침습 수술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이라는 현실적인 해법 제공</a:t>
            </a:r>
            <a:endParaRPr lang="en-US" altLang="ko-KR" sz="120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C8F7391-4A45-C1CE-3553-A7F1B3AA3646}"/>
              </a:ext>
            </a:extLst>
          </p:cNvPr>
          <p:cNvSpPr/>
          <p:nvPr/>
        </p:nvSpPr>
        <p:spPr>
          <a:xfrm>
            <a:off x="338887" y="6086308"/>
            <a:ext cx="1091327" cy="512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레거시 통합</a:t>
            </a:r>
            <a:endParaRPr lang="en-US" altLang="ko-KR" sz="1200">
              <a:solidFill>
                <a:srgbClr val="FF0000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E710897-69A9-D7C5-B335-546F44D0A05D}"/>
              </a:ext>
            </a:extLst>
          </p:cNvPr>
          <p:cNvSpPr/>
          <p:nvPr/>
        </p:nvSpPr>
        <p:spPr>
          <a:xfrm>
            <a:off x="5416052" y="4834031"/>
            <a:ext cx="3282469" cy="5123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기술을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개방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하여 개발자 생태계와 함께 성장</a:t>
            </a:r>
            <a:endParaRPr lang="en-US" altLang="ko-KR" sz="120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86E56C-2B4C-1665-35FE-256B5C86E695}"/>
              </a:ext>
            </a:extLst>
          </p:cNvPr>
          <p:cNvSpPr/>
          <p:nvPr/>
        </p:nvSpPr>
        <p:spPr>
          <a:xfrm>
            <a:off x="4371465" y="4834031"/>
            <a:ext cx="1044588" cy="512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오픈소스</a:t>
            </a:r>
            <a:endParaRPr lang="en-US" altLang="ko-KR" sz="1200">
              <a:solidFill>
                <a:srgbClr val="FF0000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7A7D21A-AFB5-A021-BFEF-CDAAABA138E8}"/>
              </a:ext>
            </a:extLst>
          </p:cNvPr>
          <p:cNvSpPr/>
          <p:nvPr/>
        </p:nvSpPr>
        <p:spPr>
          <a:xfrm>
            <a:off x="5416052" y="5459528"/>
            <a:ext cx="3282469" cy="5123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고도로 추상환 된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'DSL'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을 제공하여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개발</a:t>
            </a:r>
            <a:endParaRPr lang="en-US" altLang="ko-KR" sz="120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110ABFC-579F-6912-AFDC-68C08ACB88EA}"/>
              </a:ext>
            </a:extLst>
          </p:cNvPr>
          <p:cNvSpPr/>
          <p:nvPr/>
        </p:nvSpPr>
        <p:spPr>
          <a:xfrm>
            <a:off x="4371465" y="5459528"/>
            <a:ext cx="1044588" cy="512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개발자 도구</a:t>
            </a:r>
            <a:endParaRPr lang="en-US" altLang="ko-KR" sz="1200">
              <a:solidFill>
                <a:srgbClr val="FF0000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DB86FB4-86EA-EAE0-4797-DB2600059B11}"/>
              </a:ext>
            </a:extLst>
          </p:cNvPr>
          <p:cNvSpPr/>
          <p:nvPr/>
        </p:nvSpPr>
        <p:spPr>
          <a:xfrm>
            <a:off x="5416052" y="6086308"/>
            <a:ext cx="3282469" cy="5123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활용을 넘어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자율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(Autonomous)'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단계 구현</a:t>
            </a:r>
            <a:endParaRPr lang="en-US" altLang="ko-KR" sz="120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885072-39D5-6F8F-954F-A1C53FFCF473}"/>
              </a:ext>
            </a:extLst>
          </p:cNvPr>
          <p:cNvSpPr/>
          <p:nvPr/>
        </p:nvSpPr>
        <p:spPr>
          <a:xfrm>
            <a:off x="4371465" y="6086308"/>
            <a:ext cx="1044588" cy="512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KISA Level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93181A4-BDB6-25B6-80C3-F98F7CEB7233}"/>
              </a:ext>
            </a:extLst>
          </p:cNvPr>
          <p:cNvSpPr/>
          <p:nvPr/>
        </p:nvSpPr>
        <p:spPr>
          <a:xfrm>
            <a:off x="9482500" y="4834031"/>
            <a:ext cx="2260318" cy="51233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수백만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개발자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의 생태계를 장악</a:t>
            </a:r>
            <a:endParaRPr lang="en-US" altLang="ko-KR" sz="1200">
              <a:solidFill>
                <a:schemeClr val="bg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61B5560-F2FC-73D8-66A4-544B842E428F}"/>
              </a:ext>
            </a:extLst>
          </p:cNvPr>
          <p:cNvSpPr/>
          <p:nvPr/>
        </p:nvSpPr>
        <p:spPr>
          <a:xfrm>
            <a:off x="8842665" y="4834031"/>
            <a:ext cx="639833" cy="512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타겟</a:t>
            </a:r>
            <a:endParaRPr lang="en-US" altLang="ko-KR" sz="1200">
              <a:solidFill>
                <a:srgbClr val="FF0000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F08B93-DA2A-D22F-E6B6-F47F61F63B2A}"/>
              </a:ext>
            </a:extLst>
          </p:cNvPr>
          <p:cNvSpPr txBox="1"/>
          <p:nvPr/>
        </p:nvSpPr>
        <p:spPr>
          <a:xfrm>
            <a:off x="5276310" y="4299614"/>
            <a:ext cx="1639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>
                <a:solidFill>
                  <a:schemeClr val="bg1"/>
                </a:solidFill>
              </a:rPr>
              <a:t>각 항목별 개념</a:t>
            </a:r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326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37439-5110-76E8-5FEF-C034FDEF2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C68539-DA0E-CEB8-EDB0-386EBAC19F19}"/>
              </a:ext>
            </a:extLst>
          </p:cNvPr>
          <p:cNvSpPr txBox="1"/>
          <p:nvPr/>
        </p:nvSpPr>
        <p:spPr>
          <a:xfrm>
            <a:off x="197186" y="196018"/>
            <a:ext cx="4290594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우리의 해결책</a:t>
            </a:r>
            <a:r>
              <a:rPr lang="en-US" altLang="ko-KR" sz="3200" b="1" i="0">
                <a:solidFill>
                  <a:srgbClr val="FFFFFF"/>
                </a:solidFill>
                <a:effectLst/>
              </a:rPr>
              <a:t>, Contexa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2F45FF-303F-2DF6-4A8F-EC9373C9250F}"/>
              </a:ext>
            </a:extLst>
          </p:cNvPr>
          <p:cNvSpPr txBox="1"/>
          <p:nvPr/>
        </p:nvSpPr>
        <p:spPr>
          <a:xfrm>
            <a:off x="197186" y="773473"/>
            <a:ext cx="11691356" cy="946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i="0">
                <a:solidFill>
                  <a:schemeClr val="bg1"/>
                </a:solidFill>
                <a:effectLst/>
              </a:rPr>
              <a:t>기술적 초격차</a:t>
            </a:r>
            <a:r>
              <a:rPr lang="en-US" altLang="ko-KR" sz="1400" b="1" i="0">
                <a:solidFill>
                  <a:schemeClr val="bg1"/>
                </a:solidFill>
                <a:effectLst/>
              </a:rPr>
              <a:t>: </a:t>
            </a:r>
            <a:r>
              <a:rPr lang="ko-KR" altLang="en-US" sz="1400" b="1" i="0">
                <a:solidFill>
                  <a:schemeClr val="bg1"/>
                </a:solidFill>
                <a:effectLst/>
              </a:rPr>
              <a:t>완전한 자율 운영 루프의 완성</a:t>
            </a:r>
            <a:br>
              <a:rPr lang="en-US" altLang="ko-KR" sz="1400" b="1" i="0">
                <a:solidFill>
                  <a:schemeClr val="bg1"/>
                </a:solidFill>
                <a:effectLst/>
              </a:rPr>
            </a:br>
            <a:r>
              <a:rPr lang="ko-KR" altLang="en-US" sz="1200" b="0" i="0">
                <a:solidFill>
                  <a:srgbClr val="8B9DC3"/>
                </a:solidFill>
                <a:effectLst/>
              </a:rPr>
              <a:t>경쟁사들은 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SOAR(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행동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),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위협 탐지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(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관찰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)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등 단편적인 기능을 제공하지만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, Contexa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는 </a:t>
            </a:r>
            <a:r>
              <a:rPr lang="ko-KR" altLang="en-US" sz="1200" i="0">
                <a:solidFill>
                  <a:schemeClr val="bg1"/>
                </a:solidFill>
                <a:effectLst/>
              </a:rPr>
              <a:t>관찰</a:t>
            </a:r>
            <a:r>
              <a:rPr lang="en-US" altLang="ko-KR" sz="1200" i="0">
                <a:solidFill>
                  <a:schemeClr val="bg1"/>
                </a:solidFill>
                <a:effectLst/>
              </a:rPr>
              <a:t>-</a:t>
            </a:r>
            <a:r>
              <a:rPr lang="ko-KR" altLang="en-US" sz="1200" i="0">
                <a:solidFill>
                  <a:schemeClr val="bg1"/>
                </a:solidFill>
                <a:effectLst/>
              </a:rPr>
              <a:t>판단</a:t>
            </a:r>
            <a:r>
              <a:rPr lang="en-US" altLang="ko-KR" sz="1200" i="0">
                <a:solidFill>
                  <a:schemeClr val="bg1"/>
                </a:solidFill>
                <a:effectLst/>
              </a:rPr>
              <a:t>-</a:t>
            </a:r>
            <a:r>
              <a:rPr lang="ko-KR" altLang="en-US" sz="1200" i="0">
                <a:solidFill>
                  <a:schemeClr val="bg1"/>
                </a:solidFill>
                <a:effectLst/>
              </a:rPr>
              <a:t>결정</a:t>
            </a:r>
            <a:r>
              <a:rPr lang="en-US" altLang="ko-KR" sz="1200" i="0">
                <a:solidFill>
                  <a:schemeClr val="bg1"/>
                </a:solidFill>
                <a:effectLst/>
              </a:rPr>
              <a:t>-</a:t>
            </a:r>
            <a:r>
              <a:rPr lang="ko-KR" altLang="en-US" sz="1200" i="0">
                <a:solidFill>
                  <a:schemeClr val="bg1"/>
                </a:solidFill>
                <a:effectLst/>
              </a:rPr>
              <a:t>행동</a:t>
            </a:r>
            <a:r>
              <a:rPr lang="en-US" altLang="ko-KR" sz="1200" i="0">
                <a:solidFill>
                  <a:schemeClr val="bg1"/>
                </a:solidFill>
                <a:effectLst/>
              </a:rPr>
              <a:t>-</a:t>
            </a:r>
            <a:r>
              <a:rPr lang="ko-KR" altLang="en-US" sz="1200" i="0">
                <a:solidFill>
                  <a:schemeClr val="bg1"/>
                </a:solidFill>
                <a:effectLst/>
              </a:rPr>
              <a:t>학습</a:t>
            </a:r>
            <a:r>
              <a:rPr lang="en-US" altLang="ko-KR" sz="1200" i="0">
                <a:solidFill>
                  <a:schemeClr val="bg1"/>
                </a:solidFill>
                <a:effectLst/>
              </a:rPr>
              <a:t>(FeedbackLoopSystem)</a:t>
            </a:r>
            <a:r>
              <a:rPr lang="ko-KR" altLang="en-US" sz="1200" i="0">
                <a:solidFill>
                  <a:schemeClr val="bg1"/>
                </a:solidFill>
                <a:effectLst/>
              </a:rPr>
              <a:t>으로 이어지는 완전한 폐쇄 루프</a:t>
            </a:r>
            <a:r>
              <a:rPr lang="en-US" altLang="ko-KR" sz="1200" i="0">
                <a:solidFill>
                  <a:schemeClr val="bg1"/>
                </a:solidFill>
                <a:effectLst/>
              </a:rPr>
              <a:t>(Closed-loop)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를 구현한 유일한 자율 보안 </a:t>
            </a:r>
            <a:r>
              <a:rPr lang="ko-KR" altLang="en-US" sz="1200">
                <a:solidFill>
                  <a:srgbClr val="8B9DC3"/>
                </a:solidFill>
              </a:rPr>
              <a:t>플랫폼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입니다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.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이는 시스템이 인간의 개입 없이 스스로 진화함을 의미하며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,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경쟁사가 단기간에 모방할 수 없는 근본적인 아키텍처의 차이입니다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.</a:t>
            </a:r>
            <a:endParaRPr lang="ko-KR" altLang="en-US" sz="120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2E3AC56-61FD-2CEF-CBCC-A2C2301CD1B4}"/>
              </a:ext>
            </a:extLst>
          </p:cNvPr>
          <p:cNvSpPr/>
          <p:nvPr/>
        </p:nvSpPr>
        <p:spPr>
          <a:xfrm>
            <a:off x="303458" y="2063840"/>
            <a:ext cx="5688558" cy="951226"/>
          </a:xfrm>
          <a:prstGeom prst="roundRect">
            <a:avLst>
              <a:gd name="adj" fmla="val 4639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CAD358-4DA8-45E0-F48D-0BF7BBCFAE14}"/>
              </a:ext>
            </a:extLst>
          </p:cNvPr>
          <p:cNvSpPr/>
          <p:nvPr/>
        </p:nvSpPr>
        <p:spPr>
          <a:xfrm>
            <a:off x="303456" y="2060601"/>
            <a:ext cx="5688558" cy="3885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19724D-0CCF-3DC9-8F20-F1CAFA45F344}"/>
              </a:ext>
            </a:extLst>
          </p:cNvPr>
          <p:cNvSpPr txBox="1"/>
          <p:nvPr/>
        </p:nvSpPr>
        <p:spPr>
          <a:xfrm>
            <a:off x="299626" y="2053782"/>
            <a:ext cx="5626390" cy="85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400" b="1" i="0">
                <a:solidFill>
                  <a:srgbClr val="00D4AA"/>
                </a:solidFill>
                <a:effectLst/>
              </a:rPr>
              <a:t>고객의 요구사항 ＂우리 로그인 시스템에 </a:t>
            </a:r>
            <a:r>
              <a:rPr lang="en-US" altLang="ko-KR" sz="1400" b="1" i="0">
                <a:solidFill>
                  <a:srgbClr val="00D4AA"/>
                </a:solidFill>
                <a:effectLst/>
              </a:rPr>
              <a:t>AI </a:t>
            </a:r>
            <a:r>
              <a:rPr lang="ko-KR" altLang="en-US" sz="1400" b="1" i="0">
                <a:solidFill>
                  <a:srgbClr val="00D4AA"/>
                </a:solidFill>
                <a:effectLst/>
              </a:rPr>
              <a:t>이상 징후 탐지 기능 넣어주세요 </a:t>
            </a:r>
            <a:r>
              <a:rPr lang="en-US" altLang="ko-KR" sz="1400" b="1" i="0">
                <a:solidFill>
                  <a:srgbClr val="00D4AA"/>
                </a:solidFill>
                <a:effectLst/>
              </a:rPr>
              <a:t>"</a:t>
            </a:r>
          </a:p>
          <a:p>
            <a:pPr>
              <a:lnSpc>
                <a:spcPct val="150000"/>
              </a:lnSpc>
            </a:pPr>
            <a:r>
              <a:rPr lang="ko-KR" altLang="en-US" sz="1400" b="1">
                <a:solidFill>
                  <a:schemeClr val="bg1"/>
                </a:solidFill>
              </a:rPr>
              <a:t>개발자의 고뇌</a:t>
            </a:r>
            <a:r>
              <a:rPr lang="en-US" altLang="ko-KR" sz="1400" b="1">
                <a:solidFill>
                  <a:schemeClr val="bg1"/>
                </a:solidFill>
              </a:rPr>
              <a:t>: "AI </a:t>
            </a:r>
            <a:r>
              <a:rPr lang="ko-KR" altLang="en-US" sz="1400" b="1">
                <a:solidFill>
                  <a:schemeClr val="bg1"/>
                </a:solidFill>
              </a:rPr>
              <a:t>보안</a:t>
            </a:r>
            <a:r>
              <a:rPr lang="en-US" altLang="ko-KR" sz="1400" b="1">
                <a:solidFill>
                  <a:schemeClr val="bg1"/>
                </a:solidFill>
              </a:rPr>
              <a:t>, </a:t>
            </a:r>
            <a:r>
              <a:rPr lang="ko-KR" altLang="en-US" sz="1400" b="1">
                <a:solidFill>
                  <a:schemeClr val="bg1"/>
                </a:solidFill>
              </a:rPr>
              <a:t>어떻게 만들지</a:t>
            </a:r>
            <a:r>
              <a:rPr lang="en-US" altLang="ko-KR" sz="1400" b="1">
                <a:solidFill>
                  <a:schemeClr val="bg1"/>
                </a:solidFill>
              </a:rPr>
              <a:t>? LLM</a:t>
            </a:r>
            <a:r>
              <a:rPr lang="ko-KR" altLang="en-US" sz="1400" b="1">
                <a:solidFill>
                  <a:schemeClr val="bg1"/>
                </a:solidFill>
              </a:rPr>
              <a:t> 호출하면 되는줄 알았는데</a:t>
            </a:r>
            <a:r>
              <a:rPr lang="en-US" altLang="ko-KR" sz="1400" b="1">
                <a:solidFill>
                  <a:schemeClr val="bg1"/>
                </a:solidFill>
              </a:rPr>
              <a:t>.."  </a:t>
            </a:r>
            <a:endParaRPr lang="en-US" altLang="ko-KR" sz="1100" b="0" i="0">
              <a:solidFill>
                <a:srgbClr val="DDE4F0"/>
              </a:solidFill>
              <a:effectLst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6C3AA38-088A-EBEA-8915-6DEA7AC98904}"/>
              </a:ext>
            </a:extLst>
          </p:cNvPr>
          <p:cNvSpPr/>
          <p:nvPr/>
        </p:nvSpPr>
        <p:spPr>
          <a:xfrm>
            <a:off x="6616153" y="2053782"/>
            <a:ext cx="5445684" cy="961284"/>
          </a:xfrm>
          <a:prstGeom prst="rect">
            <a:avLst/>
          </a:prstGeom>
          <a:solidFill>
            <a:schemeClr val="tx1"/>
          </a:solidFill>
          <a:ln w="190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개발자의 현실</a:t>
            </a:r>
            <a:r>
              <a:rPr lang="en-US" altLang="ko-KR" sz="1200">
                <a:solidFill>
                  <a:srgbClr val="C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지식의 부재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참고할 레퍼런스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검증된 아키텍처 전무</a:t>
            </a: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기술의 장벽</a:t>
            </a:r>
            <a:r>
              <a:rPr lang="en-US" altLang="ko-KR" sz="1200">
                <a:solidFill>
                  <a:srgbClr val="C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모델의 환각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오탐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미탐 대응의 체계적 설계 및 구현의 장벽</a:t>
            </a:r>
          </a:p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rgbClr val="FF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신뢰의 위기</a:t>
            </a:r>
            <a:r>
              <a:rPr lang="en-US" altLang="ko-KR" sz="1200">
                <a:solidFill>
                  <a:srgbClr val="C0000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세계관을 모르는 개발자가 만든 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보안을 과연 신뢰할 수 있는가</a:t>
            </a:r>
            <a:r>
              <a:rPr lang="en-US" altLang="ko-KR" sz="1200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?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F9018FA-9510-E865-5A0C-8804D6CBE261}"/>
              </a:ext>
            </a:extLst>
          </p:cNvPr>
          <p:cNvSpPr/>
          <p:nvPr/>
        </p:nvSpPr>
        <p:spPr>
          <a:xfrm>
            <a:off x="550349" y="4093096"/>
            <a:ext cx="3340390" cy="23563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B21C61D-FE56-87A1-4C84-334560624D84}"/>
              </a:ext>
            </a:extLst>
          </p:cNvPr>
          <p:cNvSpPr/>
          <p:nvPr/>
        </p:nvSpPr>
        <p:spPr>
          <a:xfrm>
            <a:off x="550348" y="4093088"/>
            <a:ext cx="3340389" cy="451340"/>
          </a:xfrm>
          <a:prstGeom prst="rect">
            <a:avLst/>
          </a:prstGeom>
          <a:solidFill>
            <a:srgbClr val="0070C0"/>
          </a:solidFill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For Developers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개발자를 위한 개발 플랫폼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52FF6E-0BE3-7CE4-EF17-431AE581E2E3}"/>
              </a:ext>
            </a:extLst>
          </p:cNvPr>
          <p:cNvSpPr txBox="1"/>
          <p:nvPr/>
        </p:nvSpPr>
        <p:spPr>
          <a:xfrm>
            <a:off x="526903" y="4603041"/>
            <a:ext cx="3406077" cy="1731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i="0">
                <a:solidFill>
                  <a:schemeClr val="tx2">
                    <a:lumMod val="50000"/>
                  </a:schemeClr>
                </a:solidFill>
                <a:effectLst/>
              </a:rPr>
              <a:t>표준화된 </a:t>
            </a:r>
            <a:r>
              <a:rPr lang="en-US" altLang="ko-KR" sz="1200" b="1" i="0">
                <a:solidFill>
                  <a:schemeClr val="tx2">
                    <a:lumMod val="50000"/>
                  </a:schemeClr>
                </a:solidFill>
                <a:effectLst/>
              </a:rPr>
              <a:t>AI </a:t>
            </a:r>
            <a:r>
              <a:rPr lang="ko-KR" altLang="en-US" sz="1200" b="1" i="0">
                <a:solidFill>
                  <a:schemeClr val="tx2">
                    <a:lumMod val="50000"/>
                  </a:schemeClr>
                </a:solidFill>
                <a:effectLst/>
              </a:rPr>
              <a:t>보안 개발 플랫폼 제공</a:t>
            </a:r>
            <a:br>
              <a:rPr lang="en-US" altLang="ko-KR" sz="1200" b="1" i="0">
                <a:solidFill>
                  <a:schemeClr val="tx2">
                    <a:lumMod val="50000"/>
                  </a:schemeClr>
                </a:solidFill>
                <a:effectLst/>
              </a:rPr>
            </a:br>
            <a:br>
              <a:rPr lang="ko-KR" altLang="en-US" sz="1200" b="0" i="0">
                <a:solidFill>
                  <a:schemeClr val="tx2">
                    <a:lumMod val="50000"/>
                  </a:schemeClr>
                </a:solidFill>
                <a:effectLst/>
              </a:rPr>
            </a:b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AI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모델 선정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학습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&amp;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진화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, RAG,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제로트러스트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, API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연동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보안 로직 개발 등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Contexa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플랫폼의 고도로 추상화 된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DSL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및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AI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진단 표준 프로세스 사용으로 </a:t>
            </a:r>
            <a:br>
              <a:rPr lang="en-US" altLang="ko-KR" sz="1200">
                <a:solidFill>
                  <a:schemeClr val="tx2">
                    <a:lumMod val="50000"/>
                  </a:schemeClr>
                </a:solidFill>
              </a:rPr>
            </a:b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단 기간 내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AI 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보안 시스템 개발 가능</a:t>
            </a:r>
            <a:endParaRPr lang="ko-KR" altLang="en-US" sz="1200" i="0">
              <a:solidFill>
                <a:schemeClr val="tx2">
                  <a:lumMod val="50000"/>
                </a:schemeClr>
              </a:solidFill>
              <a:effectLst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54C0685-ACE5-CB90-BD31-0F53CF1FDAA9}"/>
              </a:ext>
            </a:extLst>
          </p:cNvPr>
          <p:cNvSpPr/>
          <p:nvPr/>
        </p:nvSpPr>
        <p:spPr>
          <a:xfrm>
            <a:off x="4541111" y="4093088"/>
            <a:ext cx="3340390" cy="23563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9009874E-4854-FDC4-23A4-D48C034D3272}"/>
              </a:ext>
            </a:extLst>
          </p:cNvPr>
          <p:cNvSpPr/>
          <p:nvPr/>
        </p:nvSpPr>
        <p:spPr>
          <a:xfrm>
            <a:off x="4541110" y="4093080"/>
            <a:ext cx="3340389" cy="45134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For Legacy Systems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비 침습적 진행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B63F40-4759-2B5F-91C3-4E971598CD22}"/>
              </a:ext>
            </a:extLst>
          </p:cNvPr>
          <p:cNvSpPr txBox="1"/>
          <p:nvPr/>
        </p:nvSpPr>
        <p:spPr>
          <a:xfrm>
            <a:off x="4523524" y="4603041"/>
            <a:ext cx="3463482" cy="1177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i="0">
                <a:solidFill>
                  <a:schemeClr val="tx2">
                    <a:lumMod val="50000"/>
                  </a:schemeClr>
                </a:solidFill>
                <a:effectLst/>
              </a:rPr>
              <a:t>점진적 전환 아키텍처 도입</a:t>
            </a:r>
            <a:br>
              <a:rPr lang="en-US" altLang="ko-KR" sz="1200" b="1" i="0">
                <a:solidFill>
                  <a:schemeClr val="tx2">
                    <a:lumMod val="50000"/>
                  </a:schemeClr>
                </a:solidFill>
                <a:effectLst/>
              </a:rPr>
            </a:br>
            <a:br>
              <a:rPr lang="ko-KR" altLang="en-US" sz="1200" b="0" i="0">
                <a:solidFill>
                  <a:schemeClr val="tx2">
                    <a:lumMod val="50000"/>
                  </a:schemeClr>
                </a:solidFill>
                <a:effectLst/>
              </a:rPr>
            </a:b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시스템 전체를 바꾸지 않고도 가장 중요한 부분부터 </a:t>
            </a:r>
            <a:endParaRPr lang="en-US" altLang="ko-KR" sz="1200">
              <a:solidFill>
                <a:schemeClr val="tx2">
                  <a:lumMod val="5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점진적으로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AI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보안을 적용할 수 있는 플러그인 기능</a:t>
            </a:r>
            <a:endParaRPr lang="ko-KR" altLang="en-US" sz="1200" i="0">
              <a:solidFill>
                <a:srgbClr val="C00000"/>
              </a:solidFill>
              <a:effectLst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BEF24E3-87C9-2301-9B3B-83D583C56878}"/>
              </a:ext>
            </a:extLst>
          </p:cNvPr>
          <p:cNvSpPr/>
          <p:nvPr/>
        </p:nvSpPr>
        <p:spPr>
          <a:xfrm>
            <a:off x="8541917" y="4093096"/>
            <a:ext cx="3340390" cy="235630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47413B5-EC27-E519-66A2-843911265964}"/>
              </a:ext>
            </a:extLst>
          </p:cNvPr>
          <p:cNvSpPr/>
          <p:nvPr/>
        </p:nvSpPr>
        <p:spPr>
          <a:xfrm>
            <a:off x="8541916" y="4093088"/>
            <a:ext cx="3340389" cy="451340"/>
          </a:xfrm>
          <a:prstGeom prst="rect">
            <a:avLst/>
          </a:prstGeom>
          <a:solidFill>
            <a:srgbClr val="FFC000"/>
          </a:solidFill>
          <a:ln>
            <a:solidFill>
              <a:schemeClr val="accent4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For the Ecosystem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생태계의 지속적 진화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140715-2952-45A5-CAFB-C4AAA38B50A8}"/>
              </a:ext>
            </a:extLst>
          </p:cNvPr>
          <p:cNvSpPr txBox="1"/>
          <p:nvPr/>
        </p:nvSpPr>
        <p:spPr>
          <a:xfrm>
            <a:off x="8518469" y="4603049"/>
            <a:ext cx="3463482" cy="1177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1" i="0">
                <a:solidFill>
                  <a:schemeClr val="tx2">
                    <a:lumMod val="50000"/>
                  </a:schemeClr>
                </a:solidFill>
                <a:effectLst/>
              </a:rPr>
              <a:t>자율 진화하는 </a:t>
            </a:r>
            <a:r>
              <a:rPr lang="en-US" altLang="ko-KR" sz="1200" b="1" i="0">
                <a:solidFill>
                  <a:schemeClr val="tx2">
                    <a:lumMod val="50000"/>
                  </a:schemeClr>
                </a:solidFill>
                <a:effectLst/>
              </a:rPr>
              <a:t>AI </a:t>
            </a:r>
            <a:r>
              <a:rPr lang="ko-KR" altLang="en-US" sz="1200" b="1" i="0">
                <a:solidFill>
                  <a:schemeClr val="tx2">
                    <a:lumMod val="50000"/>
                  </a:schemeClr>
                </a:solidFill>
                <a:effectLst/>
              </a:rPr>
              <a:t>두뇌 장착</a:t>
            </a:r>
            <a:br>
              <a:rPr lang="en-US" altLang="ko-KR" sz="1200" b="1" i="0">
                <a:solidFill>
                  <a:schemeClr val="tx2">
                    <a:lumMod val="50000"/>
                  </a:schemeClr>
                </a:solidFill>
                <a:effectLst/>
              </a:rPr>
            </a:br>
            <a:br>
              <a:rPr lang="ko-KR" altLang="en-US" sz="1200" b="0" i="0">
                <a:solidFill>
                  <a:schemeClr val="tx2">
                    <a:lumMod val="50000"/>
                  </a:schemeClr>
                </a:solidFill>
                <a:effectLst/>
              </a:rPr>
            </a:b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위협을 탐지하고 대응하며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, 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스스로 학습하고 진화하는 궁극의 보안 플랫폼</a:t>
            </a:r>
            <a:endParaRPr lang="ko-KR" altLang="en-US" sz="1200" i="0">
              <a:solidFill>
                <a:srgbClr val="C00000"/>
              </a:solidFill>
              <a:effectLst/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745AF3E9-BDD7-02F7-39BB-59665D4CDDCE}"/>
              </a:ext>
            </a:extLst>
          </p:cNvPr>
          <p:cNvSpPr/>
          <p:nvPr/>
        </p:nvSpPr>
        <p:spPr>
          <a:xfrm>
            <a:off x="6096000" y="2394287"/>
            <a:ext cx="395037" cy="329824"/>
          </a:xfrm>
          <a:prstGeom prst="rightArrow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04A12CFD-0DA0-AE31-5787-4E2990534D94}"/>
              </a:ext>
            </a:extLst>
          </p:cNvPr>
          <p:cNvCxnSpPr>
            <a:stCxn id="23" idx="2"/>
            <a:endCxn id="30" idx="0"/>
          </p:cNvCxnSpPr>
          <p:nvPr/>
        </p:nvCxnSpPr>
        <p:spPr>
          <a:xfrm rot="5400000">
            <a:off x="5240758" y="-5149"/>
            <a:ext cx="1078022" cy="7118452"/>
          </a:xfrm>
          <a:prstGeom prst="bentConnector3">
            <a:avLst/>
          </a:prstGeom>
          <a:ln w="1905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8CDFA6B9-EA41-0854-BD0C-CC7BE52B2268}"/>
              </a:ext>
            </a:extLst>
          </p:cNvPr>
          <p:cNvCxnSpPr>
            <a:stCxn id="23" idx="2"/>
            <a:endCxn id="37" idx="0"/>
          </p:cNvCxnSpPr>
          <p:nvPr/>
        </p:nvCxnSpPr>
        <p:spPr>
          <a:xfrm rot="5400000">
            <a:off x="7236143" y="1990228"/>
            <a:ext cx="1078014" cy="3127690"/>
          </a:xfrm>
          <a:prstGeom prst="bentConnector3">
            <a:avLst/>
          </a:prstGeom>
          <a:ln w="1905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6A131EA5-1196-3227-B410-5316DFD752E6}"/>
              </a:ext>
            </a:extLst>
          </p:cNvPr>
          <p:cNvCxnSpPr>
            <a:stCxn id="23" idx="2"/>
            <a:endCxn id="41" idx="0"/>
          </p:cNvCxnSpPr>
          <p:nvPr/>
        </p:nvCxnSpPr>
        <p:spPr>
          <a:xfrm rot="16200000" flipH="1">
            <a:off x="9236542" y="3117519"/>
            <a:ext cx="1078022" cy="873116"/>
          </a:xfrm>
          <a:prstGeom prst="bentConnector3">
            <a:avLst/>
          </a:prstGeom>
          <a:ln w="19050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417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FFAFD-6155-F806-E8A8-13DE39EF6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C434AE-5559-83F9-BCDD-EE941C52B96F}"/>
              </a:ext>
            </a:extLst>
          </p:cNvPr>
          <p:cNvSpPr txBox="1"/>
          <p:nvPr/>
        </p:nvSpPr>
        <p:spPr>
          <a:xfrm>
            <a:off x="197186" y="196018"/>
            <a:ext cx="4116906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시장 검증 및 커뮤니티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273C3A-3176-B292-A9DA-F9DA9D3467A6}"/>
              </a:ext>
            </a:extLst>
          </p:cNvPr>
          <p:cNvSpPr txBox="1"/>
          <p:nvPr/>
        </p:nvSpPr>
        <p:spPr>
          <a:xfrm>
            <a:off x="197187" y="773473"/>
            <a:ext cx="4749952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0" i="0">
                <a:solidFill>
                  <a:srgbClr val="8B9DC3"/>
                </a:solidFill>
                <a:effectLst/>
              </a:rPr>
              <a:t>검증된 커뮤니티와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독점적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GTM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채널을 통해 초기 피드백 확보</a:t>
            </a:r>
            <a:endParaRPr lang="ko-KR" altLang="en-US" sz="1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3E6F20C-7837-D89B-D249-B8ED63D548A2}"/>
              </a:ext>
            </a:extLst>
          </p:cNvPr>
          <p:cNvSpPr/>
          <p:nvPr/>
        </p:nvSpPr>
        <p:spPr>
          <a:xfrm>
            <a:off x="254084" y="1367677"/>
            <a:ext cx="11633116" cy="2284065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61803-D57B-1A9D-A752-A47D138E29C7}"/>
              </a:ext>
            </a:extLst>
          </p:cNvPr>
          <p:cNvSpPr txBox="1"/>
          <p:nvPr/>
        </p:nvSpPr>
        <p:spPr>
          <a:xfrm>
            <a:off x="254084" y="1344411"/>
            <a:ext cx="11586224" cy="136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400" b="1" i="0">
                <a:solidFill>
                  <a:srgbClr val="00D4AA"/>
                </a:solidFill>
                <a:effectLst/>
              </a:rPr>
              <a:t>검증된 커뮤니티 플라이휠</a:t>
            </a:r>
            <a:endParaRPr lang="en-US" altLang="ko-KR" sz="1400" b="1" i="0">
              <a:solidFill>
                <a:srgbClr val="00D4AA"/>
              </a:solidFill>
              <a:effectLst/>
            </a:endParaRPr>
          </a:p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ko-KR" altLang="en-US" sz="1200" i="0">
                <a:solidFill>
                  <a:srgbClr val="DDE4F0"/>
                </a:solidFill>
                <a:effectLst/>
              </a:rPr>
              <a:t>국내 최대 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IT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온라인 강의 사이트 인프런에서 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4,128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명의 </a:t>
            </a:r>
            <a:r>
              <a:rPr lang="ko-KR" altLang="en-US" sz="1200">
                <a:solidFill>
                  <a:srgbClr val="DDE4F0"/>
                </a:solidFill>
              </a:rPr>
              <a:t>수강생들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이 보안 기술 습득을 위해 평균 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52,000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원을 지불 하였으며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＇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보안 </a:t>
            </a:r>
            <a:r>
              <a:rPr lang="ko-KR" altLang="en-US" sz="1200">
                <a:solidFill>
                  <a:srgbClr val="DDE4F0"/>
                </a:solidFill>
              </a:rPr>
              <a:t>주제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＇</a:t>
            </a:r>
            <a:r>
              <a:rPr lang="ko-KR" altLang="en-US" sz="1200">
                <a:solidFill>
                  <a:srgbClr val="DDE4F0"/>
                </a:solidFill>
              </a:rPr>
              <a:t>는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 돈을 지불할 가치가 있는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명확하고 시급한 문제임을 증명하고 있습니다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.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또한 수강생들은 국내 유수 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IT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대기업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(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네이버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카카오 등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)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및 금융권 현직 개발자들이 포함된 고밀도 전문가 집단으로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이는 우리 플랫폼의 가장 강력한 초기 기술 검증자이자 전파자</a:t>
            </a:r>
            <a:r>
              <a:rPr lang="ko-KR" altLang="en-US" sz="1200">
                <a:solidFill>
                  <a:srgbClr val="DDE4F0"/>
                </a:solidFill>
              </a:rPr>
              <a:t>로 활용할 수 있습니다</a:t>
            </a:r>
            <a:r>
              <a:rPr lang="en-US" altLang="ko-KR" sz="1200">
                <a:solidFill>
                  <a:srgbClr val="DDE4F0"/>
                </a:solidFill>
              </a:rPr>
              <a:t>.</a:t>
            </a:r>
            <a:endParaRPr lang="ko-KR" altLang="en-US" sz="1200">
              <a:solidFill>
                <a:schemeClr val="bg1"/>
              </a:solidFill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958CAF41-AB16-EFE8-28AA-6D63DED6D2D8}"/>
              </a:ext>
            </a:extLst>
          </p:cNvPr>
          <p:cNvSpPr/>
          <p:nvPr/>
        </p:nvSpPr>
        <p:spPr>
          <a:xfrm>
            <a:off x="931985" y="2849251"/>
            <a:ext cx="2208871" cy="603209"/>
          </a:xfrm>
          <a:prstGeom prst="roundRect">
            <a:avLst>
              <a:gd name="adj" fmla="val 6818"/>
            </a:avLst>
          </a:prstGeom>
          <a:solidFill>
            <a:srgbClr val="1DD7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보안 강의 </a:t>
            </a:r>
            <a:r>
              <a:rPr lang="en-US" altLang="ko-KR" sz="1400" b="1">
                <a:solidFill>
                  <a:schemeClr val="tx1"/>
                </a:solidFill>
              </a:rPr>
              <a:t>(4</a:t>
            </a:r>
            <a:r>
              <a:rPr lang="ko-KR" altLang="en-US" sz="1400" b="1">
                <a:solidFill>
                  <a:schemeClr val="tx1"/>
                </a:solidFill>
              </a:rPr>
              <a:t>천</a:t>
            </a:r>
            <a:r>
              <a:rPr lang="en-US" altLang="ko-KR" sz="1400" b="1">
                <a:solidFill>
                  <a:schemeClr val="tx1"/>
                </a:solidFill>
              </a:rPr>
              <a:t>+ </a:t>
            </a:r>
            <a:r>
              <a:rPr lang="ko-KR" altLang="en-US" sz="1400" b="1">
                <a:solidFill>
                  <a:schemeClr val="tx1"/>
                </a:solidFill>
              </a:rPr>
              <a:t>잠재고객</a:t>
            </a:r>
            <a:r>
              <a:rPr lang="en-US" altLang="ko-KR" sz="1400" b="1">
                <a:solidFill>
                  <a:schemeClr val="tx1"/>
                </a:solidFill>
              </a:rPr>
              <a:t>)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5866B45-3B3E-ADBD-357C-2C062E4D2340}"/>
              </a:ext>
            </a:extLst>
          </p:cNvPr>
          <p:cNvSpPr/>
          <p:nvPr/>
        </p:nvSpPr>
        <p:spPr>
          <a:xfrm>
            <a:off x="3695217" y="2836923"/>
            <a:ext cx="1945942" cy="603209"/>
          </a:xfrm>
          <a:prstGeom prst="roundRect">
            <a:avLst>
              <a:gd name="adj" fmla="val 6818"/>
            </a:avLst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오픈 소스 </a:t>
            </a:r>
            <a:r>
              <a:rPr lang="en-US" altLang="ko-KR" sz="1400" b="1">
                <a:solidFill>
                  <a:schemeClr val="tx1"/>
                </a:solidFill>
              </a:rPr>
              <a:t>(</a:t>
            </a:r>
            <a:r>
              <a:rPr lang="ko-KR" altLang="en-US" sz="1400" b="1">
                <a:solidFill>
                  <a:schemeClr val="tx1"/>
                </a:solidFill>
              </a:rPr>
              <a:t>사용자 전환</a:t>
            </a:r>
            <a:r>
              <a:rPr lang="en-US" altLang="ko-KR" sz="1400" b="1">
                <a:solidFill>
                  <a:schemeClr val="tx1"/>
                </a:solidFill>
              </a:rPr>
              <a:t>)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07F20CC-7D26-D38A-11BF-86E69C2775E3}"/>
              </a:ext>
            </a:extLst>
          </p:cNvPr>
          <p:cNvSpPr/>
          <p:nvPr/>
        </p:nvSpPr>
        <p:spPr>
          <a:xfrm>
            <a:off x="6144024" y="2836923"/>
            <a:ext cx="1894446" cy="603209"/>
          </a:xfrm>
          <a:prstGeom prst="roundRect">
            <a:avLst>
              <a:gd name="adj" fmla="val 6818"/>
            </a:avLst>
          </a:prstGeom>
          <a:solidFill>
            <a:schemeClr val="accent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</a:rPr>
              <a:t>커뮤니티 </a:t>
            </a:r>
            <a:r>
              <a:rPr lang="en-US" altLang="ko-KR" sz="1400" b="1">
                <a:solidFill>
                  <a:schemeClr val="tx1"/>
                </a:solidFill>
              </a:rPr>
              <a:t>(</a:t>
            </a:r>
            <a:r>
              <a:rPr lang="ko-KR" altLang="en-US" sz="1400" b="1">
                <a:solidFill>
                  <a:schemeClr val="tx1"/>
                </a:solidFill>
              </a:rPr>
              <a:t>팬덤 형성</a:t>
            </a:r>
            <a:r>
              <a:rPr lang="en-US" altLang="ko-KR" sz="1400" b="1">
                <a:solidFill>
                  <a:schemeClr val="tx1"/>
                </a:solidFill>
              </a:rPr>
              <a:t>)</a:t>
            </a:r>
            <a:endParaRPr lang="ko-KR" altLang="en-US" sz="1400" b="1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ABF6D1B-5185-1C2A-B02E-D7897C7BA616}"/>
              </a:ext>
            </a:extLst>
          </p:cNvPr>
          <p:cNvSpPr/>
          <p:nvPr/>
        </p:nvSpPr>
        <p:spPr>
          <a:xfrm>
            <a:off x="8568272" y="2836923"/>
            <a:ext cx="2062612" cy="603209"/>
          </a:xfrm>
          <a:prstGeom prst="roundRect">
            <a:avLst>
              <a:gd name="adj" fmla="val 6818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>
                <a:solidFill>
                  <a:schemeClr val="bg1"/>
                </a:solidFill>
              </a:rPr>
              <a:t>Enterprise (</a:t>
            </a:r>
            <a:r>
              <a:rPr lang="ko-KR" altLang="en-US" sz="1400" b="1">
                <a:solidFill>
                  <a:schemeClr val="bg1"/>
                </a:solidFill>
              </a:rPr>
              <a:t>수익 창출</a:t>
            </a:r>
            <a:r>
              <a:rPr lang="en-US" altLang="ko-KR" sz="1400" b="1">
                <a:solidFill>
                  <a:schemeClr val="bg1"/>
                </a:solidFill>
              </a:rPr>
              <a:t>)</a:t>
            </a:r>
            <a:endParaRPr lang="ko-KR" altLang="en-US" sz="1400" b="1">
              <a:solidFill>
                <a:schemeClr val="bg1"/>
              </a:solidFill>
            </a:endParaRPr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91068ED9-1A8A-B3F2-8839-574F628BF00A}"/>
              </a:ext>
            </a:extLst>
          </p:cNvPr>
          <p:cNvSpPr/>
          <p:nvPr/>
        </p:nvSpPr>
        <p:spPr>
          <a:xfrm>
            <a:off x="3282992" y="2997626"/>
            <a:ext cx="275492" cy="287215"/>
          </a:xfrm>
          <a:prstGeom prst="rightArrow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오른쪽 42">
            <a:extLst>
              <a:ext uri="{FF2B5EF4-FFF2-40B4-BE49-F238E27FC236}">
                <a16:creationId xmlns:a16="http://schemas.microsoft.com/office/drawing/2014/main" id="{8F2D606D-0DCB-7309-2FD2-A2F2ACA9A7EC}"/>
              </a:ext>
            </a:extLst>
          </p:cNvPr>
          <p:cNvSpPr/>
          <p:nvPr/>
        </p:nvSpPr>
        <p:spPr>
          <a:xfrm>
            <a:off x="5731799" y="2997626"/>
            <a:ext cx="275492" cy="287215"/>
          </a:xfrm>
          <a:prstGeom prst="rightArrow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화살표: 오른쪽 43">
            <a:extLst>
              <a:ext uri="{FF2B5EF4-FFF2-40B4-BE49-F238E27FC236}">
                <a16:creationId xmlns:a16="http://schemas.microsoft.com/office/drawing/2014/main" id="{C6AA9BFE-E80C-ACCE-D4CD-67FA856E53AC}"/>
              </a:ext>
            </a:extLst>
          </p:cNvPr>
          <p:cNvSpPr/>
          <p:nvPr/>
        </p:nvSpPr>
        <p:spPr>
          <a:xfrm>
            <a:off x="8202140" y="2997626"/>
            <a:ext cx="275492" cy="287215"/>
          </a:xfrm>
          <a:prstGeom prst="rightArrow">
            <a:avLst/>
          </a:prstGeom>
          <a:solidFill>
            <a:schemeClr val="bg1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724100-A2A4-D598-1752-AE8244213DB9}"/>
              </a:ext>
            </a:extLst>
          </p:cNvPr>
          <p:cNvSpPr/>
          <p:nvPr/>
        </p:nvSpPr>
        <p:spPr>
          <a:xfrm>
            <a:off x="254081" y="4060462"/>
            <a:ext cx="1996751" cy="68047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독점적 </a:t>
            </a:r>
            <a:r>
              <a:rPr lang="en-US" altLang="ko-KR" sz="1600" b="1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GTM </a:t>
            </a:r>
            <a:r>
              <a:rPr lang="ko-KR" altLang="en-US" sz="1600" b="1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채널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3DB7D1D-BFE3-DA50-3581-1E1B62E2215A}"/>
              </a:ext>
            </a:extLst>
          </p:cNvPr>
          <p:cNvSpPr/>
          <p:nvPr/>
        </p:nvSpPr>
        <p:spPr>
          <a:xfrm>
            <a:off x="2250832" y="4060462"/>
            <a:ext cx="9636366" cy="680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기술 업데이트 소식을 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마케팅 비용 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'0＇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원 으로 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4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천여 명의 핵심 타겟에게 즉시 전파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가능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직접 매출 기여는 제한적이나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전환율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&lt;1%)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기술 피드백 및 브랜드 신뢰도 확보에 핵심 역할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2FFC44-6908-B59D-8654-DA00A75AFC96}"/>
              </a:ext>
            </a:extLst>
          </p:cNvPr>
          <p:cNvSpPr/>
          <p:nvPr/>
        </p:nvSpPr>
        <p:spPr>
          <a:xfrm>
            <a:off x="254081" y="4912151"/>
            <a:ext cx="1996751" cy="68047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초기 피드백 확보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8B44992-A517-0092-6A37-27C749C44A42}"/>
              </a:ext>
            </a:extLst>
          </p:cNvPr>
          <p:cNvSpPr/>
          <p:nvPr/>
        </p:nvSpPr>
        <p:spPr>
          <a:xfrm>
            <a:off x="2250832" y="4912151"/>
            <a:ext cx="9636366" cy="68047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상위 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1% 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수강생 으로 구성된 비공개 그룹을 통해 구체적 개선 피드백을 설계에 반영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주요 피드백 예시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: '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레거시 연동을 위한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Kafka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이벤트 수신 기능 추가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Cold Path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의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Layer-3 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모델 선택을 동적으로 변경할 수 있는 기능 추가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AF3C935-E71E-4A99-DF06-14B39BCD88F0}"/>
              </a:ext>
            </a:extLst>
          </p:cNvPr>
          <p:cNvSpPr/>
          <p:nvPr/>
        </p:nvSpPr>
        <p:spPr>
          <a:xfrm>
            <a:off x="254081" y="5766818"/>
            <a:ext cx="1996751" cy="8951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chemeClr val="bg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언페어 어드밴티지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BD10727-4C61-B788-47DC-983AB993E473}"/>
              </a:ext>
            </a:extLst>
          </p:cNvPr>
          <p:cNvSpPr/>
          <p:nvPr/>
        </p:nvSpPr>
        <p:spPr>
          <a:xfrm>
            <a:off x="2250832" y="5766818"/>
            <a:ext cx="9636366" cy="89516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4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천여명은 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초기 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Beta 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테스터 및 기술 검증자로 활용할 수 있는 독점적 채널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(Unfair Advantage)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입니다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 </a:t>
            </a:r>
            <a:b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이들은 현직 개발자들로서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우리 플랫폼의 아키텍처를 이해하고 기여할 수 있는 잠재적 커미터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(Committer)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집단입니다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 </a:t>
            </a:r>
            <a:b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이들의 피드백과 코드는 플랫폼의 품질과 완성도를 높이는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우리만의 독점적인 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집단 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R&amp;D 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센터</a:t>
            </a:r>
            <a:r>
              <a:rPr lang="en-US" altLang="ko-KR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 </a:t>
            </a:r>
            <a:r>
              <a:rPr lang="ko-KR" altLang="en-US" sz="1200">
                <a:solidFill>
                  <a:schemeClr val="tx1"/>
                </a:solidFill>
                <a:highlight>
                  <a:srgbClr val="FFFF00"/>
                </a:highlight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역할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을 할 것입니다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71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7BBFB-F612-796F-076F-7C8BA0AFB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8C6BFED-B39F-419A-8808-642822E88346}"/>
              </a:ext>
            </a:extLst>
          </p:cNvPr>
          <p:cNvSpPr/>
          <p:nvPr/>
        </p:nvSpPr>
        <p:spPr>
          <a:xfrm>
            <a:off x="8026400" y="1302908"/>
            <a:ext cx="4038586" cy="4728547"/>
          </a:xfrm>
          <a:prstGeom prst="roundRect">
            <a:avLst>
              <a:gd name="adj" fmla="val 4805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614ABC-C0A8-7908-34DA-367B9B8FC067}"/>
              </a:ext>
            </a:extLst>
          </p:cNvPr>
          <p:cNvSpPr txBox="1"/>
          <p:nvPr/>
        </p:nvSpPr>
        <p:spPr>
          <a:xfrm>
            <a:off x="197186" y="196018"/>
            <a:ext cx="2481537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제품 및 기술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F86EFC-73A0-1B8D-61CC-158CAA7F2D0F}"/>
              </a:ext>
            </a:extLst>
          </p:cNvPr>
          <p:cNvSpPr txBox="1"/>
          <p:nvPr/>
        </p:nvSpPr>
        <p:spPr>
          <a:xfrm>
            <a:off x="197187" y="773473"/>
            <a:ext cx="2780476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en-US" altLang="ko-KR" sz="1400" b="1">
                <a:solidFill>
                  <a:srgbClr val="00D4AA"/>
                </a:solidFill>
              </a:rPr>
              <a:t>Autonomous Security Platform</a:t>
            </a:r>
            <a:endParaRPr lang="en-US" altLang="ko-KR" sz="1400">
              <a:solidFill>
                <a:srgbClr val="00D4A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8DC3B3-EB00-D642-7805-B066D732CA81}"/>
              </a:ext>
            </a:extLst>
          </p:cNvPr>
          <p:cNvSpPr txBox="1"/>
          <p:nvPr/>
        </p:nvSpPr>
        <p:spPr>
          <a:xfrm>
            <a:off x="2878870" y="826545"/>
            <a:ext cx="733828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0" i="0">
                <a:solidFill>
                  <a:schemeClr val="bg1"/>
                </a:solidFill>
                <a:effectLst/>
              </a:rPr>
              <a:t>AI-Native OODA Loop 24/7 </a:t>
            </a:r>
            <a:r>
              <a:rPr lang="ko-KR" altLang="en-US" sz="1200" b="0" i="0">
                <a:solidFill>
                  <a:schemeClr val="bg1"/>
                </a:solidFill>
                <a:effectLst/>
              </a:rPr>
              <a:t>실행 </a:t>
            </a:r>
            <a:r>
              <a:rPr lang="en-US" altLang="ko-KR" sz="1200" b="0" i="0">
                <a:solidFill>
                  <a:schemeClr val="bg1"/>
                </a:solidFill>
                <a:effectLst/>
              </a:rPr>
              <a:t>:  </a:t>
            </a:r>
            <a:r>
              <a:rPr lang="ko-KR" altLang="en-US" sz="1200" b="0" i="0">
                <a:solidFill>
                  <a:schemeClr val="bg1"/>
                </a:solidFill>
                <a:effectLst/>
              </a:rPr>
              <a:t>관찰</a:t>
            </a:r>
            <a:r>
              <a:rPr lang="en-US" altLang="ko-KR" sz="1200" b="0" i="0">
                <a:solidFill>
                  <a:schemeClr val="bg1"/>
                </a:solidFill>
                <a:effectLst/>
              </a:rPr>
              <a:t>-</a:t>
            </a:r>
            <a:r>
              <a:rPr lang="ko-KR" altLang="en-US" sz="1200" b="0" i="0">
                <a:solidFill>
                  <a:schemeClr val="bg1"/>
                </a:solidFill>
                <a:effectLst/>
              </a:rPr>
              <a:t>판단</a:t>
            </a:r>
            <a:r>
              <a:rPr lang="en-US" altLang="ko-KR" sz="1200" b="0" i="0">
                <a:solidFill>
                  <a:schemeClr val="bg1"/>
                </a:solidFill>
                <a:effectLst/>
              </a:rPr>
              <a:t>-</a:t>
            </a:r>
            <a:r>
              <a:rPr lang="ko-KR" altLang="en-US" sz="1200" b="0" i="0">
                <a:solidFill>
                  <a:schemeClr val="bg1"/>
                </a:solidFill>
                <a:effectLst/>
              </a:rPr>
              <a:t>결정</a:t>
            </a:r>
            <a:r>
              <a:rPr lang="en-US" altLang="ko-KR" sz="1200" b="0" i="0">
                <a:solidFill>
                  <a:schemeClr val="bg1"/>
                </a:solidFill>
                <a:effectLst/>
              </a:rPr>
              <a:t>-</a:t>
            </a:r>
            <a:r>
              <a:rPr lang="ko-KR" altLang="en-US" sz="1200" b="0" i="0">
                <a:solidFill>
                  <a:schemeClr val="bg1"/>
                </a:solidFill>
                <a:effectLst/>
              </a:rPr>
              <a:t>행동</a:t>
            </a:r>
            <a:r>
              <a:rPr lang="en-US" altLang="ko-KR" sz="1200" b="0" i="0">
                <a:solidFill>
                  <a:schemeClr val="bg1"/>
                </a:solidFill>
                <a:effectLst/>
              </a:rPr>
              <a:t>-</a:t>
            </a:r>
            <a:r>
              <a:rPr lang="ko-KR" altLang="en-US" sz="1200" b="0" i="0">
                <a:solidFill>
                  <a:schemeClr val="bg1"/>
                </a:solidFill>
                <a:effectLst/>
              </a:rPr>
              <a:t>학습의 자율 보안 두뇌를 구현한 </a:t>
            </a:r>
            <a:r>
              <a:rPr lang="ko-KR" altLang="en-US" sz="1200">
                <a:solidFill>
                  <a:schemeClr val="bg1"/>
                </a:solidFill>
              </a:rPr>
              <a:t>보안 플랫폼</a:t>
            </a:r>
            <a:endParaRPr lang="ko-KR" altLang="en-US" sz="1200" b="0" i="0">
              <a:solidFill>
                <a:schemeClr val="bg1"/>
              </a:solidFill>
              <a:effectLst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9A92F1E-4D1C-B76D-4AF8-C090090D3385}"/>
              </a:ext>
            </a:extLst>
          </p:cNvPr>
          <p:cNvSpPr/>
          <p:nvPr/>
        </p:nvSpPr>
        <p:spPr>
          <a:xfrm>
            <a:off x="5055716" y="2754050"/>
            <a:ext cx="2309796" cy="9268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SecurityPlaneAgent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+mj-ea"/>
                <a:ea typeface="+mj-ea"/>
              </a:rPr>
              <a:t>24/7 </a:t>
            </a:r>
            <a:r>
              <a:rPr lang="ko-KR" altLang="en-US" sz="1200" b="1">
                <a:solidFill>
                  <a:schemeClr val="tx1"/>
                </a:solidFill>
                <a:latin typeface="+mj-ea"/>
                <a:ea typeface="+mj-ea"/>
              </a:rPr>
              <a:t>자율 보안 에이전트</a:t>
            </a: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C412F545-046E-813D-0B2D-DF1659990788}"/>
              </a:ext>
            </a:extLst>
          </p:cNvPr>
          <p:cNvCxnSpPr>
            <a:cxnSpLocks/>
            <a:stCxn id="6" idx="3"/>
            <a:endCxn id="31" idx="1"/>
          </p:cNvCxnSpPr>
          <p:nvPr/>
        </p:nvCxnSpPr>
        <p:spPr>
          <a:xfrm flipV="1">
            <a:off x="4561624" y="3217477"/>
            <a:ext cx="494092" cy="477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40755C9F-53E7-B191-F923-8DCB4901C257}"/>
              </a:ext>
            </a:extLst>
          </p:cNvPr>
          <p:cNvSpPr/>
          <p:nvPr/>
        </p:nvSpPr>
        <p:spPr>
          <a:xfrm>
            <a:off x="2857636" y="2758822"/>
            <a:ext cx="1703988" cy="926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HCAD</a:t>
            </a:r>
          </a:p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+mj-ea"/>
                <a:ea typeface="+mj-ea"/>
              </a:rPr>
              <a:t>요청 분석</a:t>
            </a:r>
            <a:r>
              <a:rPr lang="en-US" altLang="ko-KR" sz="1200" b="1">
                <a:solidFill>
                  <a:schemeClr val="tx1"/>
                </a:solidFill>
                <a:latin typeface="+mj-ea"/>
                <a:ea typeface="+mj-ea"/>
              </a:rPr>
              <a:t>&amp;</a:t>
            </a:r>
            <a:r>
              <a:rPr lang="ko-KR" altLang="en-US" sz="1200" b="1">
                <a:solidFill>
                  <a:schemeClr val="tx1"/>
                </a:solidFill>
                <a:latin typeface="+mj-ea"/>
                <a:ea typeface="+mj-ea"/>
              </a:rPr>
              <a:t>유사도 계산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C743FCB-56E7-6C12-0857-3CF9BA7B1596}"/>
              </a:ext>
            </a:extLst>
          </p:cNvPr>
          <p:cNvSpPr/>
          <p:nvPr/>
        </p:nvSpPr>
        <p:spPr>
          <a:xfrm>
            <a:off x="736116" y="2758822"/>
            <a:ext cx="1519859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Attack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공격자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D889A5D-164E-90E8-AF78-76AF0090081C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255975" y="3222249"/>
            <a:ext cx="601661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C3EF20-5B2C-34A0-FE8B-C7460F9572F9}"/>
              </a:ext>
            </a:extLst>
          </p:cNvPr>
          <p:cNvSpPr/>
          <p:nvPr/>
        </p:nvSpPr>
        <p:spPr>
          <a:xfrm>
            <a:off x="8189569" y="2754050"/>
            <a:ext cx="3706917" cy="926853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AutonomousLearningCoordinator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자율 학습 엔진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E41372-E56A-953B-BA2D-3D0EC21DD4F2}"/>
              </a:ext>
            </a:extLst>
          </p:cNvPr>
          <p:cNvSpPr/>
          <p:nvPr/>
        </p:nvSpPr>
        <p:spPr>
          <a:xfrm>
            <a:off x="5055716" y="1497115"/>
            <a:ext cx="2309793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Soar</a:t>
            </a: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기반 위험 대응 자동화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47FDB02-F567-B7E6-6C8B-BD25291C3ACF}"/>
              </a:ext>
            </a:extLst>
          </p:cNvPr>
          <p:cNvSpPr/>
          <p:nvPr/>
        </p:nvSpPr>
        <p:spPr>
          <a:xfrm>
            <a:off x="5055716" y="5285140"/>
            <a:ext cx="2309794" cy="926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Hot&amp;Cold Path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위협 점수 산정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1F7993-ED6C-8F7C-80B0-66EA100BC755}"/>
              </a:ext>
            </a:extLst>
          </p:cNvPr>
          <p:cNvSpPr/>
          <p:nvPr/>
        </p:nvSpPr>
        <p:spPr>
          <a:xfrm>
            <a:off x="5055716" y="4010985"/>
            <a:ext cx="2309795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Handler/Strategy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요청 분석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위협 대응 전략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72123940-C391-1360-2CB0-5C9BB8FF37D2}"/>
              </a:ext>
            </a:extLst>
          </p:cNvPr>
          <p:cNvSpPr/>
          <p:nvPr/>
        </p:nvSpPr>
        <p:spPr>
          <a:xfrm>
            <a:off x="7110362" y="5027580"/>
            <a:ext cx="667178" cy="667178"/>
          </a:xfrm>
          <a:prstGeom prst="ellipse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548D016-617C-E3AB-642C-24E69D7CC15B}"/>
              </a:ext>
            </a:extLst>
          </p:cNvPr>
          <p:cNvSpPr/>
          <p:nvPr/>
        </p:nvSpPr>
        <p:spPr>
          <a:xfrm>
            <a:off x="1398197" y="5285139"/>
            <a:ext cx="3166614" cy="926853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FeedbackLoopSystem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사용자 피드백과 실제 결과를 기반으로 모델 개선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B424D14-D722-DC4E-AA2C-2830E256A55F}"/>
              </a:ext>
            </a:extLst>
          </p:cNvPr>
          <p:cNvSpPr/>
          <p:nvPr/>
        </p:nvSpPr>
        <p:spPr>
          <a:xfrm>
            <a:off x="8459720" y="1496360"/>
            <a:ext cx="3166613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PolicyEvolutionEngine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정책 진화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DBB24A2-DD43-F9F1-C73D-2C91916E2041}"/>
              </a:ext>
            </a:extLst>
          </p:cNvPr>
          <p:cNvCxnSpPr>
            <a:cxnSpLocks/>
            <a:stCxn id="31" idx="3"/>
            <a:endCxn id="11" idx="1"/>
          </p:cNvCxnSpPr>
          <p:nvPr/>
        </p:nvCxnSpPr>
        <p:spPr>
          <a:xfrm>
            <a:off x="7365512" y="3217477"/>
            <a:ext cx="824057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826253D-DC70-7014-6BB0-3D2FB79E16BC}"/>
              </a:ext>
            </a:extLst>
          </p:cNvPr>
          <p:cNvCxnSpPr>
            <a:cxnSpLocks/>
            <a:stCxn id="31" idx="2"/>
            <a:endCxn id="20" idx="0"/>
          </p:cNvCxnSpPr>
          <p:nvPr/>
        </p:nvCxnSpPr>
        <p:spPr>
          <a:xfrm>
            <a:off x="6210614" y="3680903"/>
            <a:ext cx="0" cy="33008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0F5905B8-74CC-A9ED-22A4-B7F31C9E5512}"/>
              </a:ext>
            </a:extLst>
          </p:cNvPr>
          <p:cNvCxnSpPr>
            <a:cxnSpLocks/>
            <a:stCxn id="20" idx="2"/>
            <a:endCxn id="14" idx="0"/>
          </p:cNvCxnSpPr>
          <p:nvPr/>
        </p:nvCxnSpPr>
        <p:spPr>
          <a:xfrm flipH="1">
            <a:off x="6210613" y="4937838"/>
            <a:ext cx="1" cy="34730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025B501D-CEC2-4F6E-4970-6721E3FDD546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210613" y="2423968"/>
            <a:ext cx="0" cy="28797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56ED9BB8-0753-FD93-6871-4DB2159459E7}"/>
              </a:ext>
            </a:extLst>
          </p:cNvPr>
          <p:cNvCxnSpPr>
            <a:cxnSpLocks/>
            <a:stCxn id="11" idx="0"/>
            <a:endCxn id="26" idx="2"/>
          </p:cNvCxnSpPr>
          <p:nvPr/>
        </p:nvCxnSpPr>
        <p:spPr>
          <a:xfrm flipH="1" flipV="1">
            <a:off x="10043027" y="2423213"/>
            <a:ext cx="1" cy="330837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007D3940-35C3-8433-CD22-3743E0087382}"/>
              </a:ext>
            </a:extLst>
          </p:cNvPr>
          <p:cNvCxnSpPr>
            <a:cxnSpLocks/>
            <a:stCxn id="14" idx="1"/>
            <a:endCxn id="25" idx="3"/>
          </p:cNvCxnSpPr>
          <p:nvPr/>
        </p:nvCxnSpPr>
        <p:spPr>
          <a:xfrm flipH="1" flipV="1">
            <a:off x="4564811" y="5748566"/>
            <a:ext cx="490905" cy="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타원 76">
            <a:extLst>
              <a:ext uri="{FF2B5EF4-FFF2-40B4-BE49-F238E27FC236}">
                <a16:creationId xmlns:a16="http://schemas.microsoft.com/office/drawing/2014/main" id="{F4DEE93B-8776-1559-F45A-F1160F0000BA}"/>
              </a:ext>
            </a:extLst>
          </p:cNvPr>
          <p:cNvSpPr/>
          <p:nvPr/>
        </p:nvSpPr>
        <p:spPr>
          <a:xfrm>
            <a:off x="4561624" y="1302908"/>
            <a:ext cx="667178" cy="667178"/>
          </a:xfrm>
          <a:prstGeom prst="ellipse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AI</a:t>
            </a:r>
            <a:endParaRPr lang="ko-KR" altLang="en-US"/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94CD0FF2-EC2B-4E0E-D86D-0A61DD110EFF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3709630" y="3685675"/>
            <a:ext cx="0" cy="159469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7BD915EA-2513-0AF4-184E-607BBDD2D663}"/>
              </a:ext>
            </a:extLst>
          </p:cNvPr>
          <p:cNvSpPr/>
          <p:nvPr/>
        </p:nvSpPr>
        <p:spPr>
          <a:xfrm>
            <a:off x="8459720" y="4010985"/>
            <a:ext cx="3166613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AccessGovernanceLab</a:t>
            </a:r>
            <a:b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BehavioralAnalysisLab</a:t>
            </a:r>
            <a:b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endParaRPr lang="ko-KR" altLang="en-US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29DCAB3B-61E6-994A-0855-8D8C7A81CB1E}"/>
              </a:ext>
            </a:extLst>
          </p:cNvPr>
          <p:cNvCxnSpPr>
            <a:cxnSpLocks/>
            <a:stCxn id="11" idx="2"/>
            <a:endCxn id="81" idx="0"/>
          </p:cNvCxnSpPr>
          <p:nvPr/>
        </p:nvCxnSpPr>
        <p:spPr>
          <a:xfrm flipH="1">
            <a:off x="10043027" y="3680903"/>
            <a:ext cx="1" cy="33008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092EA770-6776-D93C-CF57-F311148C00A7}"/>
              </a:ext>
            </a:extLst>
          </p:cNvPr>
          <p:cNvSpPr txBox="1"/>
          <p:nvPr/>
        </p:nvSpPr>
        <p:spPr>
          <a:xfrm>
            <a:off x="9041564" y="4607756"/>
            <a:ext cx="200292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권한 탐지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,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행동패턴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..</a:t>
            </a:r>
            <a:endParaRPr lang="ko-KR" altLang="en-US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F79521D-5E63-01A8-B29D-0C43897E3618}"/>
              </a:ext>
            </a:extLst>
          </p:cNvPr>
          <p:cNvSpPr txBox="1"/>
          <p:nvPr/>
        </p:nvSpPr>
        <p:spPr>
          <a:xfrm>
            <a:off x="52757" y="6430130"/>
            <a:ext cx="67734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>
                <a:solidFill>
                  <a:srgbClr val="00D4AA"/>
                </a:solidFill>
                <a:effectLst/>
                <a:latin typeface="Pretendard"/>
              </a:rPr>
              <a:t>GitHub PoC Source Link: </a:t>
            </a:r>
            <a:r>
              <a:rPr lang="en-US" altLang="ko-KR" sz="1400">
                <a:solidFill>
                  <a:srgbClr val="00D4AA"/>
                </a:solidFill>
                <a:latin typeface="Pretendard"/>
                <a:hlinkClick r:id="rId2"/>
              </a:rPr>
              <a:t>https://github.com/onjsdnjs/ai3security/tree/0.3-agent-ai-brain/</a:t>
            </a:r>
            <a:endParaRPr lang="ko-KR" altLang="en-US" sz="140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6479DCB-F077-11CD-3D60-38BD526D02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4" y="5767829"/>
            <a:ext cx="615017" cy="6306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FF0828-F974-9D25-54A2-B56C19A061E3}"/>
              </a:ext>
            </a:extLst>
          </p:cNvPr>
          <p:cNvSpPr txBox="1"/>
          <p:nvPr/>
        </p:nvSpPr>
        <p:spPr>
          <a:xfrm>
            <a:off x="8189569" y="5262161"/>
            <a:ext cx="3837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i="0">
                <a:solidFill>
                  <a:schemeClr val="bg1"/>
                </a:solidFill>
                <a:effectLst/>
              </a:rPr>
              <a:t>Autonomous Evolution Engine</a:t>
            </a:r>
          </a:p>
          <a:p>
            <a:pPr algn="ctr"/>
            <a:r>
              <a:rPr lang="ko-KR" altLang="en-US" sz="1600">
                <a:solidFill>
                  <a:schemeClr val="bg1"/>
                </a:solidFill>
              </a:rPr>
              <a:t>자율 진화 엔진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38D719-532F-E3A0-E7BE-A05099D22931}"/>
              </a:ext>
            </a:extLst>
          </p:cNvPr>
          <p:cNvSpPr txBox="1"/>
          <p:nvPr/>
        </p:nvSpPr>
        <p:spPr>
          <a:xfrm>
            <a:off x="1025719" y="4367238"/>
            <a:ext cx="268391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i="0">
                <a:solidFill>
                  <a:schemeClr val="bg1">
                    <a:lumMod val="75000"/>
                  </a:schemeClr>
                </a:solidFill>
                <a:effectLst/>
              </a:rPr>
              <a:t>Cold-to-Hot Path Sync (</a:t>
            </a:r>
            <a:r>
              <a:rPr lang="ko-KR" altLang="en-US" sz="1200" b="0" i="0">
                <a:solidFill>
                  <a:schemeClr val="bg1">
                    <a:lumMod val="75000"/>
                  </a:schemeClr>
                </a:solidFill>
                <a:effectLst/>
              </a:rPr>
              <a:t>실시간 적응</a:t>
            </a:r>
            <a:r>
              <a:rPr lang="en-US" altLang="ko-KR" sz="1200" b="0" i="0">
                <a:solidFill>
                  <a:schemeClr val="bg1">
                    <a:lumMod val="75000"/>
                  </a:schemeClr>
                </a:solidFill>
                <a:effectLst/>
              </a:rPr>
              <a:t>)</a:t>
            </a:r>
            <a:endParaRPr lang="ko-KR" altLang="en-US" sz="120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43453C-C6BD-D7E2-58D0-75EA9B33E26C}"/>
              </a:ext>
            </a:extLst>
          </p:cNvPr>
          <p:cNvSpPr txBox="1"/>
          <p:nvPr/>
        </p:nvSpPr>
        <p:spPr>
          <a:xfrm>
            <a:off x="3709630" y="1999550"/>
            <a:ext cx="16395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chemeClr val="bg1"/>
                </a:solidFill>
                <a:effectLst/>
              </a:rPr>
              <a:t>AICore Pipeline </a:t>
            </a:r>
            <a:r>
              <a:rPr lang="ko-KR" altLang="en-US" sz="1100" b="0" i="0">
                <a:solidFill>
                  <a:schemeClr val="bg1"/>
                </a:solidFill>
                <a:effectLst/>
              </a:rPr>
              <a:t>호출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D174A6-0DB1-3800-67D5-77A39D9DD920}"/>
              </a:ext>
            </a:extLst>
          </p:cNvPr>
          <p:cNvSpPr txBox="1"/>
          <p:nvPr/>
        </p:nvSpPr>
        <p:spPr>
          <a:xfrm>
            <a:off x="6615864" y="6470503"/>
            <a:ext cx="25341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GitHub: Private (</a:t>
            </a:r>
            <a:r>
              <a:rPr lang="ko-KR" altLang="en-US" sz="1100" b="0" i="0">
                <a:solidFill>
                  <a:schemeClr val="bg1">
                    <a:lumMod val="65000"/>
                  </a:schemeClr>
                </a:solidFill>
                <a:effectLst/>
              </a:rPr>
              <a:t>접근 요청 시 권한 부여</a:t>
            </a:r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endParaRPr lang="ko-KR" altLang="en-US" sz="11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79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FAC3B-5FE4-5252-B893-64DC051A6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BFCEC6-E113-669E-23AF-C303D9C43FA8}"/>
              </a:ext>
            </a:extLst>
          </p:cNvPr>
          <p:cNvSpPr txBox="1"/>
          <p:nvPr/>
        </p:nvSpPr>
        <p:spPr>
          <a:xfrm>
            <a:off x="197186" y="196018"/>
            <a:ext cx="2481537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제품 및 기술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CF80C2-6DF4-EF53-2AFF-B978C418D57D}"/>
              </a:ext>
            </a:extLst>
          </p:cNvPr>
          <p:cNvSpPr txBox="1"/>
          <p:nvPr/>
        </p:nvSpPr>
        <p:spPr>
          <a:xfrm>
            <a:off x="197185" y="773473"/>
            <a:ext cx="9421243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ko-KR" altLang="en-US" sz="1400" b="1">
                <a:solidFill>
                  <a:srgbClr val="00D4AA"/>
                </a:solidFill>
              </a:rPr>
              <a:t>제품 및 기술</a:t>
            </a:r>
            <a:r>
              <a:rPr lang="en-US" altLang="ko-KR" sz="1400" b="1">
                <a:solidFill>
                  <a:srgbClr val="00D4AA"/>
                </a:solidFill>
              </a:rPr>
              <a:t>: </a:t>
            </a:r>
            <a:r>
              <a:rPr lang="ko-KR" altLang="en-US" sz="1400" b="1">
                <a:solidFill>
                  <a:srgbClr val="00D4AA"/>
                </a:solidFill>
              </a:rPr>
              <a:t>관찰</a:t>
            </a:r>
            <a:r>
              <a:rPr lang="en-US" altLang="ko-KR" sz="1400" b="1">
                <a:solidFill>
                  <a:srgbClr val="00D4AA"/>
                </a:solidFill>
              </a:rPr>
              <a:t>(Observe)</a:t>
            </a:r>
            <a:r>
              <a:rPr lang="ko-KR" altLang="en-US" sz="1400" b="1">
                <a:solidFill>
                  <a:srgbClr val="00D4AA"/>
                </a:solidFill>
              </a:rPr>
              <a:t>의 시작 </a:t>
            </a:r>
            <a:r>
              <a:rPr lang="en-US" altLang="ko-KR" sz="1400" b="1">
                <a:solidFill>
                  <a:srgbClr val="00D4AA"/>
                </a:solidFill>
              </a:rPr>
              <a:t>– AI Native Adaptive</a:t>
            </a:r>
            <a:r>
              <a:rPr lang="ko-KR" altLang="en-US" sz="1400" b="1">
                <a:solidFill>
                  <a:srgbClr val="00D4AA"/>
                </a:solidFill>
              </a:rPr>
              <a:t> </a:t>
            </a:r>
            <a:r>
              <a:rPr lang="en-US" altLang="ko-KR" sz="1400" b="1">
                <a:solidFill>
                  <a:srgbClr val="00D4AA"/>
                </a:solidFill>
              </a:rPr>
              <a:t>Authentication </a:t>
            </a:r>
            <a:br>
              <a:rPr lang="en-US" altLang="ko-KR" sz="1400" b="1">
                <a:solidFill>
                  <a:srgbClr val="00D4AA"/>
                </a:solidFill>
              </a:rPr>
            </a:br>
            <a:r>
              <a:rPr lang="ko-KR" altLang="en-US" sz="1200" b="1">
                <a:solidFill>
                  <a:schemeClr val="bg1"/>
                </a:solidFill>
              </a:rPr>
              <a:t>사용자의 실시간 위험도에 따라 </a:t>
            </a:r>
            <a:r>
              <a:rPr lang="en-US" altLang="ko-KR" sz="1200" b="1">
                <a:solidFill>
                  <a:schemeClr val="bg1"/>
                </a:solidFill>
              </a:rPr>
              <a:t>MFA </a:t>
            </a:r>
            <a:r>
              <a:rPr lang="ko-KR" altLang="en-US" sz="1200" b="1">
                <a:solidFill>
                  <a:schemeClr val="bg1"/>
                </a:solidFill>
              </a:rPr>
              <a:t>단계를 동적으로 조절하는 지능형 인증 시스템</a:t>
            </a:r>
            <a:endParaRPr lang="en-US" altLang="ko-KR" sz="1200" b="1">
              <a:solidFill>
                <a:schemeClr val="bg1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17ACA33-F3AB-463B-5E22-9F6F7272BF81}"/>
              </a:ext>
            </a:extLst>
          </p:cNvPr>
          <p:cNvSpPr/>
          <p:nvPr/>
        </p:nvSpPr>
        <p:spPr>
          <a:xfrm>
            <a:off x="2133243" y="3074864"/>
            <a:ext cx="1703988" cy="9268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AuthFilter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+mj-ea"/>
                <a:ea typeface="+mj-ea"/>
              </a:rPr>
              <a:t>인증 처리 필터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810D8FEB-5299-3F8A-AB65-AB7DD650443E}"/>
              </a:ext>
            </a:extLst>
          </p:cNvPr>
          <p:cNvSpPr/>
          <p:nvPr/>
        </p:nvSpPr>
        <p:spPr>
          <a:xfrm>
            <a:off x="310666" y="3074864"/>
            <a:ext cx="1519859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Login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로그인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B13A6A6-0A4F-B3E4-2E1A-D68DB22FE2AD}"/>
              </a:ext>
            </a:extLst>
          </p:cNvPr>
          <p:cNvSpPr/>
          <p:nvPr/>
        </p:nvSpPr>
        <p:spPr>
          <a:xfrm>
            <a:off x="6361839" y="1856078"/>
            <a:ext cx="3256594" cy="9268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ZeroTrustPolicyEvaluator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빠른 위협 점수 평가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(24/7)</a:t>
            </a:r>
            <a:endParaRPr lang="ko-KR" altLang="en-US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D22C1D4-C57A-E087-1696-0B5D6092CD9B}"/>
              </a:ext>
            </a:extLst>
          </p:cNvPr>
          <p:cNvSpPr/>
          <p:nvPr/>
        </p:nvSpPr>
        <p:spPr>
          <a:xfrm>
            <a:off x="6361839" y="4270201"/>
            <a:ext cx="3256590" cy="9268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AIAdaptivePolicyEvaluator</a:t>
            </a: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기반 동적 위협 점수 평가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(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실시간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  <a:endParaRPr lang="ko-KR" altLang="en-US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EBD4EF7-E46D-54BE-A987-5087ADDF3A36}"/>
              </a:ext>
            </a:extLst>
          </p:cNvPr>
          <p:cNvCxnSpPr>
            <a:cxnSpLocks/>
            <a:stCxn id="33" idx="3"/>
            <a:endCxn id="31" idx="1"/>
          </p:cNvCxnSpPr>
          <p:nvPr/>
        </p:nvCxnSpPr>
        <p:spPr>
          <a:xfrm>
            <a:off x="1830525" y="3538291"/>
            <a:ext cx="302718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A4D78D9-B9D5-7101-12E2-8AC5D69A50C6}"/>
              </a:ext>
            </a:extLst>
          </p:cNvPr>
          <p:cNvSpPr/>
          <p:nvPr/>
        </p:nvSpPr>
        <p:spPr>
          <a:xfrm>
            <a:off x="6361835" y="3074862"/>
            <a:ext cx="3256594" cy="926853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AIAdaptiveMfaPolicyProvider</a:t>
            </a: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적응형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MFA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정책 제공자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6326CAC-8EBD-52F2-E619-7CD004E627D2}"/>
              </a:ext>
            </a:extLst>
          </p:cNvPr>
          <p:cNvSpPr/>
          <p:nvPr/>
        </p:nvSpPr>
        <p:spPr>
          <a:xfrm>
            <a:off x="10324866" y="2109637"/>
            <a:ext cx="1410057" cy="468917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/>
              <a:t>위협점수 </a:t>
            </a:r>
            <a:r>
              <a:rPr lang="en-US" altLang="ko-KR" sz="1000"/>
              <a:t>&lt; 0.3</a:t>
            </a:r>
          </a:p>
          <a:p>
            <a:pPr algn="ctr">
              <a:lnSpc>
                <a:spcPct val="150000"/>
              </a:lnSpc>
            </a:pPr>
            <a:r>
              <a:rPr lang="en-US" altLang="ko-KR" sz="1000"/>
              <a:t>MFA </a:t>
            </a:r>
            <a:r>
              <a:rPr lang="ko-KR" altLang="en-US" sz="1000"/>
              <a:t>통과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3AE6D517-2A59-0447-D1DD-506ADA0EA577}"/>
              </a:ext>
            </a:extLst>
          </p:cNvPr>
          <p:cNvCxnSpPr>
            <a:cxnSpLocks/>
            <a:stCxn id="40" idx="2"/>
            <a:endCxn id="35" idx="0"/>
          </p:cNvCxnSpPr>
          <p:nvPr/>
        </p:nvCxnSpPr>
        <p:spPr>
          <a:xfrm>
            <a:off x="7990132" y="4001715"/>
            <a:ext cx="2" cy="268486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1666DA6E-AAE2-C1BD-66CB-C47FC9410C5F}"/>
              </a:ext>
            </a:extLst>
          </p:cNvPr>
          <p:cNvCxnSpPr>
            <a:cxnSpLocks/>
            <a:stCxn id="31" idx="3"/>
            <a:endCxn id="16" idx="1"/>
          </p:cNvCxnSpPr>
          <p:nvPr/>
        </p:nvCxnSpPr>
        <p:spPr>
          <a:xfrm flipV="1">
            <a:off x="3837231" y="3538289"/>
            <a:ext cx="328028" cy="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타원 76">
            <a:extLst>
              <a:ext uri="{FF2B5EF4-FFF2-40B4-BE49-F238E27FC236}">
                <a16:creationId xmlns:a16="http://schemas.microsoft.com/office/drawing/2014/main" id="{76D6C86B-8158-8794-2302-25AC17C04DE0}"/>
              </a:ext>
            </a:extLst>
          </p:cNvPr>
          <p:cNvSpPr/>
          <p:nvPr/>
        </p:nvSpPr>
        <p:spPr>
          <a:xfrm>
            <a:off x="7656545" y="5668748"/>
            <a:ext cx="667178" cy="667178"/>
          </a:xfrm>
          <a:prstGeom prst="ellipse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AI</a:t>
            </a:r>
            <a:endParaRPr lang="ko-KR" altLang="en-US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D56337FD-6BCA-7479-6237-A9B7D0673136}"/>
              </a:ext>
            </a:extLst>
          </p:cNvPr>
          <p:cNvCxnSpPr>
            <a:cxnSpLocks/>
            <a:stCxn id="35" idx="2"/>
            <a:endCxn id="77" idx="0"/>
          </p:cNvCxnSpPr>
          <p:nvPr/>
        </p:nvCxnSpPr>
        <p:spPr>
          <a:xfrm>
            <a:off x="7990134" y="5197054"/>
            <a:ext cx="0" cy="471694"/>
          </a:xfrm>
          <a:prstGeom prst="straightConnector1">
            <a:avLst/>
          </a:prstGeom>
          <a:ln w="190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967BA52-44CA-17F3-E5BE-9FFD17A16CF4}"/>
              </a:ext>
            </a:extLst>
          </p:cNvPr>
          <p:cNvSpPr txBox="1"/>
          <p:nvPr/>
        </p:nvSpPr>
        <p:spPr>
          <a:xfrm>
            <a:off x="52758" y="6430130"/>
            <a:ext cx="71510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>
                <a:solidFill>
                  <a:srgbClr val="00D4AA"/>
                </a:solidFill>
                <a:effectLst/>
                <a:latin typeface="Pretendard"/>
              </a:rPr>
              <a:t>GitHub PoC Source Link: </a:t>
            </a:r>
            <a:r>
              <a:rPr lang="en-US" altLang="ko-KR" sz="1400">
                <a:solidFill>
                  <a:srgbClr val="00D4AA"/>
                </a:solidFill>
                <a:latin typeface="Pretendard"/>
                <a:hlinkClick r:id="rId2"/>
              </a:rPr>
              <a:t>https://github.com/onjsdnjs/ai3security/tree/0.3-agent-ai-brain/aidc</a:t>
            </a:r>
            <a:endParaRPr lang="ko-KR" altLang="en-US" sz="14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773E987-D28A-82BE-55F1-751363B08D9C}"/>
              </a:ext>
            </a:extLst>
          </p:cNvPr>
          <p:cNvSpPr/>
          <p:nvPr/>
        </p:nvSpPr>
        <p:spPr>
          <a:xfrm>
            <a:off x="4165259" y="3074862"/>
            <a:ext cx="1798193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Authenticated</a:t>
            </a: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차 인증 성공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7E4FD2E-E350-F5B3-D980-184BDE66EE60}"/>
              </a:ext>
            </a:extLst>
          </p:cNvPr>
          <p:cNvCxnSpPr>
            <a:cxnSpLocks/>
          </p:cNvCxnSpPr>
          <p:nvPr/>
        </p:nvCxnSpPr>
        <p:spPr>
          <a:xfrm flipH="1">
            <a:off x="7990132" y="2794654"/>
            <a:ext cx="2" cy="280208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EBE20F43-9F69-10C0-28E4-347891CFC839}"/>
              </a:ext>
            </a:extLst>
          </p:cNvPr>
          <p:cNvCxnSpPr>
            <a:cxnSpLocks/>
            <a:stCxn id="16" idx="3"/>
            <a:endCxn id="40" idx="1"/>
          </p:cNvCxnSpPr>
          <p:nvPr/>
        </p:nvCxnSpPr>
        <p:spPr>
          <a:xfrm>
            <a:off x="5963452" y="3538289"/>
            <a:ext cx="398383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76EFE10-F635-9631-E307-3B38DC30BC44}"/>
              </a:ext>
            </a:extLst>
          </p:cNvPr>
          <p:cNvSpPr/>
          <p:nvPr/>
        </p:nvSpPr>
        <p:spPr>
          <a:xfrm>
            <a:off x="10324866" y="2896862"/>
            <a:ext cx="1410057" cy="468917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000"/>
              <a:t>0.3&lt;=</a:t>
            </a:r>
            <a:r>
              <a:rPr lang="ko-KR" altLang="en-US" sz="1000"/>
              <a:t>위협점수 </a:t>
            </a:r>
            <a:r>
              <a:rPr lang="en-US" altLang="ko-KR" sz="1000"/>
              <a:t>&lt; 0.7</a:t>
            </a:r>
          </a:p>
          <a:p>
            <a:pPr algn="ctr">
              <a:lnSpc>
                <a:spcPct val="150000"/>
              </a:lnSpc>
            </a:pPr>
            <a:r>
              <a:rPr lang="en-US" altLang="ko-KR" sz="1000"/>
              <a:t>2 </a:t>
            </a:r>
            <a:r>
              <a:rPr lang="ko-KR" altLang="en-US" sz="1000"/>
              <a:t>차 </a:t>
            </a:r>
            <a:r>
              <a:rPr lang="en-US" altLang="ko-KR" sz="1000"/>
              <a:t>MFA </a:t>
            </a:r>
            <a:endParaRPr lang="ko-KR" altLang="en-US" sz="100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56744CE-0004-F2E5-8BD3-DFE30BC674AD}"/>
              </a:ext>
            </a:extLst>
          </p:cNvPr>
          <p:cNvSpPr/>
          <p:nvPr/>
        </p:nvSpPr>
        <p:spPr>
          <a:xfrm>
            <a:off x="10324866" y="3684087"/>
            <a:ext cx="1410057" cy="468917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000"/>
              <a:t>0.7&lt;=</a:t>
            </a:r>
            <a:r>
              <a:rPr lang="ko-KR" altLang="en-US" sz="1000"/>
              <a:t>위협점수 </a:t>
            </a:r>
            <a:r>
              <a:rPr lang="en-US" altLang="ko-KR" sz="1000"/>
              <a:t>&lt; 0.9</a:t>
            </a:r>
          </a:p>
          <a:p>
            <a:pPr algn="ctr">
              <a:lnSpc>
                <a:spcPct val="150000"/>
              </a:lnSpc>
            </a:pPr>
            <a:r>
              <a:rPr lang="en-US" altLang="ko-KR" sz="1000"/>
              <a:t>3 </a:t>
            </a:r>
            <a:r>
              <a:rPr lang="ko-KR" altLang="en-US" sz="1000"/>
              <a:t>차 </a:t>
            </a:r>
            <a:r>
              <a:rPr lang="en-US" altLang="ko-KR" sz="1000"/>
              <a:t>MFA </a:t>
            </a:r>
            <a:endParaRPr lang="ko-KR" altLang="en-US" sz="1000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80AAC97-9E51-8E4C-576D-ADCCC435591B}"/>
              </a:ext>
            </a:extLst>
          </p:cNvPr>
          <p:cNvSpPr/>
          <p:nvPr/>
        </p:nvSpPr>
        <p:spPr>
          <a:xfrm>
            <a:off x="10324866" y="4471311"/>
            <a:ext cx="1410057" cy="468917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000"/>
              <a:t>위협점수 </a:t>
            </a:r>
            <a:r>
              <a:rPr lang="en-US" altLang="ko-KR" sz="1000"/>
              <a:t>&gt;= 0.9</a:t>
            </a:r>
          </a:p>
          <a:p>
            <a:pPr algn="ctr">
              <a:lnSpc>
                <a:spcPct val="150000"/>
              </a:lnSpc>
            </a:pPr>
            <a:r>
              <a:rPr lang="ko-KR" altLang="en-US" sz="1000"/>
              <a:t>요청 차단 </a:t>
            </a:r>
            <a:r>
              <a:rPr lang="en-US" altLang="ko-KR" sz="1000"/>
              <a:t>(BLOCK)</a:t>
            </a:r>
            <a:endParaRPr lang="ko-KR" altLang="en-US" sz="1000"/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6CC89C65-8941-37DD-10CC-476CD015DEE7}"/>
              </a:ext>
            </a:extLst>
          </p:cNvPr>
          <p:cNvCxnSpPr>
            <a:stCxn id="40" idx="3"/>
            <a:endCxn id="43" idx="1"/>
          </p:cNvCxnSpPr>
          <p:nvPr/>
        </p:nvCxnSpPr>
        <p:spPr>
          <a:xfrm flipV="1">
            <a:off x="9618429" y="2344096"/>
            <a:ext cx="706437" cy="1194193"/>
          </a:xfrm>
          <a:prstGeom prst="bentConnector3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4DFAA1E1-6DF0-2AEE-A215-37A6917A80C7}"/>
              </a:ext>
            </a:extLst>
          </p:cNvPr>
          <p:cNvCxnSpPr>
            <a:stCxn id="40" idx="3"/>
            <a:endCxn id="29" idx="1"/>
          </p:cNvCxnSpPr>
          <p:nvPr/>
        </p:nvCxnSpPr>
        <p:spPr>
          <a:xfrm flipV="1">
            <a:off x="9618429" y="3131321"/>
            <a:ext cx="706437" cy="406968"/>
          </a:xfrm>
          <a:prstGeom prst="bentConnector3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2D46720C-2241-FD24-58E0-AFA05F1BBD78}"/>
              </a:ext>
            </a:extLst>
          </p:cNvPr>
          <p:cNvCxnSpPr>
            <a:stCxn id="40" idx="3"/>
            <a:endCxn id="30" idx="1"/>
          </p:cNvCxnSpPr>
          <p:nvPr/>
        </p:nvCxnSpPr>
        <p:spPr>
          <a:xfrm>
            <a:off x="9618429" y="3538289"/>
            <a:ext cx="706437" cy="380257"/>
          </a:xfrm>
          <a:prstGeom prst="bentConnector3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7B20276A-3786-0E10-0C0D-BAFCA59F4024}"/>
              </a:ext>
            </a:extLst>
          </p:cNvPr>
          <p:cNvCxnSpPr>
            <a:stCxn id="40" idx="3"/>
            <a:endCxn id="32" idx="1"/>
          </p:cNvCxnSpPr>
          <p:nvPr/>
        </p:nvCxnSpPr>
        <p:spPr>
          <a:xfrm>
            <a:off x="9618429" y="3538289"/>
            <a:ext cx="706437" cy="1167481"/>
          </a:xfrm>
          <a:prstGeom prst="bentConnector3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그림 66">
            <a:extLst>
              <a:ext uri="{FF2B5EF4-FFF2-40B4-BE49-F238E27FC236}">
                <a16:creationId xmlns:a16="http://schemas.microsoft.com/office/drawing/2014/main" id="{7578883C-879A-C696-866C-D203E84AC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85" y="5633694"/>
            <a:ext cx="741166" cy="7624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1AE7A5-2268-2BBF-373F-2D4E142636A3}"/>
              </a:ext>
            </a:extLst>
          </p:cNvPr>
          <p:cNvSpPr txBox="1"/>
          <p:nvPr/>
        </p:nvSpPr>
        <p:spPr>
          <a:xfrm>
            <a:off x="8002710" y="5355001"/>
            <a:ext cx="16395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chemeClr val="bg1"/>
                </a:solidFill>
                <a:effectLst/>
              </a:rPr>
              <a:t>AICore Pipeline </a:t>
            </a:r>
            <a:r>
              <a:rPr lang="ko-KR" altLang="en-US" sz="1100" b="0" i="0">
                <a:solidFill>
                  <a:schemeClr val="bg1"/>
                </a:solidFill>
                <a:effectLst/>
              </a:rPr>
              <a:t>호출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E5EF5B-0C4E-82C1-C580-609D7292E199}"/>
              </a:ext>
            </a:extLst>
          </p:cNvPr>
          <p:cNvSpPr txBox="1"/>
          <p:nvPr/>
        </p:nvSpPr>
        <p:spPr>
          <a:xfrm>
            <a:off x="6952749" y="6474290"/>
            <a:ext cx="25341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GitHub: Private (</a:t>
            </a:r>
            <a:r>
              <a:rPr lang="ko-KR" altLang="en-US" sz="1100" b="0" i="0">
                <a:solidFill>
                  <a:schemeClr val="bg1">
                    <a:lumMod val="65000"/>
                  </a:schemeClr>
                </a:solidFill>
                <a:effectLst/>
              </a:rPr>
              <a:t>접근 요청 시 권한 부여</a:t>
            </a:r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endParaRPr lang="ko-KR" altLang="en-US" sz="11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810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2CC44-5335-5E58-6F95-BC3D50BF0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FE3285-0F1F-32B2-FDBD-5BB81C5C7C30}"/>
              </a:ext>
            </a:extLst>
          </p:cNvPr>
          <p:cNvSpPr txBox="1"/>
          <p:nvPr/>
        </p:nvSpPr>
        <p:spPr>
          <a:xfrm>
            <a:off x="197186" y="196018"/>
            <a:ext cx="2481537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제품 및 기술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AD7356-889A-7FFE-E70C-6A3614B7A616}"/>
              </a:ext>
            </a:extLst>
          </p:cNvPr>
          <p:cNvSpPr txBox="1"/>
          <p:nvPr/>
        </p:nvSpPr>
        <p:spPr>
          <a:xfrm>
            <a:off x="197186" y="773473"/>
            <a:ext cx="5809914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ko-KR" altLang="en-US" sz="1400" b="1">
                <a:solidFill>
                  <a:srgbClr val="00D4AA"/>
                </a:solidFill>
              </a:rPr>
              <a:t>제품 및 기술</a:t>
            </a:r>
            <a:r>
              <a:rPr lang="en-US" altLang="ko-KR" sz="1400" b="1">
                <a:solidFill>
                  <a:srgbClr val="00D4AA"/>
                </a:solidFill>
              </a:rPr>
              <a:t>: </a:t>
            </a:r>
            <a:r>
              <a:rPr lang="ko-KR" altLang="en-US" sz="1400" b="1">
                <a:solidFill>
                  <a:srgbClr val="00D4AA"/>
                </a:solidFill>
              </a:rPr>
              <a:t>판단</a:t>
            </a:r>
            <a:r>
              <a:rPr lang="en-US" altLang="ko-KR" sz="1400" b="1">
                <a:solidFill>
                  <a:srgbClr val="00D4AA"/>
                </a:solidFill>
              </a:rPr>
              <a:t>(Orient)</a:t>
            </a:r>
            <a:r>
              <a:rPr lang="ko-KR" altLang="en-US" sz="1400" b="1">
                <a:solidFill>
                  <a:srgbClr val="00D4AA"/>
                </a:solidFill>
              </a:rPr>
              <a:t>의 핵심 </a:t>
            </a:r>
            <a:r>
              <a:rPr lang="en-US" altLang="ko-KR" sz="1400" b="1">
                <a:solidFill>
                  <a:srgbClr val="00D4AA"/>
                </a:solidFill>
              </a:rPr>
              <a:t>- Reactive Core &amp; Zero Trust (HCAD)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B24499-2D5B-202E-BA0D-62A3F0DE0778}"/>
              </a:ext>
            </a:extLst>
          </p:cNvPr>
          <p:cNvSpPr txBox="1"/>
          <p:nvPr/>
        </p:nvSpPr>
        <p:spPr>
          <a:xfrm>
            <a:off x="197186" y="1123641"/>
            <a:ext cx="5911656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모든 요청의 맥락을 실시간으로 분석하여 정상으로 위장된 위협까지 탐지하는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AI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면역 시스템</a:t>
            </a:r>
            <a:endParaRPr lang="ko-KR" altLang="en-US" sz="1200" b="0" i="0">
              <a:solidFill>
                <a:srgbClr val="FF0000"/>
              </a:solidFill>
              <a:effectLst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7F7CA36-5B86-8899-F46A-1184303CEDF3}"/>
              </a:ext>
            </a:extLst>
          </p:cNvPr>
          <p:cNvSpPr/>
          <p:nvPr/>
        </p:nvSpPr>
        <p:spPr>
          <a:xfrm>
            <a:off x="2520112" y="2983518"/>
            <a:ext cx="1703988" cy="9268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HCAD</a:t>
            </a:r>
          </a:p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+mj-ea"/>
                <a:ea typeface="+mj-ea"/>
              </a:rPr>
              <a:t>요청 분석</a:t>
            </a:r>
            <a:r>
              <a:rPr lang="en-US" altLang="ko-KR" sz="1200" b="1">
                <a:solidFill>
                  <a:schemeClr val="tx1"/>
                </a:solidFill>
                <a:latin typeface="+mj-ea"/>
                <a:ea typeface="+mj-ea"/>
              </a:rPr>
              <a:t>&amp;</a:t>
            </a:r>
            <a:r>
              <a:rPr lang="ko-KR" altLang="en-US" sz="1200" b="1">
                <a:solidFill>
                  <a:schemeClr val="tx1"/>
                </a:solidFill>
                <a:latin typeface="+mj-ea"/>
                <a:ea typeface="+mj-ea"/>
              </a:rPr>
              <a:t>유사도 계산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6EDCAAF-7E20-AB9E-DBCE-46EB36007212}"/>
              </a:ext>
            </a:extLst>
          </p:cNvPr>
          <p:cNvSpPr/>
          <p:nvPr/>
        </p:nvSpPr>
        <p:spPr>
          <a:xfrm>
            <a:off x="310666" y="2983518"/>
            <a:ext cx="1519859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Attack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공격자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D722442-96FD-04A0-7D81-BDCB53CADC4F}"/>
              </a:ext>
            </a:extLst>
          </p:cNvPr>
          <p:cNvSpPr/>
          <p:nvPr/>
        </p:nvSpPr>
        <p:spPr>
          <a:xfrm>
            <a:off x="2432537" y="1811935"/>
            <a:ext cx="1893277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EventPublish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요청 이벤트 발행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E8B64EE-632A-1F55-37C9-1C031644121F}"/>
              </a:ext>
            </a:extLst>
          </p:cNvPr>
          <p:cNvSpPr/>
          <p:nvPr/>
        </p:nvSpPr>
        <p:spPr>
          <a:xfrm>
            <a:off x="2520112" y="4155826"/>
            <a:ext cx="1703988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Vector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학습 데이터</a:t>
            </a:r>
            <a:endParaRPr lang="ko-KR" altLang="en-US" sz="120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237870B2-8A1C-2809-0EB9-CCA04C330DDE}"/>
              </a:ext>
            </a:extLst>
          </p:cNvPr>
          <p:cNvCxnSpPr>
            <a:cxnSpLocks/>
            <a:stCxn id="33" idx="3"/>
            <a:endCxn id="31" idx="1"/>
          </p:cNvCxnSpPr>
          <p:nvPr/>
        </p:nvCxnSpPr>
        <p:spPr>
          <a:xfrm>
            <a:off x="1830525" y="3446945"/>
            <a:ext cx="689587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9702755-7B8B-54A4-9B9B-2596D43A0AFC}"/>
              </a:ext>
            </a:extLst>
          </p:cNvPr>
          <p:cNvSpPr/>
          <p:nvPr/>
        </p:nvSpPr>
        <p:spPr>
          <a:xfrm>
            <a:off x="7285945" y="1811934"/>
            <a:ext cx="1426196" cy="9268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HotPath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빠른 위협 점수 산정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15788526-078B-9005-E261-290211B1E1D7}"/>
              </a:ext>
            </a:extLst>
          </p:cNvPr>
          <p:cNvSpPr/>
          <p:nvPr/>
        </p:nvSpPr>
        <p:spPr>
          <a:xfrm>
            <a:off x="7285945" y="4155826"/>
            <a:ext cx="1426196" cy="926853"/>
          </a:xfrm>
          <a:prstGeom prst="rect">
            <a:avLst/>
          </a:prstGeom>
          <a:solidFill>
            <a:srgbClr val="1DD7B8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ColdPath</a:t>
            </a: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위협 점수 산정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491B0117-20F4-6C2A-2C8B-4C09AB77B9FF}"/>
              </a:ext>
            </a:extLst>
          </p:cNvPr>
          <p:cNvSpPr/>
          <p:nvPr/>
        </p:nvSpPr>
        <p:spPr>
          <a:xfrm>
            <a:off x="310666" y="5615611"/>
            <a:ext cx="1482619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RAG </a:t>
            </a:r>
            <a:r>
              <a:rPr lang="ko-KR" altLang="en-US" sz="1000"/>
              <a:t>기반 위협 사례 검색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90715DA0-F733-C8F1-8308-F3271EDC27D0}"/>
              </a:ext>
            </a:extLst>
          </p:cNvPr>
          <p:cNvSpPr/>
          <p:nvPr/>
        </p:nvSpPr>
        <p:spPr>
          <a:xfrm>
            <a:off x="1849144" y="5615611"/>
            <a:ext cx="1482619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기존 기준선 유사도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0D74762-F343-BF04-7685-A57EC5B06635}"/>
              </a:ext>
            </a:extLst>
          </p:cNvPr>
          <p:cNvSpPr/>
          <p:nvPr/>
        </p:nvSpPr>
        <p:spPr>
          <a:xfrm>
            <a:off x="3387622" y="5615611"/>
            <a:ext cx="1482619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다차원 이상도 분석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5C5473F-A022-B3EB-ABB1-B8723577E27F}"/>
              </a:ext>
            </a:extLst>
          </p:cNvPr>
          <p:cNvSpPr/>
          <p:nvPr/>
        </p:nvSpPr>
        <p:spPr>
          <a:xfrm>
            <a:off x="4924750" y="5615611"/>
            <a:ext cx="1482619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위협 상관관계 분석</a:t>
            </a: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FEB56EA9-4C3A-B8E5-0F74-4181EC60F24C}"/>
              </a:ext>
            </a:extLst>
          </p:cNvPr>
          <p:cNvCxnSpPr>
            <a:stCxn id="35" idx="2"/>
            <a:endCxn id="43" idx="0"/>
          </p:cNvCxnSpPr>
          <p:nvPr/>
        </p:nvCxnSpPr>
        <p:spPr>
          <a:xfrm rot="5400000">
            <a:off x="1945575" y="4189080"/>
            <a:ext cx="532932" cy="2320130"/>
          </a:xfrm>
          <a:prstGeom prst="bentConnector3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5F856232-C6B7-C73C-27E0-9F684CE7145D}"/>
              </a:ext>
            </a:extLst>
          </p:cNvPr>
          <p:cNvCxnSpPr>
            <a:stCxn id="35" idx="2"/>
            <a:endCxn id="46" idx="0"/>
          </p:cNvCxnSpPr>
          <p:nvPr/>
        </p:nvCxnSpPr>
        <p:spPr>
          <a:xfrm rot="16200000" flipH="1">
            <a:off x="4252617" y="4202168"/>
            <a:ext cx="532932" cy="2293954"/>
          </a:xfrm>
          <a:prstGeom prst="bentConnector3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C0D4A066-AA61-A772-C21C-91650734AABE}"/>
              </a:ext>
            </a:extLst>
          </p:cNvPr>
          <p:cNvCxnSpPr>
            <a:stCxn id="35" idx="2"/>
            <a:endCxn id="44" idx="0"/>
          </p:cNvCxnSpPr>
          <p:nvPr/>
        </p:nvCxnSpPr>
        <p:spPr>
          <a:xfrm rot="5400000">
            <a:off x="2714814" y="4958319"/>
            <a:ext cx="532932" cy="781652"/>
          </a:xfrm>
          <a:prstGeom prst="bentConnector3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D90BF480-A610-AACC-6E8E-F6ECD0338DB4}"/>
              </a:ext>
            </a:extLst>
          </p:cNvPr>
          <p:cNvCxnSpPr>
            <a:stCxn id="35" idx="2"/>
            <a:endCxn id="45" idx="0"/>
          </p:cNvCxnSpPr>
          <p:nvPr/>
        </p:nvCxnSpPr>
        <p:spPr>
          <a:xfrm rot="16200000" flipH="1">
            <a:off x="3484053" y="4970732"/>
            <a:ext cx="532932" cy="756826"/>
          </a:xfrm>
          <a:prstGeom prst="bentConnector3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2C55A345-A207-2C17-173B-52C9B533151C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>
            <a:off x="3372106" y="3910371"/>
            <a:ext cx="0" cy="245455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43015DC-D5B1-F1DD-1DC2-8306DF3D8860}"/>
              </a:ext>
            </a:extLst>
          </p:cNvPr>
          <p:cNvCxnSpPr>
            <a:cxnSpLocks/>
          </p:cNvCxnSpPr>
          <p:nvPr/>
        </p:nvCxnSpPr>
        <p:spPr>
          <a:xfrm>
            <a:off x="3367966" y="2738788"/>
            <a:ext cx="0" cy="245455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9DA81EA7-D41F-5E67-1815-E0F6C5CD49F7}"/>
              </a:ext>
            </a:extLst>
          </p:cNvPr>
          <p:cNvSpPr/>
          <p:nvPr/>
        </p:nvSpPr>
        <p:spPr>
          <a:xfrm>
            <a:off x="4650623" y="2983515"/>
            <a:ext cx="2084281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Handler/Strategy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이벤트 분석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위협 대응 전략</a:t>
            </a: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CEABB9FE-356E-D5F2-8BF1-F9C08C9093C7}"/>
              </a:ext>
            </a:extLst>
          </p:cNvPr>
          <p:cNvCxnSpPr>
            <a:cxnSpLocks/>
            <a:stCxn id="31" idx="3"/>
            <a:endCxn id="59" idx="1"/>
          </p:cNvCxnSpPr>
          <p:nvPr/>
        </p:nvCxnSpPr>
        <p:spPr>
          <a:xfrm flipV="1">
            <a:off x="4224100" y="3446942"/>
            <a:ext cx="426523" cy="3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A577B11-1BBF-D0F1-C67C-CA8DA37396BA}"/>
              </a:ext>
            </a:extLst>
          </p:cNvPr>
          <p:cNvSpPr/>
          <p:nvPr/>
        </p:nvSpPr>
        <p:spPr>
          <a:xfrm>
            <a:off x="10318729" y="2983516"/>
            <a:ext cx="1703988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Resource</a:t>
            </a:r>
          </a:p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위협 점수에 따른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접근 허용 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거부</a:t>
            </a: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EBDFE4D9-96F1-C567-3A99-38904B357CAC}"/>
              </a:ext>
            </a:extLst>
          </p:cNvPr>
          <p:cNvSpPr/>
          <p:nvPr/>
        </p:nvSpPr>
        <p:spPr>
          <a:xfrm>
            <a:off x="9160921" y="4285663"/>
            <a:ext cx="667178" cy="667178"/>
          </a:xfrm>
          <a:prstGeom prst="ellipse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AI</a:t>
            </a:r>
            <a:endParaRPr lang="ko-KR" altLang="en-US"/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F9639264-9A1D-1271-0808-314C2612723A}"/>
              </a:ext>
            </a:extLst>
          </p:cNvPr>
          <p:cNvCxnSpPr>
            <a:cxnSpLocks/>
            <a:stCxn id="42" idx="3"/>
            <a:endCxn id="77" idx="2"/>
          </p:cNvCxnSpPr>
          <p:nvPr/>
        </p:nvCxnSpPr>
        <p:spPr>
          <a:xfrm flipV="1">
            <a:off x="8712141" y="4619252"/>
            <a:ext cx="448780" cy="1"/>
          </a:xfrm>
          <a:prstGeom prst="straightConnector1">
            <a:avLst/>
          </a:prstGeom>
          <a:ln w="1905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68A16A-7EBA-63E3-90E5-2FC206CEDE66}"/>
              </a:ext>
            </a:extLst>
          </p:cNvPr>
          <p:cNvSpPr txBox="1"/>
          <p:nvPr/>
        </p:nvSpPr>
        <p:spPr>
          <a:xfrm>
            <a:off x="52758" y="6430130"/>
            <a:ext cx="71510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>
                <a:solidFill>
                  <a:srgbClr val="00D4AA"/>
                </a:solidFill>
                <a:effectLst/>
                <a:latin typeface="Pretendard"/>
              </a:rPr>
              <a:t>GitHub PoC Source Link: </a:t>
            </a:r>
            <a:r>
              <a:rPr lang="en-US" altLang="ko-KR" sz="1400">
                <a:solidFill>
                  <a:srgbClr val="00D4AA"/>
                </a:solidFill>
                <a:latin typeface="Pretendard"/>
                <a:hlinkClick r:id="rId2"/>
              </a:rPr>
              <a:t>https://github.com/onjsdnjs/ai3security/tree/0.3-agent-ai-brain/aiam</a:t>
            </a:r>
            <a:endParaRPr lang="ko-KR" altLang="en-US" sz="14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8388C47-1389-727B-FF36-B35CDDCD5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3832" y="5902817"/>
            <a:ext cx="764003" cy="778486"/>
          </a:xfrm>
          <a:prstGeom prst="rect">
            <a:avLst/>
          </a:prstGeom>
        </p:spPr>
      </p:pic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28C003E3-9149-6F62-A62E-DB5227E9943A}"/>
              </a:ext>
            </a:extLst>
          </p:cNvPr>
          <p:cNvCxnSpPr>
            <a:cxnSpLocks/>
            <a:stCxn id="59" idx="0"/>
            <a:endCxn id="41" idx="1"/>
          </p:cNvCxnSpPr>
          <p:nvPr/>
        </p:nvCxnSpPr>
        <p:spPr>
          <a:xfrm rot="5400000" flipH="1" flipV="1">
            <a:off x="6135277" y="1832848"/>
            <a:ext cx="708154" cy="1593181"/>
          </a:xfrm>
          <a:prstGeom prst="bentConnector2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EF5CD736-F957-C41B-FF50-31CD0828C67D}"/>
              </a:ext>
            </a:extLst>
          </p:cNvPr>
          <p:cNvCxnSpPr>
            <a:cxnSpLocks/>
            <a:stCxn id="59" idx="2"/>
            <a:endCxn id="42" idx="1"/>
          </p:cNvCxnSpPr>
          <p:nvPr/>
        </p:nvCxnSpPr>
        <p:spPr>
          <a:xfrm rot="16200000" flipH="1">
            <a:off x="6134912" y="3468219"/>
            <a:ext cx="708885" cy="1593181"/>
          </a:xfrm>
          <a:prstGeom prst="bentConnector2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685F5DE-D1DB-9D4F-B805-B39F6AC81780}"/>
              </a:ext>
            </a:extLst>
          </p:cNvPr>
          <p:cNvSpPr txBox="1"/>
          <p:nvPr/>
        </p:nvSpPr>
        <p:spPr>
          <a:xfrm>
            <a:off x="5619167" y="1921520"/>
            <a:ext cx="1684368" cy="32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1100" i="0">
                <a:solidFill>
                  <a:srgbClr val="DDE4F0"/>
                </a:solidFill>
                <a:effectLst/>
              </a:rPr>
              <a:t>위험점수가 낮은 요청</a:t>
            </a:r>
            <a:endParaRPr lang="ko-KR" altLang="en-US" sz="1100" i="0">
              <a:solidFill>
                <a:srgbClr val="FF0000"/>
              </a:solidFill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A55A01-6945-ACCF-114E-A92EFADACBDE}"/>
              </a:ext>
            </a:extLst>
          </p:cNvPr>
          <p:cNvSpPr txBox="1"/>
          <p:nvPr/>
        </p:nvSpPr>
        <p:spPr>
          <a:xfrm>
            <a:off x="5632849" y="4301497"/>
            <a:ext cx="1684368" cy="32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1100" i="0">
                <a:solidFill>
                  <a:srgbClr val="DDE4F0"/>
                </a:solidFill>
                <a:effectLst/>
              </a:rPr>
              <a:t>위험점수가 높은 요청</a:t>
            </a:r>
            <a:endParaRPr lang="ko-KR" altLang="en-US" sz="1100" i="0">
              <a:solidFill>
                <a:srgbClr val="FF0000"/>
              </a:solidFill>
              <a:effectLst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53021BF-0BDD-32A4-92B0-9F5362897937}"/>
              </a:ext>
            </a:extLst>
          </p:cNvPr>
          <p:cNvSpPr/>
          <p:nvPr/>
        </p:nvSpPr>
        <p:spPr>
          <a:xfrm>
            <a:off x="7285946" y="2983512"/>
            <a:ext cx="1426196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Redis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위협 점수 관리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7C5E362-9B1A-508F-95EB-28F3877330C9}"/>
              </a:ext>
            </a:extLst>
          </p:cNvPr>
          <p:cNvCxnSpPr>
            <a:cxnSpLocks/>
            <a:stCxn id="41" idx="2"/>
            <a:endCxn id="21" idx="0"/>
          </p:cNvCxnSpPr>
          <p:nvPr/>
        </p:nvCxnSpPr>
        <p:spPr>
          <a:xfrm>
            <a:off x="7999043" y="2738787"/>
            <a:ext cx="1" cy="244725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71195FF-B9AF-27EB-E0F7-658246A724C6}"/>
              </a:ext>
            </a:extLst>
          </p:cNvPr>
          <p:cNvCxnSpPr>
            <a:cxnSpLocks/>
            <a:stCxn id="21" idx="2"/>
            <a:endCxn id="42" idx="0"/>
          </p:cNvCxnSpPr>
          <p:nvPr/>
        </p:nvCxnSpPr>
        <p:spPr>
          <a:xfrm flipH="1">
            <a:off x="7999043" y="3910365"/>
            <a:ext cx="1" cy="245461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6EAB48EC-8BC7-A243-A972-C7D4A087DDF7}"/>
              </a:ext>
            </a:extLst>
          </p:cNvPr>
          <p:cNvCxnSpPr>
            <a:stCxn id="21" idx="3"/>
            <a:endCxn id="68" idx="1"/>
          </p:cNvCxnSpPr>
          <p:nvPr/>
        </p:nvCxnSpPr>
        <p:spPr>
          <a:xfrm>
            <a:off x="8712142" y="3446939"/>
            <a:ext cx="1606587" cy="4"/>
          </a:xfrm>
          <a:prstGeom prst="straightConnector1">
            <a:avLst/>
          </a:prstGeom>
          <a:ln w="12700">
            <a:solidFill>
              <a:schemeClr val="accent1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B00863C1-47A2-1AF2-F5F2-12F6B8183D86}"/>
              </a:ext>
            </a:extLst>
          </p:cNvPr>
          <p:cNvSpPr txBox="1"/>
          <p:nvPr/>
        </p:nvSpPr>
        <p:spPr>
          <a:xfrm>
            <a:off x="8673251" y="3077207"/>
            <a:ext cx="1684368" cy="32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ko-KR" altLang="en-US" sz="1100" i="0">
                <a:solidFill>
                  <a:srgbClr val="DDE4F0"/>
                </a:solidFill>
                <a:effectLst/>
              </a:rPr>
              <a:t>지속적 위험점수 업데이트</a:t>
            </a:r>
            <a:endParaRPr lang="ko-KR" altLang="en-US" sz="1100" i="0">
              <a:solidFill>
                <a:srgbClr val="FF0000"/>
              </a:solidFill>
              <a:effectLst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A17483-B3D1-1733-ED37-5903930D5A97}"/>
              </a:ext>
            </a:extLst>
          </p:cNvPr>
          <p:cNvSpPr txBox="1"/>
          <p:nvPr/>
        </p:nvSpPr>
        <p:spPr>
          <a:xfrm>
            <a:off x="8954117" y="3471628"/>
            <a:ext cx="10595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>
                <a:solidFill>
                  <a:srgbClr val="FFFF00"/>
                </a:solidFill>
              </a:rPr>
              <a:t>Zero Trust </a:t>
            </a:r>
            <a:endParaRPr lang="ko-KR" altLang="en-US" sz="1400">
              <a:solidFill>
                <a:srgbClr val="FFFF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D6B36AB-0068-0A58-167F-DD9822725235}"/>
              </a:ext>
            </a:extLst>
          </p:cNvPr>
          <p:cNvSpPr txBox="1"/>
          <p:nvPr/>
        </p:nvSpPr>
        <p:spPr>
          <a:xfrm>
            <a:off x="5647170" y="2248354"/>
            <a:ext cx="1684368" cy="32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1100" i="0">
                <a:solidFill>
                  <a:srgbClr val="DDE4F0"/>
                </a:solidFill>
                <a:effectLst/>
              </a:rPr>
              <a:t>&lt; 5ms, 98% </a:t>
            </a:r>
            <a:r>
              <a:rPr lang="ko-KR" altLang="en-US" sz="1100" i="0">
                <a:solidFill>
                  <a:srgbClr val="DDE4F0"/>
                </a:solidFill>
                <a:effectLst/>
              </a:rPr>
              <a:t>처리</a:t>
            </a:r>
            <a:endParaRPr lang="ko-KR" altLang="en-US" sz="1100" i="0">
              <a:solidFill>
                <a:srgbClr val="FF0000"/>
              </a:solidFill>
              <a:effectLst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203C7C5-C8A6-2642-E1FD-EEA80C941194}"/>
              </a:ext>
            </a:extLst>
          </p:cNvPr>
          <p:cNvSpPr txBox="1"/>
          <p:nvPr/>
        </p:nvSpPr>
        <p:spPr>
          <a:xfrm>
            <a:off x="5613305" y="4612049"/>
            <a:ext cx="1684368" cy="32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1100" i="0">
                <a:solidFill>
                  <a:srgbClr val="DDE4F0"/>
                </a:solidFill>
                <a:effectLst/>
              </a:rPr>
              <a:t>&lt; 50ms~</a:t>
            </a:r>
            <a:r>
              <a:rPr lang="ko-KR" altLang="en-US" sz="1100" i="0">
                <a:solidFill>
                  <a:srgbClr val="DDE4F0"/>
                </a:solidFill>
                <a:effectLst/>
              </a:rPr>
              <a:t>수초</a:t>
            </a:r>
            <a:r>
              <a:rPr lang="en-US" altLang="ko-KR" sz="1100" i="0">
                <a:solidFill>
                  <a:srgbClr val="DDE4F0"/>
                </a:solidFill>
                <a:effectLst/>
              </a:rPr>
              <a:t>, 2% </a:t>
            </a:r>
            <a:r>
              <a:rPr lang="ko-KR" altLang="en-US" sz="1100" i="0">
                <a:solidFill>
                  <a:srgbClr val="DDE4F0"/>
                </a:solidFill>
                <a:effectLst/>
              </a:rPr>
              <a:t>처리</a:t>
            </a:r>
            <a:endParaRPr lang="ko-KR" altLang="en-US" sz="1100" i="0">
              <a:solidFill>
                <a:srgbClr val="FF0000"/>
              </a:solidFill>
              <a:effectLst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1746219-0975-017F-AE81-0055F99AA986}"/>
              </a:ext>
            </a:extLst>
          </p:cNvPr>
          <p:cNvSpPr txBox="1"/>
          <p:nvPr/>
        </p:nvSpPr>
        <p:spPr>
          <a:xfrm>
            <a:off x="9828099" y="4464041"/>
            <a:ext cx="16395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chemeClr val="bg1"/>
                </a:solidFill>
                <a:effectLst/>
              </a:rPr>
              <a:t>AICore Pipeline </a:t>
            </a:r>
            <a:r>
              <a:rPr lang="ko-KR" altLang="en-US" sz="1100" b="0" i="0">
                <a:solidFill>
                  <a:schemeClr val="bg1"/>
                </a:solidFill>
                <a:effectLst/>
              </a:rPr>
              <a:t>호출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70C6B5-2C9B-A586-387A-4CBD5C521E94}"/>
              </a:ext>
            </a:extLst>
          </p:cNvPr>
          <p:cNvSpPr txBox="1"/>
          <p:nvPr/>
        </p:nvSpPr>
        <p:spPr>
          <a:xfrm>
            <a:off x="7999043" y="6454416"/>
            <a:ext cx="25341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GitHub: Private (</a:t>
            </a:r>
            <a:r>
              <a:rPr lang="ko-KR" altLang="en-US" sz="1100" b="0" i="0">
                <a:solidFill>
                  <a:schemeClr val="bg1">
                    <a:lumMod val="65000"/>
                  </a:schemeClr>
                </a:solidFill>
                <a:effectLst/>
              </a:rPr>
              <a:t>접근 요청 시 권한 부여</a:t>
            </a:r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endParaRPr lang="ko-KR" altLang="en-US" sz="11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405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C675F-1CB2-3FDF-CA2B-86067312F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0BB5A9D-63DB-14A1-6EDD-9A3D78CB112D}"/>
              </a:ext>
            </a:extLst>
          </p:cNvPr>
          <p:cNvSpPr txBox="1"/>
          <p:nvPr/>
        </p:nvSpPr>
        <p:spPr>
          <a:xfrm>
            <a:off x="197186" y="196018"/>
            <a:ext cx="2481537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제품 및 기술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1607FC-C7AA-38A9-FE92-8D0E7E3AFE2C}"/>
              </a:ext>
            </a:extLst>
          </p:cNvPr>
          <p:cNvSpPr txBox="1"/>
          <p:nvPr/>
        </p:nvSpPr>
        <p:spPr>
          <a:xfrm>
            <a:off x="197186" y="773473"/>
            <a:ext cx="5283352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ko-KR" altLang="en-US" sz="1400" b="1">
                <a:solidFill>
                  <a:srgbClr val="00D4AA"/>
                </a:solidFill>
              </a:rPr>
              <a:t>제품 및 기술</a:t>
            </a:r>
            <a:r>
              <a:rPr lang="en-US" altLang="ko-KR" sz="1400" b="1">
                <a:solidFill>
                  <a:srgbClr val="00D4AA"/>
                </a:solidFill>
              </a:rPr>
              <a:t>: </a:t>
            </a:r>
            <a:r>
              <a:rPr lang="ko-KR" altLang="en-US" sz="1400" b="1">
                <a:solidFill>
                  <a:srgbClr val="00D4AA"/>
                </a:solidFill>
              </a:rPr>
              <a:t>결정</a:t>
            </a:r>
            <a:r>
              <a:rPr lang="en-US" altLang="ko-KR" sz="1400" b="1">
                <a:solidFill>
                  <a:srgbClr val="00D4AA"/>
                </a:solidFill>
              </a:rPr>
              <a:t>(Decide)</a:t>
            </a:r>
            <a:r>
              <a:rPr lang="ko-KR" altLang="en-US" sz="1400" b="1">
                <a:solidFill>
                  <a:srgbClr val="00D4AA"/>
                </a:solidFill>
              </a:rPr>
              <a:t>과 행동</a:t>
            </a:r>
            <a:r>
              <a:rPr lang="en-US" altLang="ko-KR" sz="1400" b="1">
                <a:solidFill>
                  <a:srgbClr val="00D4AA"/>
                </a:solidFill>
              </a:rPr>
              <a:t>(Act) - Autonomous AI SOAR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F2BBD2-F424-A8C4-75EE-8A961ADFBC03}"/>
              </a:ext>
            </a:extLst>
          </p:cNvPr>
          <p:cNvSpPr txBox="1"/>
          <p:nvPr/>
        </p:nvSpPr>
        <p:spPr>
          <a:xfrm>
            <a:off x="181094" y="1155711"/>
            <a:ext cx="470906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altLang="ko-KR" sz="1200" b="0" i="0">
                <a:solidFill>
                  <a:srgbClr val="DDE4F0"/>
                </a:solidFill>
                <a:effectLst/>
              </a:rPr>
              <a:t>AI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가 대응 전략을 수립하고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인간이 최종 승인</a:t>
            </a:r>
            <a:r>
              <a:rPr lang="ko-KR" altLang="en-US" sz="1200">
                <a:solidFill>
                  <a:srgbClr val="DDE4F0"/>
                </a:solidFill>
              </a:rPr>
              <a:t>하는 </a:t>
            </a:r>
            <a:r>
              <a:rPr lang="ko-KR" altLang="en-US" sz="1200">
                <a:solidFill>
                  <a:schemeClr val="bg1"/>
                </a:solidFill>
              </a:rPr>
              <a:t>동적 </a:t>
            </a:r>
            <a:r>
              <a:rPr lang="en-US" altLang="ko-KR" sz="1200">
                <a:solidFill>
                  <a:schemeClr val="bg1"/>
                </a:solidFill>
              </a:rPr>
              <a:t>AI SOAR </a:t>
            </a:r>
            <a:r>
              <a:rPr lang="ko-KR" altLang="en-US" sz="1200">
                <a:solidFill>
                  <a:srgbClr val="DDE4F0"/>
                </a:solidFill>
              </a:rPr>
              <a:t>시스템</a:t>
            </a:r>
            <a:endParaRPr lang="ko-KR" altLang="en-US" sz="1200" b="0" i="0">
              <a:solidFill>
                <a:srgbClr val="DDE4F0"/>
              </a:solidFill>
              <a:effectLst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D300656-3815-6961-1F4D-1BD086E64C7B}"/>
              </a:ext>
            </a:extLst>
          </p:cNvPr>
          <p:cNvSpPr/>
          <p:nvPr/>
        </p:nvSpPr>
        <p:spPr>
          <a:xfrm>
            <a:off x="2520112" y="2983518"/>
            <a:ext cx="1703988" cy="9268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SoarManager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+mj-ea"/>
                <a:ea typeface="+mj-ea"/>
              </a:rPr>
              <a:t>Soar</a:t>
            </a:r>
            <a:r>
              <a:rPr lang="ko-KR" altLang="en-US" sz="1200" b="1">
                <a:solidFill>
                  <a:schemeClr val="tx1"/>
                </a:solidFill>
                <a:latin typeface="+mj-ea"/>
                <a:ea typeface="+mj-ea"/>
              </a:rPr>
              <a:t> 실행 관리자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D6E106-39A7-B471-C638-3AF095F39DA4}"/>
              </a:ext>
            </a:extLst>
          </p:cNvPr>
          <p:cNvSpPr/>
          <p:nvPr/>
        </p:nvSpPr>
        <p:spPr>
          <a:xfrm>
            <a:off x="310666" y="2983518"/>
            <a:ext cx="1519859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Playbook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공격 유형 자연 질의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59C959D-6B5C-50F4-9E34-5B18D99307AD}"/>
              </a:ext>
            </a:extLst>
          </p:cNvPr>
          <p:cNvSpPr/>
          <p:nvPr/>
        </p:nvSpPr>
        <p:spPr>
          <a:xfrm>
            <a:off x="2535628" y="1811935"/>
            <a:ext cx="1703988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MCP Client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도구 연결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62496B1-BEFF-A0A4-F40B-EABBF807BA50}"/>
              </a:ext>
            </a:extLst>
          </p:cNvPr>
          <p:cNvSpPr/>
          <p:nvPr/>
        </p:nvSpPr>
        <p:spPr>
          <a:xfrm>
            <a:off x="2520112" y="4155826"/>
            <a:ext cx="1703988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MCP Server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도구 서버</a:t>
            </a:r>
            <a:endParaRPr lang="ko-KR" altLang="en-US" sz="120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7886CB50-5FCA-814D-432C-7E3E05D31B28}"/>
              </a:ext>
            </a:extLst>
          </p:cNvPr>
          <p:cNvCxnSpPr>
            <a:cxnSpLocks/>
            <a:stCxn id="33" idx="3"/>
            <a:endCxn id="31" idx="1"/>
          </p:cNvCxnSpPr>
          <p:nvPr/>
        </p:nvCxnSpPr>
        <p:spPr>
          <a:xfrm>
            <a:off x="1830525" y="3446945"/>
            <a:ext cx="689587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5BABC48-8802-BE9B-FA06-0B55EE16D7CF}"/>
              </a:ext>
            </a:extLst>
          </p:cNvPr>
          <p:cNvSpPr/>
          <p:nvPr/>
        </p:nvSpPr>
        <p:spPr>
          <a:xfrm>
            <a:off x="310666" y="5615611"/>
            <a:ext cx="1482619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세션 파기 도구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D0966B8-8911-8CAC-DAD1-BD293A9C615B}"/>
              </a:ext>
            </a:extLst>
          </p:cNvPr>
          <p:cNvSpPr/>
          <p:nvPr/>
        </p:nvSpPr>
        <p:spPr>
          <a:xfrm>
            <a:off x="1849144" y="5615611"/>
            <a:ext cx="1482619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네트워크 차단 도구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78E85FC-7561-DAEA-B503-3D164DEB07E9}"/>
              </a:ext>
            </a:extLst>
          </p:cNvPr>
          <p:cNvSpPr/>
          <p:nvPr/>
        </p:nvSpPr>
        <p:spPr>
          <a:xfrm>
            <a:off x="3387622" y="5615611"/>
            <a:ext cx="1482619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/>
              <a:t>IP </a:t>
            </a:r>
            <a:r>
              <a:rPr lang="ko-KR" altLang="en-US" sz="1000"/>
              <a:t>차단 도구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81AA95B5-0B7C-1467-8DF8-C6FB2E23E5F2}"/>
              </a:ext>
            </a:extLst>
          </p:cNvPr>
          <p:cNvSpPr/>
          <p:nvPr/>
        </p:nvSpPr>
        <p:spPr>
          <a:xfrm>
            <a:off x="4924750" y="5615611"/>
            <a:ext cx="1482619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위협 대응 도구</a:t>
            </a: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17AC2BF0-5DF8-2A88-916D-6FFA7323A0FE}"/>
              </a:ext>
            </a:extLst>
          </p:cNvPr>
          <p:cNvCxnSpPr>
            <a:stCxn id="35" idx="2"/>
            <a:endCxn id="43" idx="0"/>
          </p:cNvCxnSpPr>
          <p:nvPr/>
        </p:nvCxnSpPr>
        <p:spPr>
          <a:xfrm rot="5400000">
            <a:off x="1945575" y="4189080"/>
            <a:ext cx="532932" cy="2320130"/>
          </a:xfrm>
          <a:prstGeom prst="bentConnector3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D617276B-97CD-8531-7DAD-A5A5C32B260A}"/>
              </a:ext>
            </a:extLst>
          </p:cNvPr>
          <p:cNvCxnSpPr>
            <a:stCxn id="35" idx="2"/>
            <a:endCxn id="46" idx="0"/>
          </p:cNvCxnSpPr>
          <p:nvPr/>
        </p:nvCxnSpPr>
        <p:spPr>
          <a:xfrm rot="16200000" flipH="1">
            <a:off x="4252617" y="4202168"/>
            <a:ext cx="532932" cy="2293954"/>
          </a:xfrm>
          <a:prstGeom prst="bentConnector3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7073EAB7-0549-2689-385C-43083DD9ADFE}"/>
              </a:ext>
            </a:extLst>
          </p:cNvPr>
          <p:cNvCxnSpPr>
            <a:stCxn id="35" idx="2"/>
            <a:endCxn id="44" idx="0"/>
          </p:cNvCxnSpPr>
          <p:nvPr/>
        </p:nvCxnSpPr>
        <p:spPr>
          <a:xfrm rot="5400000">
            <a:off x="2714814" y="4958319"/>
            <a:ext cx="532932" cy="781652"/>
          </a:xfrm>
          <a:prstGeom prst="bentConnector3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F6867CA0-F70C-4A5E-FF40-1BEA4F859BEC}"/>
              </a:ext>
            </a:extLst>
          </p:cNvPr>
          <p:cNvCxnSpPr>
            <a:stCxn id="35" idx="2"/>
            <a:endCxn id="45" idx="0"/>
          </p:cNvCxnSpPr>
          <p:nvPr/>
        </p:nvCxnSpPr>
        <p:spPr>
          <a:xfrm rot="16200000" flipH="1">
            <a:off x="3484053" y="4970732"/>
            <a:ext cx="532932" cy="756826"/>
          </a:xfrm>
          <a:prstGeom prst="bentConnector3">
            <a:avLst/>
          </a:prstGeom>
          <a:ln w="952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3B719E22-6CED-1F45-8300-BF2C53DDE937}"/>
              </a:ext>
            </a:extLst>
          </p:cNvPr>
          <p:cNvCxnSpPr>
            <a:cxnSpLocks/>
            <a:stCxn id="31" idx="2"/>
            <a:endCxn id="35" idx="0"/>
          </p:cNvCxnSpPr>
          <p:nvPr/>
        </p:nvCxnSpPr>
        <p:spPr>
          <a:xfrm>
            <a:off x="3372106" y="3910371"/>
            <a:ext cx="0" cy="245455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465576C-1DA1-D2EB-100F-EB3D8C85E491}"/>
              </a:ext>
            </a:extLst>
          </p:cNvPr>
          <p:cNvCxnSpPr>
            <a:cxnSpLocks/>
          </p:cNvCxnSpPr>
          <p:nvPr/>
        </p:nvCxnSpPr>
        <p:spPr>
          <a:xfrm>
            <a:off x="3367966" y="2738788"/>
            <a:ext cx="0" cy="245455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05B1C35-2EE8-55C7-4E92-61B9A2D184D5}"/>
              </a:ext>
            </a:extLst>
          </p:cNvPr>
          <p:cNvCxnSpPr>
            <a:cxnSpLocks/>
            <a:stCxn id="31" idx="3"/>
            <a:endCxn id="77" idx="2"/>
          </p:cNvCxnSpPr>
          <p:nvPr/>
        </p:nvCxnSpPr>
        <p:spPr>
          <a:xfrm flipV="1">
            <a:off x="4224100" y="3446944"/>
            <a:ext cx="1461752" cy="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타원 76">
            <a:extLst>
              <a:ext uri="{FF2B5EF4-FFF2-40B4-BE49-F238E27FC236}">
                <a16:creationId xmlns:a16="http://schemas.microsoft.com/office/drawing/2014/main" id="{B406E317-01CC-9AA7-3E36-CF25C96E99F3}"/>
              </a:ext>
            </a:extLst>
          </p:cNvPr>
          <p:cNvSpPr/>
          <p:nvPr/>
        </p:nvSpPr>
        <p:spPr>
          <a:xfrm>
            <a:off x="5685852" y="3113355"/>
            <a:ext cx="667178" cy="667178"/>
          </a:xfrm>
          <a:prstGeom prst="ellipse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AI</a:t>
            </a:r>
            <a:endParaRPr lang="ko-KR" altLang="en-US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82BC28C5-6EB9-1E3B-3D20-04625802B47A}"/>
              </a:ext>
            </a:extLst>
          </p:cNvPr>
          <p:cNvSpPr/>
          <p:nvPr/>
        </p:nvSpPr>
        <p:spPr>
          <a:xfrm>
            <a:off x="4471577" y="3071628"/>
            <a:ext cx="1008961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도구 목록 전달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F83CE3-655D-4959-07F7-F230D37AE1E7}"/>
              </a:ext>
            </a:extLst>
          </p:cNvPr>
          <p:cNvSpPr/>
          <p:nvPr/>
        </p:nvSpPr>
        <p:spPr>
          <a:xfrm>
            <a:off x="7485515" y="2983517"/>
            <a:ext cx="1703988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ToolManager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도구 실행 관리자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D6618AD-B025-3A7C-80AA-6946D265987F}"/>
              </a:ext>
            </a:extLst>
          </p:cNvPr>
          <p:cNvCxnSpPr>
            <a:cxnSpLocks/>
            <a:stCxn id="77" idx="6"/>
            <a:endCxn id="7" idx="1"/>
          </p:cNvCxnSpPr>
          <p:nvPr/>
        </p:nvCxnSpPr>
        <p:spPr>
          <a:xfrm>
            <a:off x="6353030" y="3446944"/>
            <a:ext cx="1132485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6AF5578-6CB8-9278-764D-B32EE9D7E8DD}"/>
              </a:ext>
            </a:extLst>
          </p:cNvPr>
          <p:cNvSpPr/>
          <p:nvPr/>
        </p:nvSpPr>
        <p:spPr>
          <a:xfrm>
            <a:off x="6481989" y="3090081"/>
            <a:ext cx="786324" cy="287206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도구 선택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5CC8094-BE56-C77E-90A1-506AD9F866EB}"/>
              </a:ext>
            </a:extLst>
          </p:cNvPr>
          <p:cNvSpPr/>
          <p:nvPr/>
        </p:nvSpPr>
        <p:spPr>
          <a:xfrm>
            <a:off x="9748072" y="2983517"/>
            <a:ext cx="1703988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WebSocket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인간 승인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거부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A79F730-B425-F958-5AC5-49F214622E1B}"/>
              </a:ext>
            </a:extLst>
          </p:cNvPr>
          <p:cNvCxnSpPr>
            <a:cxnSpLocks/>
            <a:stCxn id="7" idx="3"/>
            <a:endCxn id="16" idx="1"/>
          </p:cNvCxnSpPr>
          <p:nvPr/>
        </p:nvCxnSpPr>
        <p:spPr>
          <a:xfrm>
            <a:off x="9189503" y="3446944"/>
            <a:ext cx="558569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E40E8E7-4B57-A2BB-6D09-C831E65D4146}"/>
              </a:ext>
            </a:extLst>
          </p:cNvPr>
          <p:cNvSpPr/>
          <p:nvPr/>
        </p:nvSpPr>
        <p:spPr>
          <a:xfrm>
            <a:off x="9748072" y="1635363"/>
            <a:ext cx="1703988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Tool </a:t>
            </a:r>
            <a:r>
              <a:rPr lang="ko-KR" altLang="en-US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실행</a:t>
            </a:r>
            <a:endParaRPr lang="en-US" altLang="ko-KR" b="1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459C75B-E92F-7FFF-9C4D-F65009312E6F}"/>
              </a:ext>
            </a:extLst>
          </p:cNvPr>
          <p:cNvSpPr/>
          <p:nvPr/>
        </p:nvSpPr>
        <p:spPr>
          <a:xfrm>
            <a:off x="9748072" y="4373797"/>
            <a:ext cx="1703988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Tool </a:t>
            </a:r>
            <a:r>
              <a:rPr lang="ko-KR" altLang="en-US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취소</a:t>
            </a:r>
            <a:endParaRPr lang="en-US" altLang="ko-KR" b="1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39F8BA8D-04D1-2058-E139-1C14F5153867}"/>
              </a:ext>
            </a:extLst>
          </p:cNvPr>
          <p:cNvCxnSpPr>
            <a:cxnSpLocks/>
            <a:stCxn id="16" idx="0"/>
            <a:endCxn id="22" idx="2"/>
          </p:cNvCxnSpPr>
          <p:nvPr/>
        </p:nvCxnSpPr>
        <p:spPr>
          <a:xfrm flipV="1">
            <a:off x="10600066" y="2562216"/>
            <a:ext cx="0" cy="42130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AD47B60-13E3-E0D2-23A8-EC9A57D35134}"/>
              </a:ext>
            </a:extLst>
          </p:cNvPr>
          <p:cNvCxnSpPr>
            <a:cxnSpLocks/>
            <a:stCxn id="16" idx="2"/>
            <a:endCxn id="23" idx="0"/>
          </p:cNvCxnSpPr>
          <p:nvPr/>
        </p:nvCxnSpPr>
        <p:spPr>
          <a:xfrm>
            <a:off x="10600066" y="3910370"/>
            <a:ext cx="0" cy="463427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ABCA655-12A3-FB4D-E5D8-BF49F6EE5782}"/>
              </a:ext>
            </a:extLst>
          </p:cNvPr>
          <p:cNvSpPr txBox="1"/>
          <p:nvPr/>
        </p:nvSpPr>
        <p:spPr>
          <a:xfrm>
            <a:off x="10600066" y="2599741"/>
            <a:ext cx="30893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1200" b="0" i="0">
                <a:solidFill>
                  <a:srgbClr val="DDE4F0"/>
                </a:solidFill>
                <a:effectLst/>
              </a:rPr>
              <a:t>Y</a:t>
            </a:r>
            <a:endParaRPr lang="ko-KR" altLang="en-US" sz="1200" b="0" i="0">
              <a:solidFill>
                <a:srgbClr val="DDE4F0"/>
              </a:solidFill>
              <a:effectLst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71AD94-4BCB-8465-CC75-8C6F421C7E3B}"/>
              </a:ext>
            </a:extLst>
          </p:cNvPr>
          <p:cNvSpPr txBox="1"/>
          <p:nvPr/>
        </p:nvSpPr>
        <p:spPr>
          <a:xfrm>
            <a:off x="10600066" y="3947897"/>
            <a:ext cx="30893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altLang="ko-KR" sz="1200" b="0" i="0">
                <a:solidFill>
                  <a:srgbClr val="DDE4F0"/>
                </a:solidFill>
                <a:effectLst/>
              </a:rPr>
              <a:t>N</a:t>
            </a:r>
            <a:endParaRPr lang="ko-KR" altLang="en-US" sz="1200" b="0" i="0">
              <a:solidFill>
                <a:srgbClr val="DDE4F0"/>
              </a:solidFill>
              <a:effectLst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814896-5E81-4866-63DC-FCD8C17EC970}"/>
              </a:ext>
            </a:extLst>
          </p:cNvPr>
          <p:cNvSpPr txBox="1"/>
          <p:nvPr/>
        </p:nvSpPr>
        <p:spPr>
          <a:xfrm>
            <a:off x="52758" y="6430130"/>
            <a:ext cx="9876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>
                <a:solidFill>
                  <a:srgbClr val="00D4AA"/>
                </a:solidFill>
                <a:effectLst/>
                <a:latin typeface="Pretendard"/>
              </a:rPr>
              <a:t>GitHub PoC Source Link: </a:t>
            </a:r>
            <a:r>
              <a:rPr lang="en-US" altLang="ko-KR" sz="1400">
                <a:solidFill>
                  <a:srgbClr val="00D4AA"/>
                </a:solidFill>
                <a:latin typeface="Pretendard"/>
                <a:hlinkClick r:id="rId2"/>
              </a:rPr>
              <a:t>https://github.com/onjsdnjs/ai3security/tree/0.3-agent-ai-brain/aicore/src/main/java/io/spring/aicore/soar</a:t>
            </a:r>
            <a:endParaRPr lang="ko-KR" altLang="en-US" sz="1400"/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42908E65-C2B4-8C94-1605-81CDF9D97B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3016" y="5902817"/>
            <a:ext cx="767050" cy="7492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2DB8FE-8EC1-699F-1857-530142D51D8D}"/>
              </a:ext>
            </a:extLst>
          </p:cNvPr>
          <p:cNvSpPr txBox="1"/>
          <p:nvPr/>
        </p:nvSpPr>
        <p:spPr>
          <a:xfrm>
            <a:off x="5209412" y="3869061"/>
            <a:ext cx="163951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b="0" i="0">
                <a:solidFill>
                  <a:schemeClr val="bg1"/>
                </a:solidFill>
                <a:effectLst/>
              </a:rPr>
              <a:t>AICore Pipeline </a:t>
            </a:r>
            <a:r>
              <a:rPr lang="ko-KR" altLang="en-US" sz="1100" b="0" i="0">
                <a:solidFill>
                  <a:schemeClr val="bg1"/>
                </a:solidFill>
                <a:effectLst/>
              </a:rPr>
              <a:t>호출</a:t>
            </a:r>
            <a:endParaRPr lang="ko-KR" altLang="en-US" sz="110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C1AEEE-98C5-ABE6-A053-FBE851BC3EEB}"/>
              </a:ext>
            </a:extLst>
          </p:cNvPr>
          <p:cNvSpPr txBox="1"/>
          <p:nvPr/>
        </p:nvSpPr>
        <p:spPr>
          <a:xfrm>
            <a:off x="10600066" y="6264080"/>
            <a:ext cx="152488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GitHub: Private </a:t>
            </a:r>
          </a:p>
          <a:p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(</a:t>
            </a:r>
            <a:r>
              <a:rPr lang="ko-KR" altLang="en-US" sz="1100" b="0" i="0">
                <a:solidFill>
                  <a:schemeClr val="bg1">
                    <a:lumMod val="65000"/>
                  </a:schemeClr>
                </a:solidFill>
                <a:effectLst/>
              </a:rPr>
              <a:t>접근 요청 시 권한 부여</a:t>
            </a:r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endParaRPr lang="ko-KR" altLang="en-US" sz="11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3349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7BBFB-F612-796F-076F-7C8BA0AFB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614ABC-C0A8-7908-34DA-367B9B8FC067}"/>
              </a:ext>
            </a:extLst>
          </p:cNvPr>
          <p:cNvSpPr txBox="1"/>
          <p:nvPr/>
        </p:nvSpPr>
        <p:spPr>
          <a:xfrm>
            <a:off x="197186" y="196018"/>
            <a:ext cx="2481537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제품 및 기술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F86EFC-73A0-1B8D-61CC-158CAA7F2D0F}"/>
              </a:ext>
            </a:extLst>
          </p:cNvPr>
          <p:cNvSpPr txBox="1"/>
          <p:nvPr/>
        </p:nvSpPr>
        <p:spPr>
          <a:xfrm>
            <a:off x="197187" y="773473"/>
            <a:ext cx="2780476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en-US" altLang="ko-KR" sz="1400" b="1">
                <a:solidFill>
                  <a:srgbClr val="00D4AA"/>
                </a:solidFill>
              </a:rPr>
              <a:t>Autonomous Security Platform</a:t>
            </a:r>
            <a:endParaRPr lang="en-US" altLang="ko-KR" sz="1400">
              <a:solidFill>
                <a:srgbClr val="00D4AA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8DC3B3-EB00-D642-7805-B066D732CA81}"/>
              </a:ext>
            </a:extLst>
          </p:cNvPr>
          <p:cNvSpPr txBox="1"/>
          <p:nvPr/>
        </p:nvSpPr>
        <p:spPr>
          <a:xfrm>
            <a:off x="2878870" y="813845"/>
            <a:ext cx="6434259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인증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/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인가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/HCAD/SOAR/Learning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이 완벽하게 상호작용하며 자율적인 피드백 루프를 형성합니다</a:t>
            </a:r>
            <a:endParaRPr lang="ko-KR" altLang="en-US" sz="1200" b="0" i="0">
              <a:solidFill>
                <a:srgbClr val="FF0000"/>
              </a:solidFill>
              <a:effectLst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9A92F1E-4D1C-B76D-4AF8-C090090D3385}"/>
              </a:ext>
            </a:extLst>
          </p:cNvPr>
          <p:cNvSpPr/>
          <p:nvPr/>
        </p:nvSpPr>
        <p:spPr>
          <a:xfrm>
            <a:off x="4706466" y="3094528"/>
            <a:ext cx="2309796" cy="92685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SecurityPlaneAgent</a:t>
            </a:r>
          </a:p>
          <a:p>
            <a:pPr algn="ctr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+mj-ea"/>
                <a:ea typeface="+mj-ea"/>
              </a:rPr>
              <a:t>24/7 </a:t>
            </a:r>
            <a:r>
              <a:rPr lang="ko-KR" altLang="en-US" sz="1200" b="1">
                <a:solidFill>
                  <a:schemeClr val="tx1"/>
                </a:solidFill>
                <a:latin typeface="+mj-ea"/>
                <a:ea typeface="+mj-ea"/>
              </a:rPr>
              <a:t>자율 보안 에이전트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C3EF20-5B2C-34A0-FE8B-C7460F9572F9}"/>
              </a:ext>
            </a:extLst>
          </p:cNvPr>
          <p:cNvSpPr/>
          <p:nvPr/>
        </p:nvSpPr>
        <p:spPr>
          <a:xfrm>
            <a:off x="7840319" y="3094528"/>
            <a:ext cx="3706917" cy="926853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FeedbackLoopSystem</a:t>
            </a:r>
          </a:p>
          <a:p>
            <a:pPr algn="ctr"/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자율 학습 및 피드백 루프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BE41372-E56A-953B-BA2D-3D0EC21DD4F2}"/>
              </a:ext>
            </a:extLst>
          </p:cNvPr>
          <p:cNvSpPr/>
          <p:nvPr/>
        </p:nvSpPr>
        <p:spPr>
          <a:xfrm>
            <a:off x="3163100" y="1513437"/>
            <a:ext cx="2309793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Identity</a:t>
            </a: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인증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01F7993-ED6C-8F7C-80B0-66EA100BC755}"/>
              </a:ext>
            </a:extLst>
          </p:cNvPr>
          <p:cNvSpPr/>
          <p:nvPr/>
        </p:nvSpPr>
        <p:spPr>
          <a:xfrm>
            <a:off x="4706466" y="4351463"/>
            <a:ext cx="2309795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SOAR</a:t>
            </a: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위험 자동화 대응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548D016-617C-E3AB-642C-24E69D7CC15B}"/>
              </a:ext>
            </a:extLst>
          </p:cNvPr>
          <p:cNvSpPr/>
          <p:nvPr/>
        </p:nvSpPr>
        <p:spPr>
          <a:xfrm>
            <a:off x="699415" y="3099300"/>
            <a:ext cx="3166614" cy="926853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HCADFilter</a:t>
            </a:r>
          </a:p>
          <a:p>
            <a:pPr algn="ctr">
              <a:lnSpc>
                <a:spcPct val="150000"/>
              </a:lnSpc>
            </a:pP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모든</a:t>
            </a: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요청에 대한 다층적 분석과 유사도 산정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DBB24A2-DD43-F9F1-C73D-2C91916E2041}"/>
              </a:ext>
            </a:extLst>
          </p:cNvPr>
          <p:cNvCxnSpPr>
            <a:cxnSpLocks/>
            <a:stCxn id="31" idx="3"/>
            <a:endCxn id="11" idx="1"/>
          </p:cNvCxnSpPr>
          <p:nvPr/>
        </p:nvCxnSpPr>
        <p:spPr>
          <a:xfrm>
            <a:off x="7016262" y="3557955"/>
            <a:ext cx="824057" cy="0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826253D-DC70-7014-6BB0-3D2FB79E16BC}"/>
              </a:ext>
            </a:extLst>
          </p:cNvPr>
          <p:cNvCxnSpPr>
            <a:cxnSpLocks/>
            <a:stCxn id="31" idx="2"/>
            <a:endCxn id="20" idx="0"/>
          </p:cNvCxnSpPr>
          <p:nvPr/>
        </p:nvCxnSpPr>
        <p:spPr>
          <a:xfrm>
            <a:off x="5861364" y="4021381"/>
            <a:ext cx="0" cy="33008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007D3940-35C3-8433-CD22-3743E0087382}"/>
              </a:ext>
            </a:extLst>
          </p:cNvPr>
          <p:cNvCxnSpPr>
            <a:cxnSpLocks/>
            <a:stCxn id="31" idx="1"/>
            <a:endCxn id="25" idx="3"/>
          </p:cNvCxnSpPr>
          <p:nvPr/>
        </p:nvCxnSpPr>
        <p:spPr>
          <a:xfrm flipH="1">
            <a:off x="3866029" y="3557955"/>
            <a:ext cx="840437" cy="4772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97B8ADD0-F374-202A-F6DF-FB79201523F9}"/>
              </a:ext>
            </a:extLst>
          </p:cNvPr>
          <p:cNvSpPr txBox="1"/>
          <p:nvPr/>
        </p:nvSpPr>
        <p:spPr>
          <a:xfrm>
            <a:off x="52757" y="6430130"/>
            <a:ext cx="67734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>
                <a:solidFill>
                  <a:srgbClr val="00D4AA"/>
                </a:solidFill>
                <a:effectLst/>
                <a:latin typeface="Pretendard"/>
              </a:rPr>
              <a:t>GitHub PoC Source Link: </a:t>
            </a:r>
            <a:r>
              <a:rPr lang="en-US" altLang="ko-KR" sz="1400">
                <a:solidFill>
                  <a:srgbClr val="00D4AA"/>
                </a:solidFill>
                <a:latin typeface="Pretendard"/>
                <a:hlinkClick r:id="rId2"/>
              </a:rPr>
              <a:t>https://github.com/onjsdnjs/ai3security/tree/0.3-agent-ai-brain/</a:t>
            </a:r>
            <a:endParaRPr lang="ko-KR" altLang="en-US" sz="140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71F4F9A4-F05B-23E4-30A9-0BB9D4560C1A}"/>
              </a:ext>
            </a:extLst>
          </p:cNvPr>
          <p:cNvSpPr/>
          <p:nvPr/>
        </p:nvSpPr>
        <p:spPr>
          <a:xfrm>
            <a:off x="6211416" y="1513436"/>
            <a:ext cx="2309793" cy="92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IAM</a:t>
            </a:r>
          </a:p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인가</a:t>
            </a:r>
          </a:p>
        </p:txBody>
      </p:sp>
      <p:sp>
        <p:nvSpPr>
          <p:cNvPr id="94" name="화살표: 오른쪽 93">
            <a:extLst>
              <a:ext uri="{FF2B5EF4-FFF2-40B4-BE49-F238E27FC236}">
                <a16:creationId xmlns:a16="http://schemas.microsoft.com/office/drawing/2014/main" id="{37F8D953-B39A-61AE-DBB6-A7061F4D31FF}"/>
              </a:ext>
            </a:extLst>
          </p:cNvPr>
          <p:cNvSpPr/>
          <p:nvPr/>
        </p:nvSpPr>
        <p:spPr>
          <a:xfrm rot="16200000">
            <a:off x="5278658" y="2651878"/>
            <a:ext cx="388471" cy="26035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화살표: 오른쪽 94">
            <a:extLst>
              <a:ext uri="{FF2B5EF4-FFF2-40B4-BE49-F238E27FC236}">
                <a16:creationId xmlns:a16="http://schemas.microsoft.com/office/drawing/2014/main" id="{A669A936-9776-E27C-5F8D-3E039D48B93C}"/>
              </a:ext>
            </a:extLst>
          </p:cNvPr>
          <p:cNvSpPr/>
          <p:nvPr/>
        </p:nvSpPr>
        <p:spPr>
          <a:xfrm rot="5400000">
            <a:off x="6017181" y="2664577"/>
            <a:ext cx="388471" cy="260350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71D482B7-4753-D086-A5FD-532A0A385130}"/>
              </a:ext>
            </a:extLst>
          </p:cNvPr>
          <p:cNvCxnSpPr>
            <a:cxnSpLocks/>
            <a:stCxn id="13" idx="3"/>
            <a:endCxn id="93" idx="1"/>
          </p:cNvCxnSpPr>
          <p:nvPr/>
        </p:nvCxnSpPr>
        <p:spPr>
          <a:xfrm flipV="1">
            <a:off x="5472893" y="1976863"/>
            <a:ext cx="738523" cy="1"/>
          </a:xfrm>
          <a:prstGeom prst="straightConnector1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C281B82D-E636-4DF3-DA04-D25A729B5F46}"/>
              </a:ext>
            </a:extLst>
          </p:cNvPr>
          <p:cNvCxnSpPr>
            <a:cxnSpLocks/>
            <a:stCxn id="25" idx="2"/>
            <a:endCxn id="11" idx="2"/>
          </p:cNvCxnSpPr>
          <p:nvPr/>
        </p:nvCxnSpPr>
        <p:spPr>
          <a:xfrm rot="5400000" flipH="1" flipV="1">
            <a:off x="5985864" y="318239"/>
            <a:ext cx="4772" cy="7411056"/>
          </a:xfrm>
          <a:prstGeom prst="bentConnector3">
            <a:avLst>
              <a:gd name="adj1" fmla="val -34331517"/>
            </a:avLst>
          </a:prstGeom>
          <a:ln w="19050">
            <a:solidFill>
              <a:schemeClr val="bg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6706CB2-7B8D-5C77-3CEA-C24EF4E8169E}"/>
              </a:ext>
            </a:extLst>
          </p:cNvPr>
          <p:cNvSpPr txBox="1"/>
          <p:nvPr/>
        </p:nvSpPr>
        <p:spPr>
          <a:xfrm>
            <a:off x="4781704" y="5775360"/>
            <a:ext cx="2120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>
                <a:solidFill>
                  <a:schemeClr val="bg1"/>
                </a:solidFill>
              </a:rPr>
              <a:t>자율 피드백 루프</a:t>
            </a:r>
          </a:p>
        </p:txBody>
      </p:sp>
      <p:pic>
        <p:nvPicPr>
          <p:cNvPr id="105" name="그림 104">
            <a:extLst>
              <a:ext uri="{FF2B5EF4-FFF2-40B4-BE49-F238E27FC236}">
                <a16:creationId xmlns:a16="http://schemas.microsoft.com/office/drawing/2014/main" id="{BDF8F8E3-C82E-527A-7CB4-3F0E514AA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4" y="5767829"/>
            <a:ext cx="615017" cy="6306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71EA29-4460-F035-623E-BC0B399DE3B0}"/>
              </a:ext>
            </a:extLst>
          </p:cNvPr>
          <p:cNvSpPr txBox="1"/>
          <p:nvPr/>
        </p:nvSpPr>
        <p:spPr>
          <a:xfrm>
            <a:off x="6663990" y="6464265"/>
            <a:ext cx="253415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GitHub: Private (</a:t>
            </a:r>
            <a:r>
              <a:rPr lang="ko-KR" altLang="en-US" sz="1100" b="0" i="0">
                <a:solidFill>
                  <a:schemeClr val="bg1">
                    <a:lumMod val="65000"/>
                  </a:schemeClr>
                </a:solidFill>
                <a:effectLst/>
              </a:rPr>
              <a:t>접근 요청 시 권한 부여</a:t>
            </a:r>
            <a:r>
              <a:rPr lang="en-US" altLang="ko-KR" sz="1100" b="0" i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endParaRPr lang="ko-KR" altLang="en-US" sz="11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737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30409-EAFC-23CF-DC47-EC98EEA6D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FB3007E-5BCB-CF9D-AB32-F5F17D9B6C79}"/>
              </a:ext>
            </a:extLst>
          </p:cNvPr>
          <p:cNvSpPr txBox="1"/>
          <p:nvPr/>
        </p:nvSpPr>
        <p:spPr>
          <a:xfrm>
            <a:off x="197185" y="196018"/>
            <a:ext cx="4779263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시장 규모 및 비즈니스 모델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0F39F72-72A8-81A2-4568-230383BF8807}"/>
              </a:ext>
            </a:extLst>
          </p:cNvPr>
          <p:cNvSpPr/>
          <p:nvPr/>
        </p:nvSpPr>
        <p:spPr>
          <a:xfrm>
            <a:off x="1872304" y="941216"/>
            <a:ext cx="2265942" cy="105182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8DF25B6-14F8-DEAA-EC5B-6696AC66327E}"/>
              </a:ext>
            </a:extLst>
          </p:cNvPr>
          <p:cNvSpPr/>
          <p:nvPr/>
        </p:nvSpPr>
        <p:spPr>
          <a:xfrm>
            <a:off x="1872303" y="941207"/>
            <a:ext cx="2265942" cy="3462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인증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·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인가 통합 시장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B53ADDA-FCD1-DB4A-66C6-6ECF6604EF9D}"/>
              </a:ext>
            </a:extLst>
          </p:cNvPr>
          <p:cNvSpPr/>
          <p:nvPr/>
        </p:nvSpPr>
        <p:spPr>
          <a:xfrm>
            <a:off x="7826067" y="2339356"/>
            <a:ext cx="3839826" cy="18053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52A7771-589E-834F-A7A3-92959DA5A11D}"/>
              </a:ext>
            </a:extLst>
          </p:cNvPr>
          <p:cNvSpPr/>
          <p:nvPr/>
        </p:nvSpPr>
        <p:spPr>
          <a:xfrm>
            <a:off x="7826066" y="2339347"/>
            <a:ext cx="3839826" cy="4513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Enterprise (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유료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89CF11-A253-FAD9-4F57-18E141981DD9}"/>
              </a:ext>
            </a:extLst>
          </p:cNvPr>
          <p:cNvSpPr txBox="1"/>
          <p:nvPr/>
        </p:nvSpPr>
        <p:spPr>
          <a:xfrm>
            <a:off x="7802621" y="2849300"/>
            <a:ext cx="3863271" cy="1177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• 24/7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자율 보안 지능의 전체 기능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• MCP Server, MCP Client 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기반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AI-SOAR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전체 기능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• HCAD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이상 탐지 및 제로 트러스트 통합 기능 제공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실시간 인증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/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인가 모니터링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및 다양한 고급 기능</a:t>
            </a:r>
            <a:endParaRPr lang="en-US" altLang="ko-KR" sz="120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E748C8-1869-EB7D-C2CC-08382097F519}"/>
              </a:ext>
            </a:extLst>
          </p:cNvPr>
          <p:cNvSpPr txBox="1"/>
          <p:nvPr/>
        </p:nvSpPr>
        <p:spPr>
          <a:xfrm>
            <a:off x="147481" y="3108110"/>
            <a:ext cx="1675118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2000" b="1" i="0">
                <a:solidFill>
                  <a:srgbClr val="1DD7B8"/>
                </a:solidFill>
                <a:effectLst/>
              </a:rPr>
              <a:t>비즈니스 모델</a:t>
            </a:r>
            <a:endParaRPr lang="en-US" altLang="ko-KR" sz="1200" b="1" i="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0CDA734-EB4D-02FF-1E18-3A90D3AF8DFB}"/>
              </a:ext>
            </a:extLst>
          </p:cNvPr>
          <p:cNvSpPr/>
          <p:nvPr/>
        </p:nvSpPr>
        <p:spPr>
          <a:xfrm>
            <a:off x="4142236" y="947069"/>
            <a:ext cx="1295963" cy="104598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5C3980D-80F9-38F4-71B8-5F49DBF47528}"/>
              </a:ext>
            </a:extLst>
          </p:cNvPr>
          <p:cNvSpPr/>
          <p:nvPr/>
        </p:nvSpPr>
        <p:spPr>
          <a:xfrm>
            <a:off x="4142235" y="947060"/>
            <a:ext cx="1295963" cy="34624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평균 성장률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9CE50F-4C73-DD53-54FF-2EFE3BDC03F4}"/>
              </a:ext>
            </a:extLst>
          </p:cNvPr>
          <p:cNvSpPr txBox="1"/>
          <p:nvPr/>
        </p:nvSpPr>
        <p:spPr>
          <a:xfrm>
            <a:off x="4162388" y="1467142"/>
            <a:ext cx="1270768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CAGR 15~19%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4F8414-623F-9BA0-2D4B-A28C6D989705}"/>
              </a:ext>
            </a:extLst>
          </p:cNvPr>
          <p:cNvSpPr txBox="1"/>
          <p:nvPr/>
        </p:nvSpPr>
        <p:spPr>
          <a:xfrm>
            <a:off x="147481" y="1142473"/>
            <a:ext cx="1229981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2000" b="1">
                <a:solidFill>
                  <a:srgbClr val="1DD7B8"/>
                </a:solidFill>
              </a:rPr>
              <a:t>시장 규모</a:t>
            </a:r>
            <a:endParaRPr lang="en-US" altLang="ko-KR" sz="2000" b="1" i="0">
              <a:solidFill>
                <a:srgbClr val="1DD7B8"/>
              </a:solidFill>
              <a:effectLst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9E34F14-DAE7-3FFA-4182-CC61B7C67284}"/>
              </a:ext>
            </a:extLst>
          </p:cNvPr>
          <p:cNvSpPr/>
          <p:nvPr/>
        </p:nvSpPr>
        <p:spPr>
          <a:xfrm>
            <a:off x="1878163" y="2336969"/>
            <a:ext cx="3839826" cy="18053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0BCA1A7-2862-92A8-5BC6-8A64A269FB26}"/>
              </a:ext>
            </a:extLst>
          </p:cNvPr>
          <p:cNvSpPr/>
          <p:nvPr/>
        </p:nvSpPr>
        <p:spPr>
          <a:xfrm>
            <a:off x="1878162" y="2336960"/>
            <a:ext cx="3839826" cy="4513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Community (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무료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)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62D5AD-1C9C-6028-7A18-901D65896AB7}"/>
              </a:ext>
            </a:extLst>
          </p:cNvPr>
          <p:cNvSpPr txBox="1"/>
          <p:nvPr/>
        </p:nvSpPr>
        <p:spPr>
          <a:xfrm>
            <a:off x="1854717" y="2846913"/>
            <a:ext cx="3863271" cy="1177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• AI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보안 개발이 가능한 표준 프로세스 제공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• @Protectable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와 연동하는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DB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동적 인가 기능 제공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• MFA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기능이 포함된 고도의 추상화 된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DSL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제공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기본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Reactive Core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6CE45F-48DF-26B2-9708-F4BDBB158B41}"/>
              </a:ext>
            </a:extLst>
          </p:cNvPr>
          <p:cNvSpPr txBox="1"/>
          <p:nvPr/>
        </p:nvSpPr>
        <p:spPr>
          <a:xfrm>
            <a:off x="147481" y="5466325"/>
            <a:ext cx="1675118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2000" b="1">
                <a:solidFill>
                  <a:srgbClr val="1DD7B8"/>
                </a:solidFill>
              </a:rPr>
              <a:t>비즈니스 전략</a:t>
            </a:r>
            <a:endParaRPr lang="en-US" altLang="ko-KR" sz="1200" b="1" i="0">
              <a:solidFill>
                <a:schemeClr val="bg1">
                  <a:lumMod val="75000"/>
                </a:schemeClr>
              </a:solidFill>
              <a:effectLst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6B604D1-02B0-150D-85D1-8319D77BD359}"/>
              </a:ext>
            </a:extLst>
          </p:cNvPr>
          <p:cNvSpPr/>
          <p:nvPr/>
        </p:nvSpPr>
        <p:spPr>
          <a:xfrm>
            <a:off x="1872302" y="4481290"/>
            <a:ext cx="2400760" cy="62624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Okta/Auth0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의 아킬레스건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F02F3BA-97F9-D9F9-050B-0CD924687AB2}"/>
              </a:ext>
            </a:extLst>
          </p:cNvPr>
          <p:cNvSpPr/>
          <p:nvPr/>
        </p:nvSpPr>
        <p:spPr>
          <a:xfrm>
            <a:off x="4273061" y="4481290"/>
            <a:ext cx="7771458" cy="626242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Okta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가 수년간 공략에 실패한 엔터프라이즈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Java/Spring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시장에 즉시 진입할 수 있는 유일한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네이티브 패스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를 제공합니다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  <a:b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Okta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가 자체 개발하려면 최소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년 이상 걸릴 차세대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엔진을 즉시 제공합니다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44BB27C-4BD5-DE43-F0AD-5D44CB4A230A}"/>
              </a:ext>
            </a:extLst>
          </p:cNvPr>
          <p:cNvSpPr/>
          <p:nvPr/>
        </p:nvSpPr>
        <p:spPr>
          <a:xfrm>
            <a:off x="1872302" y="5159392"/>
            <a:ext cx="2400760" cy="55775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스프링 생태계 저변 지속적 확대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16C2BCA-7156-84B4-96B3-CDD5EF493BBE}"/>
              </a:ext>
            </a:extLst>
          </p:cNvPr>
          <p:cNvSpPr/>
          <p:nvPr/>
        </p:nvSpPr>
        <p:spPr>
          <a:xfrm>
            <a:off x="4273061" y="5159392"/>
            <a:ext cx="7771458" cy="557756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우리는 기술 뿐만 아니라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돈으로 살 수 없는 수 백만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Spring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개발자 커뮤니티의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신뢰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와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영향력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을 함께 제공합니다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  <a:b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</a:b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"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글로벌 벤더는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기업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IT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팀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을 타겟하지만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우리는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'Spring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개발자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를 타겟합니다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시장이 다릅니다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.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2FB7ED1-0A2C-83E6-7A41-F61051FD1003}"/>
              </a:ext>
            </a:extLst>
          </p:cNvPr>
          <p:cNvSpPr/>
          <p:nvPr/>
        </p:nvSpPr>
        <p:spPr>
          <a:xfrm>
            <a:off x="1872302" y="5768650"/>
            <a:ext cx="2400760" cy="4513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깃헙 커뮤니티 확산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플랫폼 표준화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B750F92-2E4D-3560-F689-3ABF6E422254}"/>
              </a:ext>
            </a:extLst>
          </p:cNvPr>
          <p:cNvSpPr/>
          <p:nvPr/>
        </p:nvSpPr>
        <p:spPr>
          <a:xfrm>
            <a:off x="4273061" y="5768650"/>
            <a:ext cx="7771458" cy="451340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Context Identity, Context IAM, Context Core light 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소스 공개로 깃헙 커뮤니티 확산 및 보안 플랫폼으로의 표준화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2A7FBD0-4051-4352-F37A-6F9DE23600A3}"/>
              </a:ext>
            </a:extLst>
          </p:cNvPr>
          <p:cNvSpPr/>
          <p:nvPr/>
        </p:nvSpPr>
        <p:spPr>
          <a:xfrm>
            <a:off x="1872302" y="6275330"/>
            <a:ext cx="2400760" cy="4513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국내 자바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스프링 기반 시스템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AA88C1D-AE4D-ED9E-0BD7-33D82868257E}"/>
              </a:ext>
            </a:extLst>
          </p:cNvPr>
          <p:cNvSpPr/>
          <p:nvPr/>
        </p:nvSpPr>
        <p:spPr>
          <a:xfrm>
            <a:off x="4273061" y="6275330"/>
            <a:ext cx="7771458" cy="451340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국내 엔터프라이즈급 시스템의 약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70%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이상이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Java/Spring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기반으로 추정되며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특히 정부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/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공공 섹터에서는 사실상 표준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E61C0-8281-5C27-8C25-4F7E11459F93}"/>
              </a:ext>
            </a:extLst>
          </p:cNvPr>
          <p:cNvSpPr txBox="1"/>
          <p:nvPr/>
        </p:nvSpPr>
        <p:spPr>
          <a:xfrm>
            <a:off x="8158790" y="638356"/>
            <a:ext cx="36389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ko-KR" altLang="en-US" sz="1200" b="0" i="0">
                <a:solidFill>
                  <a:schemeClr val="bg1"/>
                </a:solidFill>
                <a:effectLst/>
                <a:latin typeface="var(--app-monospace-font-family)"/>
              </a:rPr>
              <a:t>출처</a:t>
            </a:r>
            <a:r>
              <a:rPr lang="en-US" altLang="ko-KR" sz="1200" b="0" i="0">
                <a:solidFill>
                  <a:schemeClr val="bg1"/>
                </a:solidFill>
                <a:effectLst/>
                <a:latin typeface="var(--app-monospace-font-family)"/>
              </a:rPr>
              <a:t>: IDC, Gartner,Forrester, Grand View Research </a:t>
            </a:r>
            <a:r>
              <a:rPr lang="ko-KR" altLang="en-US" sz="1200" b="0" i="0">
                <a:solidFill>
                  <a:schemeClr val="bg1"/>
                </a:solidFill>
                <a:effectLst/>
                <a:latin typeface="var(--app-monospace-font-family)"/>
              </a:rPr>
              <a:t>종합</a:t>
            </a:r>
            <a:endParaRPr lang="ko-KR" altLang="en-US" sz="1200" b="0" i="0">
              <a:solidFill>
                <a:schemeClr val="bg1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3998F3-7EBF-4874-6240-8E9CCB6BE1F5}"/>
              </a:ext>
            </a:extLst>
          </p:cNvPr>
          <p:cNvSpPr/>
          <p:nvPr/>
        </p:nvSpPr>
        <p:spPr>
          <a:xfrm>
            <a:off x="5790193" y="947164"/>
            <a:ext cx="1674453" cy="104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9B4CFD3-7DE4-968E-EA53-E3AAB6C5087C}"/>
              </a:ext>
            </a:extLst>
          </p:cNvPr>
          <p:cNvSpPr/>
          <p:nvPr/>
        </p:nvSpPr>
        <p:spPr>
          <a:xfrm>
            <a:off x="5790192" y="947155"/>
            <a:ext cx="1674453" cy="3462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Security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시장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EE1B89-F4D1-D694-C99A-DAEDABC39284}"/>
              </a:ext>
            </a:extLst>
          </p:cNvPr>
          <p:cNvSpPr txBox="1"/>
          <p:nvPr/>
        </p:nvSpPr>
        <p:spPr>
          <a:xfrm>
            <a:off x="5792615" y="1293404"/>
            <a:ext cx="185550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약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20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억달러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(2024)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역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130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억 달러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(2030)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8E2C7B-E8EC-7333-B8FC-D13356E4D2BA}"/>
              </a:ext>
            </a:extLst>
          </p:cNvPr>
          <p:cNvSpPr txBox="1"/>
          <p:nvPr/>
        </p:nvSpPr>
        <p:spPr>
          <a:xfrm>
            <a:off x="1854678" y="1293318"/>
            <a:ext cx="228165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약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250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억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~280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억 달러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(2025)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약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600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억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~1,000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억 달러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(2030)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A8FB6DB-77F5-7ECD-5072-F360F605BD5F}"/>
              </a:ext>
            </a:extLst>
          </p:cNvPr>
          <p:cNvSpPr/>
          <p:nvPr/>
        </p:nvSpPr>
        <p:spPr>
          <a:xfrm>
            <a:off x="7470507" y="952931"/>
            <a:ext cx="1071694" cy="104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BB429D1-E35C-CC38-B049-1D8D123F27C5}"/>
              </a:ext>
            </a:extLst>
          </p:cNvPr>
          <p:cNvSpPr/>
          <p:nvPr/>
        </p:nvSpPr>
        <p:spPr>
          <a:xfrm>
            <a:off x="7470507" y="947092"/>
            <a:ext cx="1071694" cy="35207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평균 성장률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835D17-3366-28A0-2E2D-824BB931C076}"/>
              </a:ext>
            </a:extLst>
          </p:cNvPr>
          <p:cNvSpPr txBox="1"/>
          <p:nvPr/>
        </p:nvSpPr>
        <p:spPr>
          <a:xfrm>
            <a:off x="7470507" y="1465257"/>
            <a:ext cx="102047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CAGR  34%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91CF97F-E8F9-086B-D20D-A94C16818C60}"/>
              </a:ext>
            </a:extLst>
          </p:cNvPr>
          <p:cNvSpPr/>
          <p:nvPr/>
        </p:nvSpPr>
        <p:spPr>
          <a:xfrm>
            <a:off x="8908191" y="947164"/>
            <a:ext cx="1674453" cy="104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9CA57B7-E387-0314-436C-E590C3299C63}"/>
              </a:ext>
            </a:extLst>
          </p:cNvPr>
          <p:cNvSpPr/>
          <p:nvPr/>
        </p:nvSpPr>
        <p:spPr>
          <a:xfrm>
            <a:off x="8908190" y="947155"/>
            <a:ext cx="1674453" cy="34624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Zero Trust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시장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E85DFA-04F1-4CCA-119F-080BD654E13D}"/>
              </a:ext>
            </a:extLst>
          </p:cNvPr>
          <p:cNvSpPr txBox="1"/>
          <p:nvPr/>
        </p:nvSpPr>
        <p:spPr>
          <a:xfrm>
            <a:off x="8910613" y="1293404"/>
            <a:ext cx="185550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약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34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억달러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(2024)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역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71</a:t>
            </a:r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억 달러 </a:t>
            </a: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(2030)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38AFD23-F9A1-CC35-2E1E-C781EF191AAB}"/>
              </a:ext>
            </a:extLst>
          </p:cNvPr>
          <p:cNvSpPr/>
          <p:nvPr/>
        </p:nvSpPr>
        <p:spPr>
          <a:xfrm>
            <a:off x="10588505" y="952931"/>
            <a:ext cx="1071694" cy="1048756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D75DEE1-42F1-DC15-D9F3-0C1F30744A18}"/>
              </a:ext>
            </a:extLst>
          </p:cNvPr>
          <p:cNvSpPr/>
          <p:nvPr/>
        </p:nvSpPr>
        <p:spPr>
          <a:xfrm>
            <a:off x="10588505" y="947092"/>
            <a:ext cx="1071694" cy="352079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평균 성장률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F789601-3249-0E91-834B-C7C217F1D0EB}"/>
              </a:ext>
            </a:extLst>
          </p:cNvPr>
          <p:cNvSpPr txBox="1"/>
          <p:nvPr/>
        </p:nvSpPr>
        <p:spPr>
          <a:xfrm>
            <a:off x="10588505" y="1465257"/>
            <a:ext cx="1020473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>
                <a:solidFill>
                  <a:schemeClr val="tx2">
                    <a:lumMod val="50000"/>
                  </a:schemeClr>
                </a:solidFill>
              </a:rPr>
              <a:t>CAGR  19%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E386382-B8CA-C471-ADBF-18CAD95DDC69}"/>
              </a:ext>
            </a:extLst>
          </p:cNvPr>
          <p:cNvSpPr/>
          <p:nvPr/>
        </p:nvSpPr>
        <p:spPr>
          <a:xfrm>
            <a:off x="5766744" y="2342160"/>
            <a:ext cx="2006735" cy="4513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 Open Core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모델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4208F204-3208-A7E4-6564-9C1A6119F989}"/>
              </a:ext>
            </a:extLst>
          </p:cNvPr>
          <p:cNvSpPr/>
          <p:nvPr/>
        </p:nvSpPr>
        <p:spPr>
          <a:xfrm>
            <a:off x="5766744" y="2789634"/>
            <a:ext cx="2006735" cy="13526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304148-6858-22D8-C646-E6A3D3286A9D}"/>
              </a:ext>
            </a:extLst>
          </p:cNvPr>
          <p:cNvSpPr txBox="1"/>
          <p:nvPr/>
        </p:nvSpPr>
        <p:spPr>
          <a:xfrm>
            <a:off x="5877597" y="2994891"/>
            <a:ext cx="1785028" cy="90024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lnSpc>
                <a:spcPct val="150000"/>
              </a:lnSpc>
              <a:spcAft>
                <a:spcPts val="1500"/>
              </a:spcAft>
            </a:pPr>
            <a:r>
              <a:rPr lang="ko-KR" altLang="en-US" sz="1200" i="0">
                <a:effectLst/>
              </a:rPr>
              <a:t>오픈소스</a:t>
            </a:r>
            <a:r>
              <a:rPr lang="en-US" altLang="ko-KR" sz="1200" i="0">
                <a:effectLst/>
              </a:rPr>
              <a:t> </a:t>
            </a:r>
            <a:br>
              <a:rPr lang="en-US" altLang="ko-KR" sz="1200" i="0">
                <a:effectLst/>
              </a:rPr>
            </a:br>
            <a:r>
              <a:rPr lang="ko-KR" altLang="en-US" sz="1200" i="0">
                <a:effectLst/>
              </a:rPr>
              <a:t>엔터프라이즈 </a:t>
            </a:r>
            <a:r>
              <a:rPr lang="ko-KR" altLang="en-US" sz="1200"/>
              <a:t>상용화 </a:t>
            </a:r>
            <a:br>
              <a:rPr lang="en-US" altLang="ko-KR" sz="1200"/>
            </a:br>
            <a:r>
              <a:rPr lang="en-US" altLang="ko-KR" sz="1200"/>
              <a:t>M&amp;A</a:t>
            </a:r>
            <a:endParaRPr lang="en-US" altLang="ko-KR" sz="1200" i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90761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F2382-26FA-D11B-5F41-B282BCBE5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CFFF72-1188-C018-2914-3AD48DB7CDBD}"/>
              </a:ext>
            </a:extLst>
          </p:cNvPr>
          <p:cNvSpPr txBox="1"/>
          <p:nvPr/>
        </p:nvSpPr>
        <p:spPr>
          <a:xfrm>
            <a:off x="197185" y="196018"/>
            <a:ext cx="4779263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en-US" altLang="ko-KR" sz="3200" b="1" i="0">
                <a:solidFill>
                  <a:srgbClr val="FFFFFF"/>
                </a:solidFill>
                <a:effectLst/>
              </a:rPr>
              <a:t>36</a:t>
            </a:r>
            <a:r>
              <a:rPr lang="ko-KR" altLang="en-US" sz="3200" b="1" i="0">
                <a:solidFill>
                  <a:srgbClr val="FFFFFF"/>
                </a:solidFill>
                <a:effectLst/>
              </a:rPr>
              <a:t>개월 </a:t>
            </a:r>
            <a:r>
              <a:rPr lang="en-US" altLang="ko-KR" sz="3200" b="1" i="0">
                <a:solidFill>
                  <a:srgbClr val="FFFFFF"/>
                </a:solidFill>
                <a:effectLst/>
              </a:rPr>
              <a:t>R&amp;D </a:t>
            </a:r>
            <a:r>
              <a:rPr lang="ko-KR" altLang="en-US" sz="3200" b="1" i="0">
                <a:solidFill>
                  <a:srgbClr val="FFFFFF"/>
                </a:solidFill>
                <a:effectLst/>
              </a:rPr>
              <a:t>로드맵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A2AA013-01F1-4949-A1C1-7D86BF23E970}"/>
              </a:ext>
            </a:extLst>
          </p:cNvPr>
          <p:cNvSpPr txBox="1"/>
          <p:nvPr/>
        </p:nvSpPr>
        <p:spPr>
          <a:xfrm>
            <a:off x="197186" y="773473"/>
            <a:ext cx="4503768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0" i="0">
                <a:solidFill>
                  <a:srgbClr val="8B9DC3"/>
                </a:solidFill>
                <a:effectLst/>
              </a:rPr>
              <a:t>TIPS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와 함께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PoC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를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M&amp;A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대상으로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: 36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개월 가치 성장 계획</a:t>
            </a:r>
            <a:endParaRPr lang="ko-KR" altLang="en-US" sz="14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27ECF9-EE72-C1B5-AA7C-A71DFE0D4D34}"/>
              </a:ext>
            </a:extLst>
          </p:cNvPr>
          <p:cNvSpPr/>
          <p:nvPr/>
        </p:nvSpPr>
        <p:spPr>
          <a:xfrm>
            <a:off x="197185" y="2517201"/>
            <a:ext cx="3867352" cy="36376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3C991F4-C9FA-C3E7-741B-1DDB4399757A}"/>
              </a:ext>
            </a:extLst>
          </p:cNvPr>
          <p:cNvSpPr/>
          <p:nvPr/>
        </p:nvSpPr>
        <p:spPr>
          <a:xfrm>
            <a:off x="197185" y="2014619"/>
            <a:ext cx="3867352" cy="5025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20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1</a:t>
            </a:r>
            <a:r>
              <a:rPr lang="ko-KR" altLang="en-US" sz="20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차 년도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9F44DCD-A05B-15FC-A12A-BDAFCC7C3FCD}"/>
              </a:ext>
            </a:extLst>
          </p:cNvPr>
          <p:cNvSpPr/>
          <p:nvPr/>
        </p:nvSpPr>
        <p:spPr>
          <a:xfrm>
            <a:off x="197185" y="2517201"/>
            <a:ext cx="3867352" cy="38856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생태계 진입 교두보 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0E2854-A145-6600-1E01-B4B04DBA3A0E}"/>
              </a:ext>
            </a:extLst>
          </p:cNvPr>
          <p:cNvSpPr txBox="1"/>
          <p:nvPr/>
        </p:nvSpPr>
        <p:spPr>
          <a:xfrm>
            <a:off x="214323" y="2957003"/>
            <a:ext cx="3778024" cy="2262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i="0">
                <a:solidFill>
                  <a:srgbClr val="FF0000"/>
                </a:solidFill>
                <a:effectLst/>
              </a:rPr>
              <a:t>초기 사용자 확보</a:t>
            </a:r>
            <a:r>
              <a:rPr lang="en-US" altLang="ko-KR" sz="1200" i="0">
                <a:solidFill>
                  <a:srgbClr val="FF0000"/>
                </a:solidFill>
                <a:effectLst/>
              </a:rPr>
              <a:t>, </a:t>
            </a:r>
            <a:r>
              <a:rPr lang="ko-KR" altLang="en-US" sz="1200" i="0">
                <a:solidFill>
                  <a:srgbClr val="FF0000"/>
                </a:solidFill>
                <a:effectLst/>
              </a:rPr>
              <a:t>시장 검증</a:t>
            </a:r>
            <a:endParaRPr lang="en-US" altLang="ko-KR" sz="1200" i="0">
              <a:solidFill>
                <a:srgbClr val="FF0000"/>
              </a:solidFill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>
                <a:effectLst/>
              </a:rPr>
              <a:t>GitHub Star 1K ~2k+ &amp; </a:t>
            </a:r>
            <a:r>
              <a:rPr lang="ko-KR" altLang="en-US" sz="1200" b="0" i="0">
                <a:effectLst/>
              </a:rPr>
              <a:t>활성 기여자 </a:t>
            </a:r>
            <a:r>
              <a:rPr lang="en-US" altLang="ko-KR" sz="1200" b="0" i="0">
                <a:effectLst/>
              </a:rPr>
              <a:t>10+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>
                <a:effectLst/>
              </a:rPr>
              <a:t>Authorization Server </a:t>
            </a:r>
            <a:r>
              <a:rPr lang="ko-KR" altLang="en-US" sz="1200"/>
              <a:t> </a:t>
            </a:r>
            <a:r>
              <a:rPr lang="ko-KR" altLang="en-US" sz="1200" b="0" i="0">
                <a:effectLst/>
              </a:rPr>
              <a:t>통합으로 인증</a:t>
            </a:r>
            <a:r>
              <a:rPr lang="en-US" altLang="ko-KR" sz="1200" b="0" i="0">
                <a:effectLst/>
              </a:rPr>
              <a:t>/</a:t>
            </a:r>
            <a:r>
              <a:rPr lang="ko-KR" altLang="en-US" sz="1200" b="0" i="0">
                <a:effectLst/>
              </a:rPr>
              <a:t>인가 표준 확보</a:t>
            </a:r>
            <a:r>
              <a:rPr lang="en-US" altLang="ko-KR" sz="1200" b="0" i="0">
                <a:effectLst/>
              </a:rPr>
              <a:t>,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200" b="0" i="0">
                <a:effectLst/>
              </a:rPr>
              <a:t>spring-boot-starter-ai-security 1.0 </a:t>
            </a:r>
            <a:r>
              <a:rPr lang="ko-KR" altLang="en-US" sz="1200" b="0" i="0">
                <a:effectLst/>
              </a:rPr>
              <a:t>출시</a:t>
            </a:r>
            <a:endParaRPr lang="en-US" altLang="ko-KR" sz="120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개발자 생태계의 표준으로 인정 받는다는 증거</a:t>
            </a:r>
            <a:endParaRPr lang="en-US" altLang="ko-KR" sz="120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기업 가치 </a:t>
            </a:r>
            <a:r>
              <a:rPr lang="en-US" altLang="ko-KR" sz="1200" b="0" i="0">
                <a:effectLst/>
              </a:rPr>
              <a:t>$10M(</a:t>
            </a:r>
            <a:r>
              <a:rPr lang="ko-KR" altLang="en-US" sz="1200" b="0" i="0">
                <a:effectLst/>
              </a:rPr>
              <a:t>약 </a:t>
            </a:r>
            <a:r>
              <a:rPr lang="en-US" altLang="ko-KR" sz="1200" b="0" i="0">
                <a:effectLst/>
              </a:rPr>
              <a:t>130</a:t>
            </a:r>
            <a:r>
              <a:rPr lang="ko-KR" altLang="en-US" sz="1200" b="0" i="0">
                <a:effectLst/>
              </a:rPr>
              <a:t>억 원</a:t>
            </a:r>
            <a:r>
              <a:rPr lang="en-US" altLang="ko-KR" sz="1200" b="0" i="0">
                <a:effectLst/>
              </a:rPr>
              <a:t>) </a:t>
            </a:r>
            <a:r>
              <a:rPr lang="ko-KR" altLang="en-US" sz="1200"/>
              <a:t>목표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1E1D2BF-4F1E-6C84-837A-A5446CE6BCF3}"/>
              </a:ext>
            </a:extLst>
          </p:cNvPr>
          <p:cNvSpPr/>
          <p:nvPr/>
        </p:nvSpPr>
        <p:spPr>
          <a:xfrm>
            <a:off x="4143543" y="2517201"/>
            <a:ext cx="3867352" cy="36376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2C68B15-5B89-1C58-5E85-F1A29F7AA1A8}"/>
              </a:ext>
            </a:extLst>
          </p:cNvPr>
          <p:cNvSpPr/>
          <p:nvPr/>
        </p:nvSpPr>
        <p:spPr>
          <a:xfrm>
            <a:off x="4143543" y="2014619"/>
            <a:ext cx="3867352" cy="50258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20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</a:t>
            </a:r>
            <a:r>
              <a:rPr lang="ko-KR" altLang="en-US" sz="20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차 년도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6D87DC8-492F-AAB6-4424-303DE1EE1271}"/>
              </a:ext>
            </a:extLst>
          </p:cNvPr>
          <p:cNvSpPr/>
          <p:nvPr/>
        </p:nvSpPr>
        <p:spPr>
          <a:xfrm>
            <a:off x="4143543" y="2517201"/>
            <a:ext cx="3867352" cy="388568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상업적 잠재력 증명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164DD7-38E6-48FE-A4F2-D9BA7A61BCCE}"/>
              </a:ext>
            </a:extLst>
          </p:cNvPr>
          <p:cNvSpPr txBox="1"/>
          <p:nvPr/>
        </p:nvSpPr>
        <p:spPr>
          <a:xfrm>
            <a:off x="4160681" y="2957003"/>
            <a:ext cx="3778024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solidFill>
                  <a:srgbClr val="FF0000"/>
                </a:solidFill>
                <a:effectLst/>
              </a:rPr>
              <a:t>매출 잠재력 증명</a:t>
            </a:r>
            <a:r>
              <a:rPr lang="en-US" altLang="ko-KR" sz="1200" b="0" i="0">
                <a:solidFill>
                  <a:srgbClr val="FF0000"/>
                </a:solidFill>
                <a:effectLst/>
              </a:rPr>
              <a:t>, </a:t>
            </a:r>
            <a:r>
              <a:rPr lang="ko-KR" altLang="en-US" sz="1200" b="0" i="0">
                <a:solidFill>
                  <a:srgbClr val="FF0000"/>
                </a:solidFill>
                <a:effectLst/>
              </a:rPr>
              <a:t>시장 수용성 입증</a:t>
            </a:r>
            <a:endParaRPr lang="en-US" altLang="ko-KR" sz="1200" b="0" i="0">
              <a:solidFill>
                <a:srgbClr val="FF0000"/>
              </a:solidFill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상용 엔진 </a:t>
            </a:r>
            <a:r>
              <a:rPr lang="en-US" altLang="ko-KR" sz="1200" b="0" i="0">
                <a:effectLst/>
              </a:rPr>
              <a:t>MVP &amp; Lighthouse </a:t>
            </a:r>
            <a:r>
              <a:rPr lang="ko-KR" altLang="en-US" sz="1200" b="0" i="0">
                <a:effectLst/>
              </a:rPr>
              <a:t>고객 </a:t>
            </a:r>
            <a:r>
              <a:rPr lang="en-US" altLang="ko-KR" sz="1200" b="0" i="0">
                <a:effectLst/>
              </a:rPr>
              <a:t>5</a:t>
            </a:r>
            <a:r>
              <a:rPr lang="ko-KR" altLang="en-US" sz="1200" b="0" i="0">
                <a:effectLst/>
              </a:rPr>
              <a:t>개 확보</a:t>
            </a:r>
            <a:endParaRPr lang="en-US" altLang="ko-KR" sz="1200" b="0" i="0"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상위 커미터</a:t>
            </a:r>
            <a:r>
              <a:rPr lang="en-US" altLang="ko-KR" sz="1200" b="0" i="0">
                <a:effectLst/>
              </a:rPr>
              <a:t>(Contributor) 10</a:t>
            </a:r>
            <a:r>
              <a:rPr lang="ko-KR" altLang="en-US" sz="1200" b="0" i="0">
                <a:effectLst/>
              </a:rPr>
              <a:t>명 확보</a:t>
            </a:r>
            <a:endParaRPr lang="en-US" altLang="ko-KR" sz="1200" b="0" i="0"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엔터프라이즈 시장에서 수익이 발생 할 수 있다는 증거</a:t>
            </a:r>
            <a:endParaRPr lang="en-US" altLang="ko-KR" sz="1200" b="0" i="0"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기업 가치 </a:t>
            </a:r>
            <a:r>
              <a:rPr lang="en-US" altLang="ko-KR" sz="1200" b="0" i="0">
                <a:effectLst/>
              </a:rPr>
              <a:t>$30 ~ $50M(</a:t>
            </a:r>
            <a:r>
              <a:rPr lang="ko-KR" altLang="en-US" sz="1200" b="0" i="0">
                <a:effectLst/>
              </a:rPr>
              <a:t>약 </a:t>
            </a:r>
            <a:r>
              <a:rPr lang="en-US" altLang="ko-KR" sz="1200" b="0" i="0">
                <a:effectLst/>
              </a:rPr>
              <a:t>400 ~ 650 </a:t>
            </a:r>
            <a:r>
              <a:rPr lang="ko-KR" altLang="en-US" sz="1200" b="0" i="0">
                <a:effectLst/>
              </a:rPr>
              <a:t>억원</a:t>
            </a:r>
            <a:r>
              <a:rPr lang="en-US" altLang="ko-KR" sz="1200" b="0" i="0">
                <a:effectLst/>
              </a:rPr>
              <a:t>) </a:t>
            </a:r>
            <a:r>
              <a:rPr lang="ko-KR" altLang="en-US" sz="1200" b="0" i="0">
                <a:effectLst/>
              </a:rPr>
              <a:t>목표</a:t>
            </a:r>
            <a:endParaRPr lang="ko-KR" altLang="en-US" sz="12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4A6052E-40C5-96F7-6C3C-BE00FF68EFC9}"/>
              </a:ext>
            </a:extLst>
          </p:cNvPr>
          <p:cNvSpPr/>
          <p:nvPr/>
        </p:nvSpPr>
        <p:spPr>
          <a:xfrm>
            <a:off x="8089901" y="2517201"/>
            <a:ext cx="3867352" cy="363762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596DE66-41AB-B4A1-52D1-C26757B272D1}"/>
              </a:ext>
            </a:extLst>
          </p:cNvPr>
          <p:cNvSpPr/>
          <p:nvPr/>
        </p:nvSpPr>
        <p:spPr>
          <a:xfrm>
            <a:off x="8089901" y="2014619"/>
            <a:ext cx="3867352" cy="5025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20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3</a:t>
            </a:r>
            <a:r>
              <a:rPr lang="ko-KR" altLang="en-US" sz="20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차 년도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E1A06E-DEEA-86AA-5401-126D73623E8E}"/>
              </a:ext>
            </a:extLst>
          </p:cNvPr>
          <p:cNvSpPr/>
          <p:nvPr/>
        </p:nvSpPr>
        <p:spPr>
          <a:xfrm>
            <a:off x="8089901" y="2517201"/>
            <a:ext cx="3867352" cy="38856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/>
              <a:t>대체 불가능한 자산</a:t>
            </a:r>
            <a:r>
              <a:rPr lang="en-US" altLang="ko-KR" sz="1400"/>
              <a:t>(Irreplaceable Asset)</a:t>
            </a:r>
            <a:endParaRPr lang="ko-KR" alt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963F35-3D9C-84A1-D2A5-5B244EFAF5BB}"/>
              </a:ext>
            </a:extLst>
          </p:cNvPr>
          <p:cNvSpPr txBox="1"/>
          <p:nvPr/>
        </p:nvSpPr>
        <p:spPr>
          <a:xfrm>
            <a:off x="8107039" y="2957003"/>
            <a:ext cx="3778024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solidFill>
                  <a:srgbClr val="FF0000"/>
                </a:solidFill>
                <a:effectLst/>
              </a:rPr>
              <a:t>압도적인 시장 지배력을 구축</a:t>
            </a:r>
            <a:endParaRPr lang="en-US" altLang="ko-KR" sz="1200" b="0" i="0">
              <a:solidFill>
                <a:srgbClr val="FF0000"/>
              </a:solidFill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생태계 표준 완성 및 기술적 해자</a:t>
            </a:r>
            <a:r>
              <a:rPr lang="en-US" altLang="ko-KR" sz="1200" b="0" i="0">
                <a:effectLst/>
              </a:rPr>
              <a:t>(Moat) </a:t>
            </a:r>
            <a:r>
              <a:rPr lang="ko-KR" altLang="en-US" sz="1200" b="0" i="0">
                <a:effectLst/>
              </a:rPr>
              <a:t>구축</a:t>
            </a:r>
            <a:endParaRPr lang="en-US" altLang="ko-KR" sz="1200" b="0" i="0"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플랫폼 고도화 및 </a:t>
            </a:r>
            <a:r>
              <a:rPr lang="en-US" altLang="ko-KR" sz="1200" b="0" i="0">
                <a:effectLst/>
              </a:rPr>
              <a:t>Okta/Auth0 </a:t>
            </a:r>
            <a:r>
              <a:rPr lang="ko-KR" altLang="en-US" sz="1200" b="0" i="0">
                <a:effectLst/>
              </a:rPr>
              <a:t>통합 </a:t>
            </a:r>
            <a:r>
              <a:rPr lang="en-US" altLang="ko-KR" sz="1200" b="0" i="0">
                <a:effectLst/>
              </a:rPr>
              <a:t>PoC </a:t>
            </a:r>
            <a:r>
              <a:rPr lang="ko-KR" altLang="en-US" sz="1200" b="0" i="0">
                <a:effectLst/>
              </a:rPr>
              <a:t>개발</a:t>
            </a:r>
            <a:endParaRPr lang="en-US" altLang="ko-KR" sz="1200"/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전략적 파트너십 또는 글로벌 기업으로의 </a:t>
            </a:r>
            <a:r>
              <a:rPr lang="en-US" altLang="ko-KR" sz="1200" b="0" i="0">
                <a:effectLst/>
              </a:rPr>
              <a:t>M&amp;A</a:t>
            </a:r>
            <a:r>
              <a:rPr lang="ko-KR" altLang="en-US" sz="1200" b="0" i="0">
                <a:effectLst/>
              </a:rPr>
              <a:t> </a:t>
            </a:r>
            <a:endParaRPr lang="en-US" altLang="ko-KR" sz="1200" b="0" i="0"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경쟁사는 수 년이 걸리는 </a:t>
            </a:r>
            <a:r>
              <a:rPr lang="en-US" altLang="ko-KR" sz="1200" b="0" i="0">
                <a:effectLst/>
              </a:rPr>
              <a:t>'</a:t>
            </a:r>
            <a:r>
              <a:rPr lang="ko-KR" altLang="en-US" sz="1200" b="0" i="0">
                <a:effectLst/>
              </a:rPr>
              <a:t>스프링 생태계 진입권’ 으로 독점적 협상력 확보</a:t>
            </a:r>
            <a:endParaRPr lang="en-US" altLang="ko-KR" sz="1200" b="0" i="0">
              <a:effectLst/>
            </a:endParaRP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200" b="0" i="0">
                <a:effectLst/>
              </a:rPr>
              <a:t>기업가치</a:t>
            </a:r>
            <a:r>
              <a:rPr lang="en-US" altLang="ko-KR" sz="1200" b="0" i="0">
                <a:effectLst/>
              </a:rPr>
              <a:t> $ 50 ~ $100M+ (</a:t>
            </a:r>
            <a:r>
              <a:rPr lang="ko-KR" altLang="en-US" sz="1200" b="0" i="0">
                <a:effectLst/>
              </a:rPr>
              <a:t>약 </a:t>
            </a:r>
            <a:r>
              <a:rPr lang="en-US" altLang="ko-KR" sz="1200" b="0" i="0">
                <a:effectLst/>
              </a:rPr>
              <a:t>650 ~ 1,300 </a:t>
            </a:r>
            <a:r>
              <a:rPr lang="ko-KR" altLang="en-US" sz="1200" b="0" i="0">
                <a:effectLst/>
              </a:rPr>
              <a:t>억원</a:t>
            </a:r>
            <a:r>
              <a:rPr lang="en-US" altLang="ko-KR" sz="1200" b="0" i="0">
                <a:effectLst/>
              </a:rPr>
              <a:t>)</a:t>
            </a:r>
            <a:r>
              <a:rPr lang="ko-KR" altLang="en-US" sz="1200" b="0" i="0">
                <a:effectLst/>
              </a:rPr>
              <a:t>목표 </a:t>
            </a:r>
            <a:r>
              <a:rPr lang="en-US" altLang="ko-KR" sz="1200" b="0" i="0">
                <a:effectLst/>
              </a:rPr>
              <a:t>(ARR </a:t>
            </a:r>
            <a:r>
              <a:rPr lang="ko-KR" altLang="en-US" sz="1200" b="0" i="0">
                <a:effectLst/>
              </a:rPr>
              <a:t>성과에 따라 변동</a:t>
            </a:r>
            <a:r>
              <a:rPr lang="en-US" altLang="ko-KR" sz="1200" b="0" i="0">
                <a:effectLst/>
              </a:rPr>
              <a:t>)</a:t>
            </a:r>
            <a:endParaRPr lang="ko-KR" altLang="en-US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632703-2E12-7C28-39DF-F021A6578C0D}"/>
              </a:ext>
            </a:extLst>
          </p:cNvPr>
          <p:cNvSpPr txBox="1"/>
          <p:nvPr/>
        </p:nvSpPr>
        <p:spPr>
          <a:xfrm>
            <a:off x="3772886" y="1417510"/>
            <a:ext cx="4646227" cy="40011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1500"/>
              </a:spcAft>
              <a:buNone/>
            </a:pPr>
            <a:r>
              <a:rPr lang="ko-KR" altLang="en-US" sz="2000" b="1" i="0">
                <a:solidFill>
                  <a:srgbClr val="1DD7B8"/>
                </a:solidFill>
                <a:effectLst/>
              </a:rPr>
              <a:t>전략적 파트너십 또는 </a:t>
            </a:r>
            <a:r>
              <a:rPr lang="en-US" altLang="ko-KR" sz="2000" b="1" i="0">
                <a:solidFill>
                  <a:srgbClr val="1DD7B8"/>
                </a:solidFill>
                <a:effectLst/>
              </a:rPr>
              <a:t>M&amp;A </a:t>
            </a:r>
            <a:r>
              <a:rPr lang="ko-KR" altLang="en-US" sz="2000" b="1" i="0">
                <a:solidFill>
                  <a:srgbClr val="1DD7B8"/>
                </a:solidFill>
                <a:effectLst/>
              </a:rPr>
              <a:t>가치 성장 계획</a:t>
            </a:r>
          </a:p>
        </p:txBody>
      </p:sp>
    </p:spTree>
    <p:extLst>
      <p:ext uri="{BB962C8B-B14F-4D97-AF65-F5344CB8AC3E}">
        <p14:creationId xmlns:p14="http://schemas.microsoft.com/office/powerpoint/2010/main" val="30346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E415A-F27D-F307-068F-F6FEA0A75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0B7DC3-CACB-E352-1BBB-24A3B07E30C0}"/>
              </a:ext>
            </a:extLst>
          </p:cNvPr>
          <p:cNvSpPr txBox="1"/>
          <p:nvPr/>
        </p:nvSpPr>
        <p:spPr>
          <a:xfrm>
            <a:off x="197185" y="196018"/>
            <a:ext cx="4779263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en-US" altLang="ko-KR" sz="3200" b="1" i="0">
                <a:solidFill>
                  <a:srgbClr val="FFFFFF"/>
                </a:solidFill>
                <a:effectLst/>
              </a:rPr>
              <a:t>Exit </a:t>
            </a:r>
            <a:r>
              <a:rPr lang="ko-KR" altLang="en-US" sz="3200" b="1" i="0">
                <a:solidFill>
                  <a:srgbClr val="FFFFFF"/>
                </a:solidFill>
                <a:effectLst/>
              </a:rPr>
              <a:t>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10895B-2ABF-AB25-75D4-B1FBC950655D}"/>
              </a:ext>
            </a:extLst>
          </p:cNvPr>
          <p:cNvSpPr txBox="1"/>
          <p:nvPr/>
        </p:nvSpPr>
        <p:spPr>
          <a:xfrm>
            <a:off x="197186" y="773473"/>
            <a:ext cx="4902122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0" i="0">
                <a:solidFill>
                  <a:srgbClr val="8B9DC3"/>
                </a:solidFill>
                <a:effectLst/>
              </a:rPr>
              <a:t>우리의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Exit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은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거인에게 그들이 놓친 시장을 선물하는 것입니다</a:t>
            </a:r>
            <a:endParaRPr lang="ko-KR" altLang="en-US" sz="140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FB9D427-488C-198C-6D25-DAABC7C9C554}"/>
              </a:ext>
            </a:extLst>
          </p:cNvPr>
          <p:cNvSpPr/>
          <p:nvPr/>
        </p:nvSpPr>
        <p:spPr>
          <a:xfrm>
            <a:off x="1255021" y="1361812"/>
            <a:ext cx="10497364" cy="853637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765DEE-73C9-F5A3-D0C3-F96817757358}"/>
              </a:ext>
            </a:extLst>
          </p:cNvPr>
          <p:cNvSpPr/>
          <p:nvPr/>
        </p:nvSpPr>
        <p:spPr>
          <a:xfrm>
            <a:off x="1255018" y="1358248"/>
            <a:ext cx="10497364" cy="3885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26B25AF7-36F0-4060-8D36-AC21CC5BC2DC}"/>
              </a:ext>
            </a:extLst>
          </p:cNvPr>
          <p:cNvSpPr/>
          <p:nvPr/>
        </p:nvSpPr>
        <p:spPr>
          <a:xfrm>
            <a:off x="197185" y="1386778"/>
            <a:ext cx="955431" cy="316523"/>
          </a:xfrm>
          <a:prstGeom prst="roundRect">
            <a:avLst/>
          </a:prstGeom>
          <a:solidFill>
            <a:srgbClr val="1DD7B8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~18</a:t>
            </a:r>
            <a:r>
              <a:rPr lang="ko-KR" altLang="en-US" sz="1200" b="1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138406-99DB-A09A-C3AD-2DD06C5AC228}"/>
              </a:ext>
            </a:extLst>
          </p:cNvPr>
          <p:cNvSpPr txBox="1"/>
          <p:nvPr/>
        </p:nvSpPr>
        <p:spPr>
          <a:xfrm>
            <a:off x="1255018" y="1332449"/>
            <a:ext cx="10497364" cy="772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  <a:buNone/>
            </a:pPr>
            <a:r>
              <a:rPr lang="en-US" altLang="ko-KR" sz="1400" b="1" i="0">
                <a:solidFill>
                  <a:srgbClr val="00D4AA"/>
                </a:solidFill>
                <a:effectLst/>
              </a:rPr>
              <a:t>Series A </a:t>
            </a:r>
            <a:r>
              <a:rPr lang="ko-KR" altLang="en-US" sz="1400" b="1" i="0">
                <a:solidFill>
                  <a:srgbClr val="00D4AA"/>
                </a:solidFill>
                <a:effectLst/>
              </a:rPr>
              <a:t>투자 유치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오픈소스 커뮤니티의 성장과 라이트하우스 고객 확보를 통해 독립 성장의 기반을 다지고 기업 가치를 증명합니다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.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A852C44-4935-8EF9-73CE-06BB6C3BE5E6}"/>
              </a:ext>
            </a:extLst>
          </p:cNvPr>
          <p:cNvSpPr/>
          <p:nvPr/>
        </p:nvSpPr>
        <p:spPr>
          <a:xfrm>
            <a:off x="1255021" y="2452963"/>
            <a:ext cx="10497361" cy="1106304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77899F-C01D-7C30-33F3-A5D1A7FB9307}"/>
              </a:ext>
            </a:extLst>
          </p:cNvPr>
          <p:cNvSpPr/>
          <p:nvPr/>
        </p:nvSpPr>
        <p:spPr>
          <a:xfrm>
            <a:off x="1255018" y="2449399"/>
            <a:ext cx="10497361" cy="3885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0540865-E1E6-B6BD-3FB8-E6326E3C7994}"/>
              </a:ext>
            </a:extLst>
          </p:cNvPr>
          <p:cNvSpPr/>
          <p:nvPr/>
        </p:nvSpPr>
        <p:spPr>
          <a:xfrm>
            <a:off x="197184" y="2470496"/>
            <a:ext cx="955431" cy="316523"/>
          </a:xfrm>
          <a:prstGeom prst="roundRect">
            <a:avLst/>
          </a:prstGeom>
          <a:solidFill>
            <a:srgbClr val="1DD7B8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</a:rPr>
              <a:t>~36</a:t>
            </a:r>
            <a:r>
              <a:rPr lang="ko-KR" altLang="en-US" sz="1200" b="1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5FA571-A3EF-0311-10BC-B8E6FC4C09C7}"/>
              </a:ext>
            </a:extLst>
          </p:cNvPr>
          <p:cNvSpPr txBox="1"/>
          <p:nvPr/>
        </p:nvSpPr>
        <p:spPr>
          <a:xfrm>
            <a:off x="1255015" y="2429462"/>
            <a:ext cx="10497360" cy="1049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  <a:buNone/>
            </a:pPr>
            <a:r>
              <a:rPr lang="ko-KR" altLang="en-US" sz="1400" b="1" i="0">
                <a:solidFill>
                  <a:srgbClr val="00D4AA"/>
                </a:solidFill>
                <a:effectLst/>
              </a:rPr>
              <a:t>전략적 </a:t>
            </a:r>
            <a:r>
              <a:rPr lang="en-US" altLang="ko-KR" sz="1400" b="1" i="0">
                <a:solidFill>
                  <a:srgbClr val="00D4AA"/>
                </a:solidFill>
                <a:effectLst/>
              </a:rPr>
              <a:t>M&amp;A</a:t>
            </a:r>
            <a:endParaRPr lang="ko-KR" altLang="en-US" sz="1400" b="1" i="0">
              <a:solidFill>
                <a:srgbClr val="00D4AA"/>
              </a:solidFill>
              <a:effectLst/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자바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/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스프링 보안 시장의 대체 불가능한 표준으로 자리 매김한 후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글로벌 아이덴티티 리더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(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예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: Okta/Auth0)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에게 그들이 놓친 시장을 장악할 기회를 제공하는 전략적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M&amp;A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를 추진 합니다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.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F874C2E-C5B5-C49B-B8FE-10D513626C03}"/>
              </a:ext>
            </a:extLst>
          </p:cNvPr>
          <p:cNvSpPr/>
          <p:nvPr/>
        </p:nvSpPr>
        <p:spPr>
          <a:xfrm>
            <a:off x="1255015" y="5621160"/>
            <a:ext cx="10497360" cy="609998"/>
          </a:xfrm>
          <a:prstGeom prst="roundRect">
            <a:avLst>
              <a:gd name="adj" fmla="val 2827"/>
            </a:avLst>
          </a:prstGeom>
          <a:solidFill>
            <a:schemeClr val="tx2">
              <a:lumMod val="75000"/>
              <a:alpha val="25000"/>
            </a:schemeClr>
          </a:solidFill>
          <a:ln w="12700">
            <a:solidFill>
              <a:schemeClr val="accent1">
                <a:lumMod val="75000"/>
                <a:alpha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580FF-2A43-AAC8-D361-6ECA48C26191}"/>
              </a:ext>
            </a:extLst>
          </p:cNvPr>
          <p:cNvSpPr txBox="1"/>
          <p:nvPr/>
        </p:nvSpPr>
        <p:spPr>
          <a:xfrm>
            <a:off x="1255015" y="5819780"/>
            <a:ext cx="104061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250"/>
              </a:spcAft>
              <a:buNone/>
            </a:pPr>
            <a:r>
              <a:rPr lang="ko-KR" altLang="en-US" sz="1400" b="0" i="1">
                <a:solidFill>
                  <a:srgbClr val="DDE4F0"/>
                </a:solidFill>
                <a:effectLst/>
              </a:rPr>
              <a:t>질문은 </a:t>
            </a:r>
            <a:r>
              <a:rPr lang="en-US" altLang="ko-KR" sz="1400" b="0" i="1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400" b="0" i="1">
                <a:solidFill>
                  <a:srgbClr val="DDE4F0"/>
                </a:solidFill>
                <a:effectLst/>
              </a:rPr>
              <a:t>우리를 인수할 것인가</a:t>
            </a:r>
            <a:r>
              <a:rPr lang="en-US" altLang="ko-KR" sz="1400" b="0" i="1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400" b="0" i="1">
                <a:solidFill>
                  <a:srgbClr val="DDE4F0"/>
                </a:solidFill>
                <a:effectLst/>
              </a:rPr>
              <a:t>가 아니라</a:t>
            </a:r>
            <a:r>
              <a:rPr lang="en-US" altLang="ko-KR" sz="1400" b="0" i="1">
                <a:solidFill>
                  <a:srgbClr val="DDE4F0"/>
                </a:solidFill>
                <a:effectLst/>
              </a:rPr>
              <a:t>, </a:t>
            </a:r>
            <a:r>
              <a:rPr lang="ko-KR" altLang="en-US" sz="1400" b="1" i="1">
                <a:solidFill>
                  <a:srgbClr val="FFD700"/>
                </a:solidFill>
                <a:effectLst/>
              </a:rPr>
              <a:t>당신들의 경쟁사가 우리를 인수하기 전에</a:t>
            </a:r>
            <a:r>
              <a:rPr lang="en-US" altLang="ko-KR" sz="1400" b="1" i="1">
                <a:solidFill>
                  <a:srgbClr val="FFD700"/>
                </a:solidFill>
                <a:effectLst/>
              </a:rPr>
              <a:t> </a:t>
            </a:r>
            <a:r>
              <a:rPr lang="ko-KR" altLang="en-US" sz="1400" b="1" i="1">
                <a:solidFill>
                  <a:srgbClr val="FFD700"/>
                </a:solidFill>
                <a:effectLst/>
              </a:rPr>
              <a:t>당신들이 먼저 움직일 것인가</a:t>
            </a:r>
            <a:r>
              <a:rPr lang="ko-KR" altLang="en-US" sz="1400" b="0" i="1">
                <a:solidFill>
                  <a:srgbClr val="DDE4F0"/>
                </a:solidFill>
                <a:effectLst/>
              </a:rPr>
              <a:t> 입니다</a:t>
            </a:r>
            <a:r>
              <a:rPr lang="en-US" altLang="ko-KR" sz="1400" b="0" i="1">
                <a:solidFill>
                  <a:srgbClr val="DDE4F0"/>
                </a:solidFill>
                <a:effectLst/>
              </a:rPr>
              <a:t>.</a:t>
            </a:r>
            <a:endParaRPr lang="en-US" altLang="ko-KR" sz="1400" b="0" i="0">
              <a:solidFill>
                <a:srgbClr val="DDE4F0"/>
              </a:solidFill>
              <a:effectLst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AAD439-3D91-30AD-B425-0E403EF8C0E4}"/>
              </a:ext>
            </a:extLst>
          </p:cNvPr>
          <p:cNvSpPr/>
          <p:nvPr/>
        </p:nvSpPr>
        <p:spPr>
          <a:xfrm>
            <a:off x="1255015" y="4530009"/>
            <a:ext cx="3188032" cy="9915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모든 개발자가 그 위에서 자유롭게 혁신할 수 있는 개방형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운영 플랫폼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＇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을 제공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2BD86F0-16DB-AFA6-01C7-13B444533D5B}"/>
              </a:ext>
            </a:extLst>
          </p:cNvPr>
          <p:cNvSpPr/>
          <p:nvPr/>
        </p:nvSpPr>
        <p:spPr>
          <a:xfrm>
            <a:off x="4560925" y="4530009"/>
            <a:ext cx="3188032" cy="9915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파편화된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보안 시장을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표준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'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으로 통일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1F3C5B1-F850-DB8B-C7EF-44E2F69195F0}"/>
              </a:ext>
            </a:extLst>
          </p:cNvPr>
          <p:cNvSpPr/>
          <p:nvPr/>
        </p:nvSpPr>
        <p:spPr>
          <a:xfrm>
            <a:off x="7866835" y="4530009"/>
            <a:ext cx="3885540" cy="9915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모든 스프링 개발자가 우리의 생태계 위에서 뛰놀게 만드는 것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49AD48-8CF2-3821-0981-DED8A4441862}"/>
              </a:ext>
            </a:extLst>
          </p:cNvPr>
          <p:cNvSpPr txBox="1"/>
          <p:nvPr/>
        </p:nvSpPr>
        <p:spPr>
          <a:xfrm>
            <a:off x="4976448" y="3982412"/>
            <a:ext cx="23973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1" i="0">
                <a:solidFill>
                  <a:srgbClr val="00D4AA"/>
                </a:solidFill>
                <a:effectLst/>
              </a:rPr>
              <a:t>핵심 가치 제안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7275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DAAA5-6F0F-6A4E-1A52-3F816172E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1EA48A-03E9-AB4D-4882-10B479F207B9}"/>
              </a:ext>
            </a:extLst>
          </p:cNvPr>
          <p:cNvSpPr txBox="1"/>
          <p:nvPr/>
        </p:nvSpPr>
        <p:spPr>
          <a:xfrm>
            <a:off x="197185" y="196018"/>
            <a:ext cx="10013615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정부의 청사진</a:t>
            </a:r>
            <a:r>
              <a:rPr lang="en-US" altLang="ko-KR" sz="3200" b="1" i="0">
                <a:solidFill>
                  <a:srgbClr val="FFFFFF"/>
                </a:solidFill>
                <a:effectLst/>
              </a:rPr>
              <a:t>: </a:t>
            </a:r>
            <a:r>
              <a:rPr lang="ko-KR" altLang="en-US" sz="3200" b="1" i="0">
                <a:solidFill>
                  <a:srgbClr val="FFFFFF"/>
                </a:solidFill>
                <a:effectLst/>
              </a:rPr>
              <a:t>제로 트러스트 </a:t>
            </a:r>
            <a:r>
              <a:rPr lang="en-US" altLang="ko-KR" sz="3200" b="1" i="0">
                <a:solidFill>
                  <a:srgbClr val="FFFFFF"/>
                </a:solidFill>
                <a:effectLst/>
              </a:rPr>
              <a:t>2.0 </a:t>
            </a:r>
            <a:r>
              <a:rPr lang="ko-KR" altLang="en-US" sz="3200" b="1" i="0">
                <a:solidFill>
                  <a:srgbClr val="FFFFFF"/>
                </a:solidFill>
                <a:effectLst/>
              </a:rPr>
              <a:t>의 </a:t>
            </a:r>
            <a:r>
              <a:rPr lang="ko-KR" altLang="en-US" sz="3200" b="1">
                <a:solidFill>
                  <a:srgbClr val="FFFFFF"/>
                </a:solidFill>
              </a:rPr>
              <a:t>선도</a:t>
            </a:r>
            <a:r>
              <a:rPr lang="ko-KR" altLang="en-US" sz="3200" b="1" i="0">
                <a:solidFill>
                  <a:srgbClr val="FFFFFF"/>
                </a:solidFill>
                <a:effectLst/>
              </a:rPr>
              <a:t>적 실행자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246AFC-8786-3D67-4CDE-7F635E0D7ECD}"/>
              </a:ext>
            </a:extLst>
          </p:cNvPr>
          <p:cNvSpPr txBox="1"/>
          <p:nvPr/>
        </p:nvSpPr>
        <p:spPr>
          <a:xfrm>
            <a:off x="302694" y="764043"/>
            <a:ext cx="6338429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0" i="0">
                <a:solidFill>
                  <a:srgbClr val="8B9DC3"/>
                </a:solidFill>
                <a:effectLst/>
              </a:rPr>
              <a:t>KISA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가 제시한 미래 로드맵을 이미 구현한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국내 유일의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AI-Native </a:t>
            </a:r>
            <a:r>
              <a:rPr lang="ko-KR" altLang="en-US" sz="1400">
                <a:solidFill>
                  <a:srgbClr val="8B9DC3"/>
                </a:solidFill>
              </a:rPr>
              <a:t>자율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보안 플랫폼</a:t>
            </a:r>
            <a:endParaRPr lang="ko-KR" altLang="en-US" sz="140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7BE4B71C-1A9C-0030-CCB5-99EB986A13E2}"/>
              </a:ext>
            </a:extLst>
          </p:cNvPr>
          <p:cNvSpPr/>
          <p:nvPr/>
        </p:nvSpPr>
        <p:spPr>
          <a:xfrm>
            <a:off x="302694" y="1320605"/>
            <a:ext cx="11660706" cy="5218281"/>
          </a:xfrm>
          <a:prstGeom prst="roundRect">
            <a:avLst>
              <a:gd name="adj" fmla="val 2827"/>
            </a:avLst>
          </a:prstGeom>
          <a:solidFill>
            <a:schemeClr val="tx2">
              <a:lumMod val="75000"/>
              <a:alpha val="25000"/>
            </a:schemeClr>
          </a:solidFill>
          <a:ln w="12700">
            <a:solidFill>
              <a:schemeClr val="accent5">
                <a:lumMod val="75000"/>
                <a:alpha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2BFDF5-FDE5-5502-0BB0-3B7A61C38942}"/>
              </a:ext>
            </a:extLst>
          </p:cNvPr>
          <p:cNvSpPr txBox="1"/>
          <p:nvPr/>
        </p:nvSpPr>
        <p:spPr>
          <a:xfrm>
            <a:off x="439615" y="1437894"/>
            <a:ext cx="3338214" cy="338554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1600" b="1" i="0">
                <a:solidFill>
                  <a:srgbClr val="1DD7B8"/>
                </a:solidFill>
                <a:effectLst/>
              </a:rPr>
              <a:t>정책과의 완벽한 </a:t>
            </a:r>
            <a:r>
              <a:rPr lang="en-US" altLang="ko-KR" sz="1600" b="1" i="0">
                <a:solidFill>
                  <a:srgbClr val="1DD7B8"/>
                </a:solidFill>
                <a:effectLst/>
              </a:rPr>
              <a:t>Alignment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D5D402-3930-56EE-1B86-FE6551FD09CC}"/>
              </a:ext>
            </a:extLst>
          </p:cNvPr>
          <p:cNvSpPr txBox="1"/>
          <p:nvPr/>
        </p:nvSpPr>
        <p:spPr>
          <a:xfrm>
            <a:off x="1154278" y="1981619"/>
            <a:ext cx="10269855" cy="4088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375"/>
              </a:spcAft>
              <a:buNone/>
            </a:pPr>
            <a:r>
              <a:rPr lang="ko-KR" altLang="en-US" sz="1400" i="0">
                <a:solidFill>
                  <a:srgbClr val="00D4AA"/>
                </a:solidFill>
                <a:effectLst/>
                <a:latin typeface="Pretendard"/>
              </a:rPr>
              <a:t>정부의 목표</a:t>
            </a:r>
            <a:r>
              <a:rPr lang="en-US" altLang="ko-KR" sz="1400" i="0">
                <a:solidFill>
                  <a:srgbClr val="00D4AA"/>
                </a:solidFill>
                <a:effectLst/>
                <a:latin typeface="Pretendard"/>
              </a:rPr>
              <a:t>: AI </a:t>
            </a:r>
            <a:r>
              <a:rPr lang="ko-KR" altLang="en-US" sz="1400" i="0">
                <a:solidFill>
                  <a:srgbClr val="00D4AA"/>
                </a:solidFill>
                <a:effectLst/>
                <a:latin typeface="Pretendard"/>
              </a:rPr>
              <a:t>기반 </a:t>
            </a:r>
            <a:r>
              <a:rPr lang="en-US" altLang="ko-KR" sz="1400" i="0">
                <a:solidFill>
                  <a:srgbClr val="00D4AA"/>
                </a:solidFill>
                <a:effectLst/>
                <a:latin typeface="Pretendard"/>
              </a:rPr>
              <a:t>'</a:t>
            </a:r>
            <a:r>
              <a:rPr lang="ko-KR" altLang="en-US" sz="1400" i="0">
                <a:solidFill>
                  <a:srgbClr val="00D4AA"/>
                </a:solidFill>
                <a:effectLst/>
                <a:latin typeface="Pretendard"/>
              </a:rPr>
              <a:t>최적</a:t>
            </a:r>
            <a:r>
              <a:rPr lang="en-US" altLang="ko-KR" sz="1400" i="0">
                <a:solidFill>
                  <a:srgbClr val="00D4AA"/>
                </a:solidFill>
                <a:effectLst/>
                <a:latin typeface="Pretendard"/>
              </a:rPr>
              <a:t>(Optimal)' </a:t>
            </a:r>
            <a:r>
              <a:rPr lang="ko-KR" altLang="en-US" sz="1400" i="0">
                <a:solidFill>
                  <a:srgbClr val="00D4AA"/>
                </a:solidFill>
                <a:effectLst/>
                <a:latin typeface="Pretendard"/>
              </a:rPr>
              <a:t>단계</a:t>
            </a:r>
          </a:p>
          <a:p>
            <a:pPr algn="l">
              <a:lnSpc>
                <a:spcPct val="150000"/>
              </a:lnSpc>
              <a:spcAft>
                <a:spcPts val="1875"/>
              </a:spcAft>
              <a:buNone/>
            </a:pPr>
            <a:r>
              <a:rPr lang="en-US" altLang="ko-KR" sz="1200" b="0" i="0">
                <a:solidFill>
                  <a:srgbClr val="8B9DC3"/>
                </a:solidFill>
                <a:effectLst/>
              </a:rPr>
              <a:t>2024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년 발표된 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KISA '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제로 트러스트 가이드라인 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2.0'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은 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AI/ML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기반의 동적 신뢰 평가와 자동화된 위협 대응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(SOAR),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그리고 지속적인 학습 루프를 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최적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(Optimal)'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성숙도 단계의 핵심 요구사항으로 정의했습니다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. 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이는 대한민국 사이버 보안이 나아갈 명확한 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청사진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8B9DC3"/>
                </a:solidFill>
                <a:effectLst/>
              </a:rPr>
              <a:t>을 제시한 것입니다</a:t>
            </a:r>
            <a:r>
              <a:rPr lang="en-US" altLang="ko-KR" sz="1200" b="0" i="0">
                <a:solidFill>
                  <a:srgbClr val="8B9DC3"/>
                </a:solidFill>
                <a:effectLst/>
              </a:rPr>
              <a:t>.</a:t>
            </a:r>
            <a:br>
              <a:rPr lang="en-US" altLang="ko-KR" sz="1200" b="0" i="0">
                <a:solidFill>
                  <a:srgbClr val="8B9DC3"/>
                </a:solidFill>
                <a:effectLst/>
              </a:rPr>
            </a:br>
            <a:endParaRPr lang="en-US" altLang="ko-KR" sz="1200">
              <a:solidFill>
                <a:srgbClr val="8B9DC3"/>
              </a:solidFill>
              <a:latin typeface="Pretendard"/>
            </a:endParaRPr>
          </a:p>
          <a:p>
            <a:pPr algn="l">
              <a:lnSpc>
                <a:spcPct val="150000"/>
              </a:lnSpc>
              <a:spcAft>
                <a:spcPts val="1875"/>
              </a:spcAft>
              <a:buNone/>
            </a:pPr>
            <a:endParaRPr lang="ko-KR" altLang="en-US" sz="1200" b="0" i="0">
              <a:solidFill>
                <a:srgbClr val="8B9DC3"/>
              </a:solidFill>
              <a:effectLst/>
              <a:latin typeface="Pretendard"/>
            </a:endParaRPr>
          </a:p>
          <a:p>
            <a:pPr algn="l">
              <a:lnSpc>
                <a:spcPct val="150000"/>
              </a:lnSpc>
              <a:spcAft>
                <a:spcPts val="1875"/>
              </a:spcAft>
              <a:buNone/>
            </a:pPr>
            <a:br>
              <a:rPr lang="en-US" altLang="ko-KR" sz="1200" b="0" i="0">
                <a:solidFill>
                  <a:srgbClr val="8B9DC3"/>
                </a:solidFill>
                <a:effectLst/>
              </a:rPr>
            </a:br>
            <a:endParaRPr lang="en-US" altLang="ko-KR" sz="1200">
              <a:solidFill>
                <a:srgbClr val="8B9DC3"/>
              </a:solidFill>
            </a:endParaRPr>
          </a:p>
          <a:p>
            <a:pPr>
              <a:lnSpc>
                <a:spcPct val="150000"/>
              </a:lnSpc>
              <a:spcAft>
                <a:spcPts val="375"/>
              </a:spcAft>
            </a:pPr>
            <a:br>
              <a:rPr lang="en-US" altLang="ko-KR" sz="1400">
                <a:solidFill>
                  <a:srgbClr val="00D4AA"/>
                </a:solidFill>
                <a:latin typeface="Pretendard"/>
              </a:rPr>
            </a:br>
            <a:r>
              <a:rPr lang="en-US" altLang="ko-KR" sz="1400">
                <a:solidFill>
                  <a:srgbClr val="00D4AA"/>
                </a:solidFill>
                <a:latin typeface="Pretendard"/>
              </a:rPr>
              <a:t>Contexa </a:t>
            </a:r>
            <a:r>
              <a:rPr lang="ko-KR" altLang="en-US" sz="1400">
                <a:solidFill>
                  <a:srgbClr val="00D4AA"/>
                </a:solidFill>
                <a:latin typeface="Pretendard"/>
              </a:rPr>
              <a:t>의 현재</a:t>
            </a:r>
            <a:r>
              <a:rPr lang="en-US" altLang="ko-KR" sz="1400">
                <a:solidFill>
                  <a:srgbClr val="00D4AA"/>
                </a:solidFill>
                <a:latin typeface="Pretendard"/>
              </a:rPr>
              <a:t>: '</a:t>
            </a:r>
            <a:r>
              <a:rPr lang="ko-KR" altLang="en-US" sz="1400">
                <a:solidFill>
                  <a:srgbClr val="00D4AA"/>
                </a:solidFill>
                <a:latin typeface="Pretendard"/>
              </a:rPr>
              <a:t>자율</a:t>
            </a:r>
            <a:r>
              <a:rPr lang="en-US" altLang="ko-KR" sz="1400">
                <a:solidFill>
                  <a:srgbClr val="00D4AA"/>
                </a:solidFill>
                <a:latin typeface="Pretendard"/>
              </a:rPr>
              <a:t>(Autonomous)' </a:t>
            </a:r>
            <a:r>
              <a:rPr lang="ko-KR" altLang="en-US" sz="1400">
                <a:solidFill>
                  <a:srgbClr val="00D4AA"/>
                </a:solidFill>
                <a:latin typeface="Pretendard"/>
              </a:rPr>
              <a:t>단계 아키텍처</a:t>
            </a:r>
          </a:p>
          <a:p>
            <a:pPr>
              <a:lnSpc>
                <a:spcPct val="150000"/>
              </a:lnSpc>
              <a:spcAft>
                <a:spcPts val="1875"/>
              </a:spcAft>
            </a:pPr>
            <a:r>
              <a:rPr lang="ko-KR" altLang="en-US" sz="1200">
                <a:solidFill>
                  <a:srgbClr val="8B9DC3"/>
                </a:solidFill>
              </a:rPr>
              <a:t>저희 플랫폼은 정부가 제시한 </a:t>
            </a:r>
            <a:r>
              <a:rPr lang="en-US" altLang="ko-KR" sz="1200">
                <a:solidFill>
                  <a:srgbClr val="8B9DC3"/>
                </a:solidFill>
              </a:rPr>
              <a:t>'</a:t>
            </a:r>
            <a:r>
              <a:rPr lang="ko-KR" altLang="en-US" sz="1200">
                <a:solidFill>
                  <a:srgbClr val="8B9DC3"/>
                </a:solidFill>
              </a:rPr>
              <a:t>최적</a:t>
            </a:r>
            <a:r>
              <a:rPr lang="en-US" altLang="ko-KR" sz="1200">
                <a:solidFill>
                  <a:srgbClr val="8B9DC3"/>
                </a:solidFill>
              </a:rPr>
              <a:t>' </a:t>
            </a:r>
            <a:r>
              <a:rPr lang="ko-KR" altLang="en-US" sz="1200">
                <a:solidFill>
                  <a:srgbClr val="8B9DC3"/>
                </a:solidFill>
              </a:rPr>
              <a:t>단계를 이미 뛰어넘어</a:t>
            </a:r>
            <a:r>
              <a:rPr lang="en-US" altLang="ko-KR" sz="1200">
                <a:solidFill>
                  <a:srgbClr val="8B9DC3"/>
                </a:solidFill>
              </a:rPr>
              <a:t>, </a:t>
            </a:r>
            <a:r>
              <a:rPr lang="ko-KR" altLang="en-US" sz="1200">
                <a:solidFill>
                  <a:srgbClr val="8B9DC3"/>
                </a:solidFill>
              </a:rPr>
              <a:t>스스로 학습하고 정책을 진화시키는 </a:t>
            </a:r>
            <a:r>
              <a:rPr lang="en-US" altLang="ko-KR" sz="1200">
                <a:solidFill>
                  <a:srgbClr val="8B9DC3"/>
                </a:solidFill>
              </a:rPr>
              <a:t>'</a:t>
            </a:r>
            <a:r>
              <a:rPr lang="ko-KR" altLang="en-US" sz="1200">
                <a:solidFill>
                  <a:srgbClr val="8B9DC3"/>
                </a:solidFill>
              </a:rPr>
              <a:t>자율</a:t>
            </a:r>
            <a:r>
              <a:rPr lang="en-US" altLang="ko-KR" sz="1200">
                <a:solidFill>
                  <a:srgbClr val="8B9DC3"/>
                </a:solidFill>
              </a:rPr>
              <a:t>(Autonomous)' </a:t>
            </a:r>
            <a:r>
              <a:rPr lang="ko-KR" altLang="en-US" sz="1200">
                <a:solidFill>
                  <a:srgbClr val="8B9DC3"/>
                </a:solidFill>
              </a:rPr>
              <a:t>단계를  </a:t>
            </a:r>
            <a:r>
              <a:rPr lang="en-US" altLang="ko-KR" sz="1200">
                <a:solidFill>
                  <a:srgbClr val="8B9DC3"/>
                </a:solidFill>
              </a:rPr>
              <a:t>PoC </a:t>
            </a:r>
            <a:r>
              <a:rPr lang="ko-KR" altLang="en-US" sz="1200">
                <a:solidFill>
                  <a:srgbClr val="8B9DC3"/>
                </a:solidFill>
              </a:rPr>
              <a:t>로 구현했습니다</a:t>
            </a:r>
            <a:r>
              <a:rPr lang="en-US" altLang="ko-KR" sz="1200">
                <a:solidFill>
                  <a:srgbClr val="8B9DC3"/>
                </a:solidFill>
              </a:rPr>
              <a:t>.</a:t>
            </a:r>
            <a:br>
              <a:rPr lang="en-US" altLang="ko-KR" sz="1200">
                <a:solidFill>
                  <a:srgbClr val="8B9DC3"/>
                </a:solidFill>
              </a:rPr>
            </a:br>
            <a:r>
              <a:rPr lang="en-US" altLang="ko-KR" sz="1200">
                <a:solidFill>
                  <a:srgbClr val="8B9DC3"/>
                </a:solidFill>
              </a:rPr>
              <a:t>KISA</a:t>
            </a:r>
            <a:r>
              <a:rPr lang="ko-KR" altLang="en-US" sz="1200">
                <a:solidFill>
                  <a:srgbClr val="8B9DC3"/>
                </a:solidFill>
              </a:rPr>
              <a:t>의 청사진은 저희에게 미래 과제가 아닌</a:t>
            </a:r>
            <a:r>
              <a:rPr lang="en-US" altLang="ko-KR" sz="1200">
                <a:solidFill>
                  <a:srgbClr val="8B9DC3"/>
                </a:solidFill>
              </a:rPr>
              <a:t> </a:t>
            </a:r>
            <a:r>
              <a:rPr lang="ko-KR" altLang="en-US" sz="1200">
                <a:solidFill>
                  <a:srgbClr val="8B9DC3"/>
                </a:solidFill>
              </a:rPr>
              <a:t>이미 진행 된 </a:t>
            </a:r>
            <a:r>
              <a:rPr lang="en-US" altLang="ko-KR" sz="1200">
                <a:solidFill>
                  <a:srgbClr val="8B9DC3"/>
                </a:solidFill>
              </a:rPr>
              <a:t>'</a:t>
            </a:r>
            <a:r>
              <a:rPr lang="ko-KR" altLang="en-US" sz="1200">
                <a:solidFill>
                  <a:srgbClr val="8B9DC3"/>
                </a:solidFill>
              </a:rPr>
              <a:t>현재</a:t>
            </a:r>
            <a:r>
              <a:rPr lang="en-US" altLang="ko-KR" sz="1200">
                <a:solidFill>
                  <a:srgbClr val="8B9DC3"/>
                </a:solidFill>
              </a:rPr>
              <a:t>’ </a:t>
            </a:r>
            <a:r>
              <a:rPr lang="ko-KR" altLang="en-US" sz="1200">
                <a:solidFill>
                  <a:srgbClr val="8B9DC3"/>
                </a:solidFill>
              </a:rPr>
              <a:t>입니다</a:t>
            </a:r>
            <a:r>
              <a:rPr lang="en-US" altLang="ko-KR" sz="1200">
                <a:solidFill>
                  <a:srgbClr val="8B9DC3"/>
                </a:solidFill>
              </a:rPr>
              <a:t>.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93863938-2BA1-9AB6-4DF0-19A35AB69B61}"/>
              </a:ext>
            </a:extLst>
          </p:cNvPr>
          <p:cNvSpPr/>
          <p:nvPr/>
        </p:nvSpPr>
        <p:spPr>
          <a:xfrm>
            <a:off x="470231" y="2024920"/>
            <a:ext cx="527050" cy="527050"/>
          </a:xfrm>
          <a:prstGeom prst="ellipse">
            <a:avLst/>
          </a:prstGeom>
          <a:solidFill>
            <a:srgbClr val="1DD7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1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8C607E0-579C-2EF4-B914-199683E8C319}"/>
              </a:ext>
            </a:extLst>
          </p:cNvPr>
          <p:cNvSpPr/>
          <p:nvPr/>
        </p:nvSpPr>
        <p:spPr>
          <a:xfrm>
            <a:off x="1260870" y="3099793"/>
            <a:ext cx="2379139" cy="4518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AI/ML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기반 동적 위험 평가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79ECD9E-768A-D026-B8F4-628E3C1ED8FA}"/>
              </a:ext>
            </a:extLst>
          </p:cNvPr>
          <p:cNvSpPr/>
          <p:nvPr/>
        </p:nvSpPr>
        <p:spPr>
          <a:xfrm>
            <a:off x="4721868" y="3099790"/>
            <a:ext cx="2379139" cy="4518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자동화된 위협 분석 및 대응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48C6C5D-EB62-1076-ED2B-4441364E1277}"/>
              </a:ext>
            </a:extLst>
          </p:cNvPr>
          <p:cNvSpPr/>
          <p:nvPr/>
        </p:nvSpPr>
        <p:spPr>
          <a:xfrm>
            <a:off x="8752802" y="3099793"/>
            <a:ext cx="2379139" cy="4518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지속적인 모니터링 및 학습 루프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DF7AF4C-890C-B9D6-923C-3AED4C320DC2}"/>
              </a:ext>
            </a:extLst>
          </p:cNvPr>
          <p:cNvSpPr/>
          <p:nvPr/>
        </p:nvSpPr>
        <p:spPr>
          <a:xfrm>
            <a:off x="853704" y="4208914"/>
            <a:ext cx="3193469" cy="451887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HCADFilter &amp; ColdPath 3-Tier AI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분석 엔진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2978595-E4C6-E9DD-F0D3-732DDBBE8666}"/>
              </a:ext>
            </a:extLst>
          </p:cNvPr>
          <p:cNvSpPr/>
          <p:nvPr/>
        </p:nvSpPr>
        <p:spPr>
          <a:xfrm>
            <a:off x="4276391" y="4208912"/>
            <a:ext cx="3270092" cy="451887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AI SOAR &amp; Human-in-the-Loop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승인 시스템</a:t>
            </a:r>
            <a:endParaRPr lang="en-US" altLang="ko-KR" sz="1200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9D3E79-47C0-FB01-384D-0845EFA00DD4}"/>
              </a:ext>
            </a:extLst>
          </p:cNvPr>
          <p:cNvSpPr/>
          <p:nvPr/>
        </p:nvSpPr>
        <p:spPr>
          <a:xfrm>
            <a:off x="7775701" y="4208913"/>
            <a:ext cx="4059699" cy="451887"/>
          </a:xfrm>
          <a:prstGeom prst="rect">
            <a:avLst/>
          </a:prstGeom>
          <a:solidFill>
            <a:srgbClr val="1DD7B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24/7 </a:t>
            </a:r>
            <a:r>
              <a:rPr lang="ko-KR" altLang="en-US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자율 보안 에이전트 </a:t>
            </a:r>
            <a:r>
              <a:rPr lang="en-US" altLang="ko-KR" sz="1200" b="1">
                <a:solidFill>
                  <a:schemeClr val="tx1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</a:rPr>
              <a:t>&amp; Autonomous Evolution Engine</a:t>
            </a:r>
            <a:endParaRPr lang="ko-KR" altLang="en-US" sz="1200" b="1">
              <a:solidFill>
                <a:schemeClr val="tx1"/>
              </a:solidFill>
              <a:latin typeface="나눔바른고딕OTF" panose="02020603020101020101" pitchFamily="18" charset="-127"/>
              <a:ea typeface="나눔바른고딕OTF" panose="02020603020101020101" pitchFamily="18" charset="-127"/>
            </a:endParaRPr>
          </a:p>
        </p:txBody>
      </p:sp>
      <p:sp>
        <p:nvSpPr>
          <p:cNvPr id="28" name="화살표: 아래쪽 27">
            <a:extLst>
              <a:ext uri="{FF2B5EF4-FFF2-40B4-BE49-F238E27FC236}">
                <a16:creationId xmlns:a16="http://schemas.microsoft.com/office/drawing/2014/main" id="{BB3B01D7-AB63-6AC5-F148-BE59285958F9}"/>
              </a:ext>
            </a:extLst>
          </p:cNvPr>
          <p:cNvSpPr/>
          <p:nvPr/>
        </p:nvSpPr>
        <p:spPr>
          <a:xfrm>
            <a:off x="2306830" y="3718454"/>
            <a:ext cx="287216" cy="387410"/>
          </a:xfrm>
          <a:prstGeom prst="downArrow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2C43C543-BC30-9033-255A-FD0580A666A8}"/>
              </a:ext>
            </a:extLst>
          </p:cNvPr>
          <p:cNvSpPr/>
          <p:nvPr/>
        </p:nvSpPr>
        <p:spPr>
          <a:xfrm>
            <a:off x="5767829" y="3718452"/>
            <a:ext cx="287216" cy="387410"/>
          </a:xfrm>
          <a:prstGeom prst="downArrow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아래쪽 31">
            <a:extLst>
              <a:ext uri="{FF2B5EF4-FFF2-40B4-BE49-F238E27FC236}">
                <a16:creationId xmlns:a16="http://schemas.microsoft.com/office/drawing/2014/main" id="{CEA1BF0E-977C-A318-07DC-1C65B880BE67}"/>
              </a:ext>
            </a:extLst>
          </p:cNvPr>
          <p:cNvSpPr/>
          <p:nvPr/>
        </p:nvSpPr>
        <p:spPr>
          <a:xfrm>
            <a:off x="9798763" y="3716013"/>
            <a:ext cx="287216" cy="387410"/>
          </a:xfrm>
          <a:prstGeom prst="downArrow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B8C01F8-223A-EDAB-25E1-EB0F412BAAE2}"/>
              </a:ext>
            </a:extLst>
          </p:cNvPr>
          <p:cNvSpPr/>
          <p:nvPr/>
        </p:nvSpPr>
        <p:spPr>
          <a:xfrm>
            <a:off x="470231" y="5054509"/>
            <a:ext cx="527050" cy="527050"/>
          </a:xfrm>
          <a:prstGeom prst="ellipse">
            <a:avLst/>
          </a:prstGeom>
          <a:solidFill>
            <a:srgbClr val="1DD7B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</a:rPr>
              <a:t>2</a:t>
            </a:r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5530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C9E0E-4DA2-2C12-FF98-D4FE59ED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CEB8EFB-681A-108A-C209-122C832B11AE}"/>
              </a:ext>
            </a:extLst>
          </p:cNvPr>
          <p:cNvSpPr txBox="1"/>
          <p:nvPr/>
        </p:nvSpPr>
        <p:spPr>
          <a:xfrm>
            <a:off x="197186" y="196018"/>
            <a:ext cx="2088814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팀 구성</a:t>
            </a:r>
            <a:endParaRPr lang="en-US" altLang="ko-KR" sz="3200" b="1" i="0">
              <a:solidFill>
                <a:srgbClr val="FFFFFF"/>
              </a:solidFill>
              <a:effectLst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51978B-CEBD-7754-0D2B-20B9E630BA7A}"/>
              </a:ext>
            </a:extLst>
          </p:cNvPr>
          <p:cNvSpPr txBox="1"/>
          <p:nvPr/>
        </p:nvSpPr>
        <p:spPr>
          <a:xfrm>
            <a:off x="197187" y="773473"/>
            <a:ext cx="4093460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0" i="0">
                <a:solidFill>
                  <a:srgbClr val="8B9DC3"/>
                </a:solidFill>
                <a:effectLst/>
              </a:rPr>
              <a:t>검증된 리더를 중심으로 한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 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핵심 정예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팀 구성 계획</a:t>
            </a:r>
            <a:endParaRPr lang="ko-KR" altLang="en-US" sz="1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D01AE4D-2A5D-EE29-8F2C-F821E58C4212}"/>
              </a:ext>
            </a:extLst>
          </p:cNvPr>
          <p:cNvSpPr/>
          <p:nvPr/>
        </p:nvSpPr>
        <p:spPr>
          <a:xfrm>
            <a:off x="969194" y="1467322"/>
            <a:ext cx="4822008" cy="2922973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EB72CBF-2333-0555-BEE7-1A3C2B93D6B2}"/>
              </a:ext>
            </a:extLst>
          </p:cNvPr>
          <p:cNvSpPr/>
          <p:nvPr/>
        </p:nvSpPr>
        <p:spPr>
          <a:xfrm>
            <a:off x="6150794" y="1476930"/>
            <a:ext cx="4822008" cy="2913365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6E6C050-CF72-10FD-2CFD-47392B6DA65B}"/>
              </a:ext>
            </a:extLst>
          </p:cNvPr>
          <p:cNvSpPr txBox="1"/>
          <p:nvPr/>
        </p:nvSpPr>
        <p:spPr>
          <a:xfrm>
            <a:off x="1467430" y="4801954"/>
            <a:ext cx="9581570" cy="165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500"/>
              </a:spcAft>
              <a:buNone/>
            </a:pPr>
            <a:r>
              <a:rPr lang="en-US" altLang="ko-KR" sz="1600" b="1" i="0">
                <a:solidFill>
                  <a:srgbClr val="FFFF00"/>
                </a:solidFill>
                <a:effectLst/>
              </a:rPr>
              <a:t>'</a:t>
            </a:r>
            <a:r>
              <a:rPr lang="ko-KR" altLang="en-US" sz="1600" b="1" i="0">
                <a:solidFill>
                  <a:srgbClr val="FFFF00"/>
                </a:solidFill>
                <a:effectLst/>
              </a:rPr>
              <a:t>검증된 설계자</a:t>
            </a:r>
            <a:r>
              <a:rPr lang="en-US" altLang="ko-KR" sz="1600" b="1" i="0">
                <a:solidFill>
                  <a:srgbClr val="FFFF00"/>
                </a:solidFill>
                <a:effectLst/>
              </a:rPr>
              <a:t>, </a:t>
            </a:r>
            <a:r>
              <a:rPr lang="ko-KR" altLang="en-US" sz="1600" b="1" i="0">
                <a:solidFill>
                  <a:srgbClr val="FFFF00"/>
                </a:solidFill>
                <a:effectLst/>
              </a:rPr>
              <a:t>준비된 리더</a:t>
            </a:r>
            <a:r>
              <a:rPr lang="en-US" altLang="ko-KR" sz="1600" b="1" i="0">
                <a:solidFill>
                  <a:srgbClr val="FFFF00"/>
                </a:solidFill>
                <a:effectLst/>
              </a:rPr>
              <a:t>'</a:t>
            </a:r>
          </a:p>
          <a:p>
            <a:pPr algn="l">
              <a:lnSpc>
                <a:spcPct val="150000"/>
              </a:lnSpc>
              <a:spcAft>
                <a:spcPts val="1500"/>
              </a:spcAft>
              <a:buNone/>
            </a:pPr>
            <a:r>
              <a:rPr lang="en-US" altLang="ko-KR" sz="1200" b="0" i="0">
                <a:solidFill>
                  <a:srgbClr val="DDE4F0"/>
                </a:solidFill>
                <a:effectLst/>
              </a:rPr>
              <a:t>"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저는 지난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5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개월간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'AI-Native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자율 보안 플랫폼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이라는 완벽한 청사진과 핵심 엔진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(PoC)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을 완성했습니다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. </a:t>
            </a:r>
          </a:p>
          <a:p>
            <a:pPr algn="l">
              <a:lnSpc>
                <a:spcPct val="150000"/>
              </a:lnSpc>
              <a:spcAft>
                <a:spcPts val="1500"/>
              </a:spcAft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이는 </a:t>
            </a:r>
            <a:r>
              <a:rPr lang="ko-KR" altLang="en-US" sz="1200" b="1" i="0">
                <a:solidFill>
                  <a:srgbClr val="1DD7B8"/>
                </a:solidFill>
                <a:effectLst/>
              </a:rPr>
              <a:t>스프링 시큐리티의 가장 깊은 내부 구조를 재설계할 수 있는 국내 유일의 기술력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과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그 복잡한 기술을 </a:t>
            </a:r>
            <a:r>
              <a:rPr lang="ko-KR" altLang="en-US" sz="1200" b="1" i="0">
                <a:solidFill>
                  <a:srgbClr val="1DD7B8"/>
                </a:solidFill>
                <a:effectLst/>
              </a:rPr>
              <a:t>수천 명의 개발자에게 가장 쉽게 설명하고 전파할 수 있는 독보적인 커뮤니케이션 능력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을 동시에 갖춘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이 프로젝트를 위한 단 한 사람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(The One)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이 바로 저 자신임을 증명하는 것입니다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."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528D7EE-2C79-ED7F-C5F0-31624A92108E}"/>
              </a:ext>
            </a:extLst>
          </p:cNvPr>
          <p:cNvSpPr/>
          <p:nvPr/>
        </p:nvSpPr>
        <p:spPr>
          <a:xfrm>
            <a:off x="1045399" y="1517964"/>
            <a:ext cx="4675462" cy="445657"/>
          </a:xfrm>
          <a:prstGeom prst="roundRect">
            <a:avLst>
              <a:gd name="adj" fmla="val 46918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72528A-FB6C-B086-6D92-86E37C0B2329}"/>
              </a:ext>
            </a:extLst>
          </p:cNvPr>
          <p:cNvSpPr txBox="1"/>
          <p:nvPr/>
        </p:nvSpPr>
        <p:spPr>
          <a:xfrm>
            <a:off x="969193" y="1502676"/>
            <a:ext cx="4822005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200" b="1" i="0">
                <a:solidFill>
                  <a:srgbClr val="00D4AA"/>
                </a:solidFill>
                <a:effectLst/>
              </a:rPr>
              <a:t>                                </a:t>
            </a:r>
            <a:r>
              <a:rPr lang="ko-KR" altLang="en-US" sz="1400" b="1" i="0">
                <a:solidFill>
                  <a:srgbClr val="00D4AA"/>
                </a:solidFill>
                <a:effectLst/>
              </a:rPr>
              <a:t>정수원 </a:t>
            </a:r>
            <a:r>
              <a:rPr lang="en-US" altLang="ko-KR" sz="1400" b="1" i="0">
                <a:solidFill>
                  <a:srgbClr val="00D4AA"/>
                </a:solidFill>
                <a:effectLst/>
              </a:rPr>
              <a:t>(Founder &amp; Chief Architect)</a:t>
            </a:r>
          </a:p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ko-KR" altLang="en-US" sz="1200" b="1">
                <a:solidFill>
                  <a:srgbClr val="FF6B6B"/>
                </a:solidFill>
              </a:rPr>
              <a:t>창업자 </a:t>
            </a:r>
            <a:r>
              <a:rPr lang="en-US" altLang="ko-KR" sz="1200" b="1">
                <a:solidFill>
                  <a:srgbClr val="FF6B6B"/>
                </a:solidFill>
              </a:rPr>
              <a:t>&amp; </a:t>
            </a:r>
            <a:r>
              <a:rPr lang="ko-KR" altLang="en-US" sz="1200" b="1">
                <a:solidFill>
                  <a:srgbClr val="FF6B6B"/>
                </a:solidFill>
              </a:rPr>
              <a:t>기술 총괄</a:t>
            </a:r>
            <a:endParaRPr lang="en-US" altLang="ko-KR" sz="1200" b="1">
              <a:solidFill>
                <a:srgbClr val="FF6B6B"/>
              </a:solidFill>
            </a:endParaRPr>
          </a:p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ko-KR" altLang="en-US" sz="1400" b="1" i="0">
                <a:solidFill>
                  <a:srgbClr val="DDE4F0"/>
                </a:solidFill>
                <a:effectLst/>
              </a:rPr>
              <a:t>검증된 기술 리더십</a:t>
            </a:r>
            <a:br>
              <a:rPr lang="en-US" altLang="ko-KR" sz="1200" b="1" i="0">
                <a:solidFill>
                  <a:srgbClr val="DDE4F0"/>
                </a:solidFill>
                <a:effectLst/>
              </a:rPr>
            </a:br>
            <a:r>
              <a:rPr lang="ko-KR" altLang="en-US" sz="1200" i="0">
                <a:solidFill>
                  <a:srgbClr val="DDE4F0"/>
                </a:solidFill>
                <a:effectLst/>
              </a:rPr>
              <a:t>개발 경력 </a:t>
            </a:r>
            <a:r>
              <a:rPr lang="en-US" altLang="ko-KR" sz="1200">
                <a:solidFill>
                  <a:srgbClr val="DDE4F0"/>
                </a:solidFill>
              </a:rPr>
              <a:t>25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년인 인프런 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스프링 시큐리티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'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분야 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1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위 강사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. </a:t>
            </a:r>
            <a:br>
              <a:rPr lang="en-US" altLang="ko-KR" sz="1200" i="0">
                <a:solidFill>
                  <a:srgbClr val="DDE4F0"/>
                </a:solidFill>
                <a:effectLst/>
              </a:rPr>
            </a:br>
            <a:r>
              <a:rPr lang="ko-KR" altLang="en-US" sz="1200" i="0">
                <a:solidFill>
                  <a:srgbClr val="DDE4F0"/>
                </a:solidFill>
                <a:effectLst/>
              </a:rPr>
              <a:t>이미 수천 명의 개발자 커뮤니티를 이끌고 있는 검증된 리더입니다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.</a:t>
            </a:r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400" b="1" i="0">
                <a:solidFill>
                  <a:srgbClr val="DDE4F0"/>
                </a:solidFill>
                <a:effectLst/>
              </a:rPr>
              <a:t>압도적인 실행력</a:t>
            </a:r>
            <a:br>
              <a:rPr lang="en-US" altLang="ko-KR" sz="1400" b="1" i="0">
                <a:solidFill>
                  <a:srgbClr val="DDE4F0"/>
                </a:solidFill>
                <a:effectLst/>
              </a:rPr>
            </a:br>
            <a:r>
              <a:rPr lang="en-US" altLang="ko-KR" sz="120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자율 보안 운영 체제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라는 혁신적인 아키텍처를 직접 설계하고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핵심 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PoC </a:t>
            </a:r>
            <a:r>
              <a:rPr lang="ko-KR" altLang="en-US" sz="1200" i="0">
                <a:solidFill>
                  <a:srgbClr val="DDE4F0"/>
                </a:solidFill>
                <a:effectLst/>
              </a:rPr>
              <a:t>를 구현해 낸 압도적인 실행력을 보유하고 있습니다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.</a:t>
            </a:r>
            <a:endParaRPr lang="ko-KR" altLang="en-US" sz="1200" i="0">
              <a:solidFill>
                <a:srgbClr val="DDE4F0"/>
              </a:solidFill>
              <a:effectLst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28A8DCE8-EC00-0881-2F69-D76145434D3B}"/>
              </a:ext>
            </a:extLst>
          </p:cNvPr>
          <p:cNvSpPr/>
          <p:nvPr/>
        </p:nvSpPr>
        <p:spPr>
          <a:xfrm>
            <a:off x="6213230" y="1535552"/>
            <a:ext cx="4671651" cy="445657"/>
          </a:xfrm>
          <a:prstGeom prst="roundRect">
            <a:avLst>
              <a:gd name="adj" fmla="val 46918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38D566-CE98-650D-4E7E-240FD46F1F5A}"/>
              </a:ext>
            </a:extLst>
          </p:cNvPr>
          <p:cNvSpPr txBox="1"/>
          <p:nvPr/>
        </p:nvSpPr>
        <p:spPr>
          <a:xfrm>
            <a:off x="6150793" y="1524008"/>
            <a:ext cx="4822005" cy="1828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ko-KR" altLang="en-US" sz="1200" b="1" i="0">
                <a:solidFill>
                  <a:srgbClr val="00D4AA"/>
                </a:solidFill>
                <a:effectLst/>
              </a:rPr>
              <a:t>                                         </a:t>
            </a:r>
            <a:r>
              <a:rPr lang="ko-KR" altLang="en-US" sz="1400" b="1" i="0">
                <a:solidFill>
                  <a:srgbClr val="00D4AA"/>
                </a:solidFill>
                <a:effectLst/>
              </a:rPr>
              <a:t>자문</a:t>
            </a:r>
            <a:r>
              <a:rPr lang="en-US" altLang="ko-KR" sz="1400" b="1" i="0">
                <a:solidFill>
                  <a:srgbClr val="00D4AA"/>
                </a:solidFill>
                <a:effectLst/>
              </a:rPr>
              <a:t>: </a:t>
            </a:r>
            <a:r>
              <a:rPr lang="ko-KR" altLang="en-US" sz="1400" b="1" i="0">
                <a:solidFill>
                  <a:srgbClr val="00D4AA"/>
                </a:solidFill>
                <a:effectLst/>
              </a:rPr>
              <a:t>이승준 </a:t>
            </a:r>
            <a:r>
              <a:rPr lang="en-US" altLang="ko-KR" sz="1400" b="1" i="0">
                <a:solidFill>
                  <a:srgbClr val="00D4AA"/>
                </a:solidFill>
                <a:effectLst/>
              </a:rPr>
              <a:t>(Technical Advisor)</a:t>
            </a:r>
          </a:p>
          <a:p>
            <a:pPr>
              <a:lnSpc>
                <a:spcPct val="150000"/>
              </a:lnSpc>
              <a:spcAft>
                <a:spcPts val="1125"/>
              </a:spcAft>
            </a:pPr>
            <a:r>
              <a:rPr lang="ko-KR" altLang="en-US" sz="1200" b="1">
                <a:solidFill>
                  <a:srgbClr val="FF6B6B"/>
                </a:solidFill>
              </a:rPr>
              <a:t>전 </a:t>
            </a:r>
            <a:r>
              <a:rPr lang="en-US" altLang="ko-KR" sz="1200" b="1">
                <a:solidFill>
                  <a:srgbClr val="FF6B6B"/>
                </a:solidFill>
              </a:rPr>
              <a:t>Wavve </a:t>
            </a:r>
            <a:r>
              <a:rPr lang="ko-KR" altLang="en-US" sz="1200" b="1">
                <a:solidFill>
                  <a:srgbClr val="FF6B6B"/>
                </a:solidFill>
              </a:rPr>
              <a:t>플랫폼 기술 총괄</a:t>
            </a:r>
            <a:endParaRPr lang="en-US" altLang="ko-KR" sz="1200" b="1" i="0">
              <a:solidFill>
                <a:srgbClr val="FFC000"/>
              </a:solidFill>
              <a:effectLst/>
            </a:endParaRPr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en-US" altLang="ko-KR" sz="1400" b="1">
                <a:solidFill>
                  <a:srgbClr val="DDE4F0"/>
                </a:solidFill>
              </a:rPr>
              <a:t>Java &amp; Spring </a:t>
            </a:r>
            <a:r>
              <a:rPr lang="ko-KR" altLang="en-US" sz="1400" b="1">
                <a:solidFill>
                  <a:srgbClr val="DDE4F0"/>
                </a:solidFill>
              </a:rPr>
              <a:t>및</a:t>
            </a:r>
            <a:r>
              <a:rPr lang="en-US" altLang="ko-KR" sz="1400" b="1">
                <a:solidFill>
                  <a:srgbClr val="DDE4F0"/>
                </a:solidFill>
              </a:rPr>
              <a:t> Go </a:t>
            </a:r>
            <a:r>
              <a:rPr lang="ko-KR" altLang="en-US" sz="1400" b="1">
                <a:solidFill>
                  <a:srgbClr val="DDE4F0"/>
                </a:solidFill>
              </a:rPr>
              <a:t>언어 전문가</a:t>
            </a:r>
            <a:br>
              <a:rPr lang="en-US" altLang="ko-KR" sz="1200" b="1" i="0">
                <a:solidFill>
                  <a:srgbClr val="DDE4F0"/>
                </a:solidFill>
                <a:effectLst/>
              </a:rPr>
            </a:br>
            <a:r>
              <a:rPr lang="ko-KR" altLang="en-US" sz="1200" i="0">
                <a:solidFill>
                  <a:srgbClr val="DDE4F0"/>
                </a:solidFill>
                <a:effectLst/>
              </a:rPr>
              <a:t>수백만 동시 접속자를 처리하는 대규모 분산 시스템 아키텍처 및 성능 최적화 자문을 담당 합니다</a:t>
            </a:r>
            <a:r>
              <a:rPr lang="en-US" altLang="ko-KR" sz="1200" i="0">
                <a:solidFill>
                  <a:srgbClr val="DDE4F0"/>
                </a:solidFill>
                <a:effectLst/>
              </a:rPr>
              <a:t>.</a:t>
            </a:r>
            <a:endParaRPr lang="ko-KR" altLang="en-US" sz="1200" i="0">
              <a:solidFill>
                <a:srgbClr val="DDE4F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011273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99A69-488C-4A1A-7539-C1E1F928F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918C55-4F9D-4794-C239-BF00152AAA04}"/>
              </a:ext>
            </a:extLst>
          </p:cNvPr>
          <p:cNvSpPr txBox="1"/>
          <p:nvPr/>
        </p:nvSpPr>
        <p:spPr>
          <a:xfrm>
            <a:off x="197185" y="196018"/>
            <a:ext cx="4779263" cy="584775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spcAft>
                <a:spcPts val="1500"/>
              </a:spcAft>
              <a:buNone/>
            </a:pPr>
            <a:r>
              <a:rPr lang="ko-KR" altLang="en-US" sz="3200" b="1" i="0">
                <a:solidFill>
                  <a:srgbClr val="FFFFFF"/>
                </a:solidFill>
                <a:effectLst/>
              </a:rPr>
              <a:t>인력 구성 계획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4FF2B20-E32D-284F-93FC-366420C36C02}"/>
              </a:ext>
            </a:extLst>
          </p:cNvPr>
          <p:cNvSpPr/>
          <p:nvPr/>
        </p:nvSpPr>
        <p:spPr>
          <a:xfrm>
            <a:off x="302696" y="1572627"/>
            <a:ext cx="11263427" cy="1401259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0693A9-4BD2-14D6-9E8F-FFD231380ABC}"/>
              </a:ext>
            </a:extLst>
          </p:cNvPr>
          <p:cNvSpPr/>
          <p:nvPr/>
        </p:nvSpPr>
        <p:spPr>
          <a:xfrm>
            <a:off x="302693" y="1569063"/>
            <a:ext cx="11263427" cy="3885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E98C81-9CB7-6DB6-2C13-07E54C86CFA0}"/>
              </a:ext>
            </a:extLst>
          </p:cNvPr>
          <p:cNvSpPr txBox="1"/>
          <p:nvPr/>
        </p:nvSpPr>
        <p:spPr>
          <a:xfrm>
            <a:off x="197186" y="773473"/>
            <a:ext cx="4111045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0" i="0">
                <a:solidFill>
                  <a:srgbClr val="8B9DC3"/>
                </a:solidFill>
                <a:effectLst/>
              </a:rPr>
              <a:t>TIPS 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지원금은 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팀 빌딩</a:t>
            </a:r>
            <a:r>
              <a:rPr lang="en-US" altLang="ko-KR" sz="1400" b="0" i="0">
                <a:solidFill>
                  <a:srgbClr val="8B9DC3"/>
                </a:solidFill>
                <a:effectLst/>
              </a:rPr>
              <a:t>'</a:t>
            </a:r>
            <a:r>
              <a:rPr lang="ko-KR" altLang="en-US" sz="1400" b="0" i="0">
                <a:solidFill>
                  <a:srgbClr val="8B9DC3"/>
                </a:solidFill>
                <a:effectLst/>
              </a:rPr>
              <a:t>을 위한 가장 강력한 무기입니다</a:t>
            </a:r>
            <a:endParaRPr lang="ko-KR" altLang="en-US" sz="140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E358EDF-B90B-F377-737C-34EF4D6E3FBD}"/>
              </a:ext>
            </a:extLst>
          </p:cNvPr>
          <p:cNvSpPr/>
          <p:nvPr/>
        </p:nvSpPr>
        <p:spPr>
          <a:xfrm>
            <a:off x="302692" y="3261344"/>
            <a:ext cx="11263428" cy="1492051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3622DC-AB1B-97BE-CBC0-CA5C06332756}"/>
              </a:ext>
            </a:extLst>
          </p:cNvPr>
          <p:cNvSpPr/>
          <p:nvPr/>
        </p:nvSpPr>
        <p:spPr>
          <a:xfrm>
            <a:off x="302689" y="3257780"/>
            <a:ext cx="11263428" cy="3885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954E772-6287-7AB5-D5BF-79407D966547}"/>
              </a:ext>
            </a:extLst>
          </p:cNvPr>
          <p:cNvSpPr/>
          <p:nvPr/>
        </p:nvSpPr>
        <p:spPr>
          <a:xfrm>
            <a:off x="302700" y="5044417"/>
            <a:ext cx="11263420" cy="1174842"/>
          </a:xfrm>
          <a:prstGeom prst="roundRect">
            <a:avLst>
              <a:gd name="adj" fmla="val 7108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7897B14-BB36-0EDC-70C9-1170483CB2F4}"/>
              </a:ext>
            </a:extLst>
          </p:cNvPr>
          <p:cNvSpPr/>
          <p:nvPr/>
        </p:nvSpPr>
        <p:spPr>
          <a:xfrm>
            <a:off x="302697" y="5040852"/>
            <a:ext cx="11263423" cy="38856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99F22C-8153-E98B-7146-851B3D61F1D1}"/>
              </a:ext>
            </a:extLst>
          </p:cNvPr>
          <p:cNvSpPr txBox="1"/>
          <p:nvPr/>
        </p:nvSpPr>
        <p:spPr>
          <a:xfrm>
            <a:off x="302697" y="5072853"/>
            <a:ext cx="10774992" cy="1002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  <a:buNone/>
            </a:pPr>
            <a:r>
              <a:rPr lang="en-US" altLang="ko-KR" sz="1200" b="1" i="0">
                <a:solidFill>
                  <a:srgbClr val="00D4AA"/>
                </a:solidFill>
                <a:effectLst/>
              </a:rPr>
              <a:t>Developer Advocate </a:t>
            </a:r>
            <a:r>
              <a:rPr lang="en-US" altLang="ko-KR" sz="1200" b="1">
                <a:solidFill>
                  <a:srgbClr val="00D4AA"/>
                </a:solidFill>
              </a:rPr>
              <a:t>1</a:t>
            </a:r>
            <a:r>
              <a:rPr lang="ko-KR" altLang="en-US" sz="1200" b="1">
                <a:solidFill>
                  <a:srgbClr val="00D4AA"/>
                </a:solidFill>
              </a:rPr>
              <a:t>명</a:t>
            </a:r>
            <a:endParaRPr lang="en-US" altLang="ko-KR" sz="1200" b="1" i="0">
              <a:solidFill>
                <a:srgbClr val="00D4AA"/>
              </a:solidFill>
              <a:effectLst/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기술 블로그 및 컨퍼런스 발표 경험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개발자 커뮤니티 운영 경험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오픈소스 전략의 최전선에서 개발자들과 소통하며 그들을 우리 플랫폼의 열정적인 팬덤으로 전환시키고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생태계 확산을 주도할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기술 에반젤리스트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0DE3E-5A29-3F07-8ED8-080F57DEC7AC}"/>
              </a:ext>
            </a:extLst>
          </p:cNvPr>
          <p:cNvSpPr txBox="1"/>
          <p:nvPr/>
        </p:nvSpPr>
        <p:spPr>
          <a:xfrm>
            <a:off x="302686" y="3278877"/>
            <a:ext cx="11263426" cy="1279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  <a:buNone/>
            </a:pPr>
            <a:r>
              <a:rPr lang="en-US" altLang="ko-KR" sz="1200" b="1" i="0">
                <a:solidFill>
                  <a:srgbClr val="00D4AA"/>
                </a:solidFill>
                <a:effectLst/>
              </a:rPr>
              <a:t>Framework Engineer </a:t>
            </a:r>
            <a:r>
              <a:rPr lang="en-US" altLang="ko-KR" sz="1200" b="1">
                <a:solidFill>
                  <a:srgbClr val="00D4AA"/>
                </a:solidFill>
              </a:rPr>
              <a:t>2</a:t>
            </a:r>
            <a:r>
              <a:rPr lang="ko-KR" altLang="en-US" sz="1200" b="1">
                <a:solidFill>
                  <a:srgbClr val="00D4AA"/>
                </a:solidFill>
              </a:rPr>
              <a:t>명</a:t>
            </a:r>
            <a:endParaRPr lang="ko-KR" altLang="en-US" sz="1200" b="1" i="0">
              <a:solidFill>
                <a:srgbClr val="00D4AA"/>
              </a:solidFill>
              <a:effectLst/>
            </a:endParaRP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스프링 프레임워크 기여 경험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대규모 오픈소스 프로젝트 리딩 경험</a:t>
            </a:r>
          </a:p>
          <a:p>
            <a:pPr algn="l">
              <a:lnSpc>
                <a:spcPct val="150000"/>
              </a:lnSpc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스프링의 차세대 기술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(Project Loom, GraalVM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등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)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과 플랫폼을 완벽하게 통합하고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, spring-boot-starter-ai-security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를 전 세계 개발자가 사용하는 표준으로 만들 핵심 개발자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 ai-spring-boot-starter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개발</a:t>
            </a:r>
            <a:endParaRPr lang="en-US" altLang="ko-KR" sz="1200" b="0" i="0">
              <a:solidFill>
                <a:srgbClr val="DDE4F0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9C014-6747-4E24-7C86-1D38B8761BA3}"/>
              </a:ext>
            </a:extLst>
          </p:cNvPr>
          <p:cNvSpPr txBox="1"/>
          <p:nvPr/>
        </p:nvSpPr>
        <p:spPr>
          <a:xfrm>
            <a:off x="302693" y="1590160"/>
            <a:ext cx="11426246" cy="12798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  <a:buNone/>
            </a:pPr>
            <a:r>
              <a:rPr lang="en-US" altLang="ko-KR" sz="1200" b="1" i="0">
                <a:solidFill>
                  <a:srgbClr val="00D4AA"/>
                </a:solidFill>
                <a:effectLst/>
              </a:rPr>
              <a:t>AI/ML Engineer  1 </a:t>
            </a:r>
            <a:r>
              <a:rPr lang="ko-KR" altLang="en-US" sz="1200" b="1" i="0">
                <a:solidFill>
                  <a:srgbClr val="00D4AA"/>
                </a:solidFill>
                <a:effectLst/>
              </a:rPr>
              <a:t>명</a:t>
            </a:r>
            <a:endParaRPr lang="en-US" altLang="ko-KR" sz="1200" b="1" i="0">
              <a:solidFill>
                <a:srgbClr val="00D4AA"/>
              </a:solidFill>
              <a:effectLst/>
            </a:endParaRPr>
          </a:p>
          <a:p>
            <a:pPr algn="l">
              <a:lnSpc>
                <a:spcPct val="150000"/>
              </a:lnSpc>
              <a:spcAft>
                <a:spcPts val="750"/>
              </a:spcAft>
              <a:buNone/>
            </a:pPr>
            <a:r>
              <a:rPr lang="ko-KR" altLang="en-US" sz="1200" b="0" i="0">
                <a:solidFill>
                  <a:srgbClr val="DDE4F0"/>
                </a:solidFill>
                <a:effectLst/>
              </a:rPr>
              <a:t>보안 도메인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NLP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경험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,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이상 징후 탐지 모델링 경험</a:t>
            </a:r>
            <a:br>
              <a:rPr lang="en-US" altLang="ko-KR" sz="1200" b="0" i="0">
                <a:solidFill>
                  <a:srgbClr val="DDE4F0"/>
                </a:solidFill>
                <a:effectLst/>
              </a:rPr>
            </a:br>
            <a:r>
              <a:rPr lang="en-US" altLang="ko-KR" sz="1200" b="0" i="0">
                <a:solidFill>
                  <a:srgbClr val="DDE4F0"/>
                </a:solidFill>
                <a:effectLst/>
              </a:rPr>
              <a:t>Cold Path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의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3-Tier AI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전략을 고도화하고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, FeedbackLoopSystem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의 자가 학습 알고리즘을 연구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/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개발하여 플랫폼의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두뇌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'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를 진화시킬 전문가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,  </a:t>
            </a:r>
            <a:br>
              <a:rPr lang="en-US" altLang="ko-KR" sz="1200" b="0" i="0">
                <a:solidFill>
                  <a:srgbClr val="DDE4F0"/>
                </a:solidFill>
                <a:effectLst/>
              </a:rPr>
            </a:br>
            <a:r>
              <a:rPr lang="ko-KR" altLang="en-US" sz="1200" b="0" i="0">
                <a:solidFill>
                  <a:srgbClr val="DDE4F0"/>
                </a:solidFill>
                <a:effectLst/>
              </a:rPr>
              <a:t>다중 </a:t>
            </a:r>
            <a:r>
              <a:rPr lang="en-US" altLang="ko-KR" sz="1200" b="0" i="0">
                <a:solidFill>
                  <a:srgbClr val="DDE4F0"/>
                </a:solidFill>
                <a:effectLst/>
              </a:rPr>
              <a:t>AI Lab </a:t>
            </a:r>
            <a:r>
              <a:rPr lang="ko-KR" altLang="en-US" sz="1200" b="0" i="0">
                <a:solidFill>
                  <a:srgbClr val="DDE4F0"/>
                </a:solidFill>
                <a:effectLst/>
              </a:rPr>
              <a:t>결과 융합 알고리즘 연구</a:t>
            </a:r>
            <a:endParaRPr lang="en-US" altLang="ko-KR" sz="1200" b="0" i="0">
              <a:solidFill>
                <a:srgbClr val="DDE4F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42315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3A4A4-2BE4-00E5-A131-18C932111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943EA23E-4414-69E2-7710-215C889BE7D1}"/>
              </a:ext>
            </a:extLst>
          </p:cNvPr>
          <p:cNvSpPr txBox="1"/>
          <p:nvPr/>
        </p:nvSpPr>
        <p:spPr>
          <a:xfrm>
            <a:off x="2857500" y="907849"/>
            <a:ext cx="6096000" cy="1603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0"/>
              </a:spcAft>
              <a:buNone/>
            </a:pPr>
            <a:r>
              <a:rPr lang="ko-KR" altLang="en-US" b="0" i="0">
                <a:solidFill>
                  <a:srgbClr val="FFFFFF"/>
                </a:solidFill>
                <a:effectLst/>
                <a:latin typeface="Pretendard"/>
              </a:rPr>
              <a:t>🤝</a:t>
            </a:r>
          </a:p>
          <a:p>
            <a:pPr algn="ctr">
              <a:spcAft>
                <a:spcPts val="2250"/>
              </a:spcAft>
              <a:buNone/>
            </a:pPr>
            <a:r>
              <a:rPr lang="ko-KR" altLang="en-US" b="1" i="0">
                <a:solidFill>
                  <a:srgbClr val="00D4AA"/>
                </a:solidFill>
                <a:effectLst/>
                <a:latin typeface="Pretendard"/>
              </a:rPr>
              <a:t>감사합니다</a:t>
            </a:r>
          </a:p>
          <a:p>
            <a:pPr algn="ctr">
              <a:spcAft>
                <a:spcPts val="3000"/>
              </a:spcAft>
              <a:buNone/>
            </a:pPr>
            <a:r>
              <a:rPr lang="ko-KR" altLang="en-US" b="1" i="0">
                <a:solidFill>
                  <a:srgbClr val="DDE4F0"/>
                </a:solidFill>
                <a:effectLst/>
                <a:latin typeface="Pretendard"/>
              </a:rPr>
              <a:t>보안의 미래를 함께 만들어갈 파트너를 찾습니다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71FEA7E-4D4E-1F7A-82B6-23B9784E09BD}"/>
              </a:ext>
            </a:extLst>
          </p:cNvPr>
          <p:cNvSpPr/>
          <p:nvPr/>
        </p:nvSpPr>
        <p:spPr>
          <a:xfrm>
            <a:off x="3539342" y="3724056"/>
            <a:ext cx="2073233" cy="2162595"/>
          </a:xfrm>
          <a:prstGeom prst="roundRect">
            <a:avLst>
              <a:gd name="adj" fmla="val 2827"/>
            </a:avLst>
          </a:prstGeom>
          <a:solidFill>
            <a:schemeClr val="tx2">
              <a:lumMod val="75000"/>
              <a:alpha val="25000"/>
            </a:schemeClr>
          </a:solidFill>
          <a:ln w="3175">
            <a:solidFill>
              <a:schemeClr val="tx2">
                <a:lumMod val="75000"/>
                <a:alpha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6D9E8A-E721-EDAE-CF26-9FB3EAE62915}"/>
              </a:ext>
            </a:extLst>
          </p:cNvPr>
          <p:cNvSpPr txBox="1"/>
          <p:nvPr/>
        </p:nvSpPr>
        <p:spPr>
          <a:xfrm>
            <a:off x="3246416" y="4087109"/>
            <a:ext cx="2659084" cy="1166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25"/>
              </a:spcAft>
              <a:buNone/>
            </a:pPr>
            <a:r>
              <a:rPr lang="ko-KR" altLang="en-US" b="0" i="0">
                <a:solidFill>
                  <a:srgbClr val="FFFFFF"/>
                </a:solidFill>
                <a:effectLst/>
                <a:latin typeface="Pretendard"/>
              </a:rPr>
              <a:t>📧</a:t>
            </a:r>
          </a:p>
          <a:p>
            <a:pPr algn="ctr">
              <a:spcAft>
                <a:spcPts val="750"/>
              </a:spcAft>
              <a:buNone/>
            </a:pPr>
            <a:r>
              <a:rPr lang="ko-KR" altLang="en-US" b="1" i="0">
                <a:solidFill>
                  <a:srgbClr val="00D4AA"/>
                </a:solidFill>
                <a:effectLst/>
                <a:latin typeface="Pretendard"/>
              </a:rPr>
              <a:t>이메일</a:t>
            </a:r>
          </a:p>
          <a:p>
            <a:pPr algn="ctr">
              <a:buNone/>
            </a:pPr>
            <a:r>
              <a:rPr lang="en-US" altLang="ko-KR" b="0" i="0">
                <a:solidFill>
                  <a:srgbClr val="8B9DC3"/>
                </a:solidFill>
                <a:effectLst/>
                <a:latin typeface="Pretendard"/>
              </a:rPr>
              <a:t>leaven73@gmail.com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F6EFD81-467A-4147-59B4-13A4D7BD9E96}"/>
              </a:ext>
            </a:extLst>
          </p:cNvPr>
          <p:cNvSpPr/>
          <p:nvPr/>
        </p:nvSpPr>
        <p:spPr>
          <a:xfrm>
            <a:off x="6442531" y="3724056"/>
            <a:ext cx="2073233" cy="2162595"/>
          </a:xfrm>
          <a:prstGeom prst="roundRect">
            <a:avLst>
              <a:gd name="adj" fmla="val 2827"/>
            </a:avLst>
          </a:prstGeom>
          <a:solidFill>
            <a:schemeClr val="tx2">
              <a:lumMod val="75000"/>
              <a:alpha val="25000"/>
            </a:schemeClr>
          </a:solidFill>
          <a:ln w="3175">
            <a:solidFill>
              <a:schemeClr val="tx2">
                <a:lumMod val="75000"/>
                <a:alpha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884AA0-240E-F5F1-2FA9-25EA2EEB9DE2}"/>
              </a:ext>
            </a:extLst>
          </p:cNvPr>
          <p:cNvSpPr txBox="1"/>
          <p:nvPr/>
        </p:nvSpPr>
        <p:spPr>
          <a:xfrm>
            <a:off x="6198426" y="4087109"/>
            <a:ext cx="2561441" cy="1166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125"/>
              </a:spcAft>
              <a:buNone/>
            </a:pPr>
            <a:r>
              <a:rPr lang="ko-KR" altLang="en-US" b="0" i="0">
                <a:solidFill>
                  <a:srgbClr val="FFFFFF"/>
                </a:solidFill>
                <a:effectLst/>
                <a:latin typeface="Pretendard"/>
              </a:rPr>
              <a:t>🐙</a:t>
            </a:r>
          </a:p>
          <a:p>
            <a:pPr algn="ctr">
              <a:spcAft>
                <a:spcPts val="750"/>
              </a:spcAft>
              <a:buNone/>
            </a:pPr>
            <a:r>
              <a:rPr lang="en-US" altLang="ko-KR" b="1" i="0">
                <a:solidFill>
                  <a:srgbClr val="00D4AA"/>
                </a:solidFill>
                <a:effectLst/>
                <a:latin typeface="Pretendard"/>
              </a:rPr>
              <a:t>GitHub</a:t>
            </a:r>
          </a:p>
          <a:p>
            <a:pPr algn="ctr">
              <a:buNone/>
            </a:pPr>
            <a:r>
              <a:rPr lang="en-US" altLang="ko-KR" b="0" i="0">
                <a:solidFill>
                  <a:srgbClr val="8B9DC3"/>
                </a:solidFill>
                <a:effectLst/>
                <a:latin typeface="Pretendard"/>
              </a:rPr>
              <a:t>github.com/</a:t>
            </a:r>
            <a:r>
              <a:rPr lang="en-US" altLang="ko-KR">
                <a:solidFill>
                  <a:srgbClr val="8B9DC3"/>
                </a:solidFill>
                <a:latin typeface="Pretendard"/>
              </a:rPr>
              <a:t>onjsdnjs</a:t>
            </a:r>
            <a:endParaRPr lang="en-US" altLang="ko-KR" b="0" i="0">
              <a:solidFill>
                <a:srgbClr val="8B9DC3"/>
              </a:solidFill>
              <a:effectLst/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1374997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905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2546061-D746-4ED2-8DB6-DE02CCB77102}">
  <we:reference id="wa200000113" version="1.0.0.0" store="ko-KR" storeType="OMEX"/>
  <we:alternateReferences>
    <we:reference id="wa200000113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371232</TotalTime>
  <Words>3496</Words>
  <Application>Microsoft Office PowerPoint</Application>
  <PresentationFormat>와이드스크린</PresentationFormat>
  <Paragraphs>443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-apple-system</vt:lpstr>
      <vt:lpstr>Inter</vt:lpstr>
      <vt:lpstr>Pretendard</vt:lpstr>
      <vt:lpstr>var(--app-monospace-font-family)</vt:lpstr>
      <vt:lpstr>나눔바른고딕</vt:lpstr>
      <vt:lpstr>나눔바른고딕OTF</vt:lpstr>
      <vt:lpstr>맑은 고딕</vt:lpstr>
      <vt:lpstr>Arial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수원정</dc:creator>
  <cp:lastModifiedBy>leaven</cp:lastModifiedBy>
  <cp:revision>23573</cp:revision>
  <dcterms:created xsi:type="dcterms:W3CDTF">2022-04-29T16:45:00Z</dcterms:created>
  <dcterms:modified xsi:type="dcterms:W3CDTF">2025-10-18T09:29:13Z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D:\강의자료.pptx</vt:lpwstr>
  </property>
</Properties>
</file>