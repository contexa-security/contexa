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80" d="100"/>
          <a:sy n="180" d="100"/>
        </p:scale>
        <p:origin x="1254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683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87952" y="18288"/>
            <a:ext cx="4572000" cy="4572000"/>
          </a:xfrm>
          <a:prstGeom prst="ellipse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79592" y="1197864"/>
            <a:ext cx="3200400" cy="3200400"/>
          </a:xfrm>
          <a:prstGeom prst="ellipse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28600"/>
            <a:ext cx="201168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2023 ~ 2025 — 반복되는 침해, 같은 원인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자격증명을 가진 공격자를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보안은 탐지할 수 없습니다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Okta: 정상 토큰으로 고객사 수백 곳 연쇄 침해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Snowflake: 유효한 자격증명으로 160개 기업 동시 침해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쿠팡: 퇴직자 인증키 5개월 방치, 3,370만 명 유출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200400"/>
            <a:ext cx="5943600" cy="777240"/>
          </a:xfrm>
          <a:prstGeom prst="rect">
            <a:avLst/>
          </a:prstGeom>
          <a:solidFill>
            <a:srgbClr val="1B6CA8"/>
          </a:solidFill>
          <a:ln w="12700">
            <a:solidFill>
              <a:srgbClr val="00C2E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32004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공통점: 모두 정상 자격증명이었습니다 — 규칙 기반 보안의 구조적 한계입니다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4160520"/>
            <a:ext cx="2651760" cy="822960"/>
          </a:xfrm>
          <a:prstGeom prst="rect">
            <a:avLst/>
          </a:prstGeom>
          <a:solidFill>
            <a:srgbClr val="1A2B3C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78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연속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4553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반복 침해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4160520"/>
            <a:ext cx="2651760" cy="822960"/>
          </a:xfrm>
          <a:prstGeom prst="rect">
            <a:avLst/>
          </a:prstGeom>
          <a:solidFill>
            <a:srgbClr val="1A2B3C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4178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54680" y="4553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침해 미탐지 기간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4160520"/>
            <a:ext cx="2651760" cy="822960"/>
          </a:xfrm>
          <a:prstGeom prst="rect">
            <a:avLst/>
          </a:prstGeom>
          <a:solidFill>
            <a:srgbClr val="1A2B3C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41788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89320" y="4553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공격 증가율 (2년)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1645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FFFFFF"/>
                </a:solidFill>
              </a:rPr>
              <a:t>CONTEXA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492240" y="2304288"/>
            <a:ext cx="237744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2E0"/>
                </a:solidFill>
              </a:rPr>
              <a:t>AI-Native Security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63946"/>
                </a:solidFill>
              </a:rPr>
              <a:t>문제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왜 규칙 기반 보안은 구조적으로 실패하는가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4023360" cy="3474720"/>
          </a:xfrm>
          <a:prstGeom prst="rect">
            <a:avLst/>
          </a:prstGeom>
          <a:solidFill>
            <a:srgbClr val="1A2B3C"/>
          </a:solidFill>
          <a:ln w="12700">
            <a:solidFill>
              <a:srgbClr val="1E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E0"/>
                </a:solidFill>
              </a:rPr>
              <a:t>정상 자격증명 공격 시나리오 (쿠팡 2025)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내부자(퇴직자), 유효한 인증키 보유 상태 유지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퇴사 후 인증키 그대로 유효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(유효기간 5~10년 방치)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해외 서버에서 정상 사용자처럼 접근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6월 24일 ~ 11월까지 5개월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수천만 건 대량 데이터 조회 완료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보안 시스템은 단 한 건도 탐지 못함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고객 민원 / 외부 신고로 사고 인지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Okta·Snowflake·쿠팡 — 모두 동일 패턴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280160"/>
            <a:ext cx="4297680" cy="1554480"/>
          </a:xfrm>
          <a:prstGeom prst="rect">
            <a:avLst/>
          </a:prstGeom>
          <a:solidFill>
            <a:srgbClr val="1A2B3C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규칙 기반 보안이 본 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7830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 인증키가 유효하다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 토큰 서명이 정상이다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 접근 허용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971800"/>
            <a:ext cx="4297680" cy="1783080"/>
          </a:xfrm>
          <a:prstGeom prst="rect">
            <a:avLst/>
          </a:prstGeom>
          <a:solidFill>
            <a:srgbClr val="1A2B3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108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AI 행동 분석이 봤어야 할 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D166"/>
                </a:solidFill>
              </a:rPr>
              <a:t>✗  해외 IP에서 접속 (기존 패턴 없음)
✗  새벽 시간대 비정상 접속
</a:t>
            </a:r>
            <a:r>
              <a:rPr lang="en-US" sz="1100" dirty="0">
                <a:solidFill>
                  <a:srgbClr val="E63946"/>
                </a:solidFill>
              </a:rPr>
              <a:t>✗  3,370만 건 순차 대량 조회
</a:t>
            </a:r>
            <a:r>
              <a:rPr lang="en-US" sz="1100" b="1" dirty="0">
                <a:solidFill>
                  <a:srgbClr val="06D6A0"/>
                </a:solidFill>
              </a:rPr>
              <a:t>→  즉시 차단 및 세션 무효화</a:t>
            </a:r>
            <a:endParaRPr lang="en-US" sz="1100" dirty="0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3577C46D-2CC0-558B-0FD5-A2F99BB91253}"/>
              </a:ext>
            </a:extLst>
          </p:cNvPr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DC4EF0-40E7-6F8B-F8A8-F0FBBD9976B7}"/>
              </a:ext>
            </a:extLst>
          </p:cNvPr>
          <p:cNvSpPr txBox="1"/>
          <p:nvPr/>
        </p:nvSpPr>
        <p:spPr>
          <a:xfrm>
            <a:off x="457200" y="4815061"/>
            <a:ext cx="84843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>
                <a:effectLst/>
                <a:latin typeface="-apple-system"/>
              </a:rPr>
              <a:t>규칙은 </a:t>
            </a:r>
            <a:r>
              <a:rPr lang="en-US" altLang="ko-KR" sz="1400" b="1" i="0">
                <a:effectLst/>
                <a:latin typeface="-apple-system"/>
              </a:rPr>
              <a:t>"</a:t>
            </a:r>
            <a:r>
              <a:rPr lang="ko-KR" altLang="en-US" sz="1400" b="1" i="0">
                <a:effectLst/>
                <a:latin typeface="-apple-system"/>
              </a:rPr>
              <a:t>얼마나 다른가</a:t>
            </a:r>
            <a:r>
              <a:rPr lang="en-US" altLang="ko-KR" sz="1400" b="1" i="0">
                <a:effectLst/>
                <a:latin typeface="-apple-system"/>
              </a:rPr>
              <a:t>"</a:t>
            </a:r>
            <a:r>
              <a:rPr lang="ko-KR" altLang="en-US" sz="1400" b="1" i="0">
                <a:effectLst/>
                <a:latin typeface="-apple-system"/>
              </a:rPr>
              <a:t>를 측정하고</a:t>
            </a:r>
            <a:r>
              <a:rPr lang="en-US" altLang="ko-KR" sz="1400" b="1" i="0">
                <a:effectLst/>
                <a:latin typeface="-apple-system"/>
              </a:rPr>
              <a:t>, AI</a:t>
            </a:r>
            <a:r>
              <a:rPr lang="ko-KR" altLang="en-US" sz="1400" b="1" i="0">
                <a:effectLst/>
                <a:latin typeface="-apple-system"/>
              </a:rPr>
              <a:t>는 </a:t>
            </a:r>
            <a:r>
              <a:rPr lang="en-US" altLang="ko-KR" sz="1400" b="1" i="0">
                <a:effectLst/>
                <a:latin typeface="-apple-system"/>
              </a:rPr>
              <a:t>"</a:t>
            </a:r>
            <a:r>
              <a:rPr lang="ko-KR" altLang="en-US" sz="1400" b="1" i="0">
                <a:effectLst/>
                <a:latin typeface="-apple-system"/>
              </a:rPr>
              <a:t>왜 다른가</a:t>
            </a:r>
            <a:r>
              <a:rPr lang="en-US" altLang="ko-KR" sz="1400" b="1" i="0">
                <a:effectLst/>
                <a:latin typeface="-apple-system"/>
              </a:rPr>
              <a:t>"</a:t>
            </a:r>
            <a:r>
              <a:rPr lang="ko-KR" altLang="en-US" sz="1400" b="1" i="0">
                <a:effectLst/>
                <a:latin typeface="-apple-system"/>
              </a:rPr>
              <a:t>를 판단한다</a:t>
            </a:r>
            <a:r>
              <a:rPr lang="ko-KR" altLang="en-US" sz="1400" b="0" i="0">
                <a:effectLst/>
                <a:latin typeface="-apple-system"/>
              </a:rPr>
              <a:t> </a:t>
            </a:r>
            <a:r>
              <a:rPr lang="en-US" altLang="ko-KR" sz="1400" b="0" i="0">
                <a:effectLst/>
                <a:latin typeface="-apple-system"/>
              </a:rPr>
              <a:t>- </a:t>
            </a:r>
            <a:r>
              <a:rPr lang="ko-KR" altLang="en-US" sz="1400" b="0" i="0">
                <a:effectLst/>
                <a:latin typeface="-apple-system"/>
              </a:rPr>
              <a:t>이것이 </a:t>
            </a:r>
            <a:r>
              <a:rPr lang="en-US" altLang="ko-KR" sz="1400" b="0" i="0">
                <a:effectLst/>
                <a:latin typeface="-apple-system"/>
              </a:rPr>
              <a:t>AI Native </a:t>
            </a:r>
            <a:r>
              <a:rPr lang="ko-KR" altLang="en-US" sz="1400" b="0" i="0">
                <a:effectLst/>
                <a:latin typeface="-apple-system"/>
              </a:rPr>
              <a:t>차별화의 본질</a:t>
            </a:r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8E5BE0-8DCA-D611-F17B-953DDB008D98}"/>
              </a:ext>
            </a:extLst>
          </p:cNvPr>
          <p:cNvSpPr txBox="1"/>
          <p:nvPr/>
        </p:nvSpPr>
        <p:spPr>
          <a:xfrm>
            <a:off x="2282013" y="1853022"/>
            <a:ext cx="45746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알고리즘</a:t>
            </a:r>
            <a:r>
              <a:rPr lang="en-US" altLang="ko-KR"/>
              <a:t>: GET→POST→GET→GET </a:t>
            </a:r>
            <a:r>
              <a:rPr lang="ko-KR" altLang="en-US"/>
              <a:t>패턴</a:t>
            </a:r>
            <a:r>
              <a:rPr lang="en-US" altLang="ko-KR"/>
              <a:t>, </a:t>
            </a:r>
            <a:r>
              <a:rPr lang="ko-KR" altLang="en-US"/>
              <a:t>유사도 </a:t>
            </a:r>
            <a:r>
              <a:rPr lang="en-US" altLang="ko-KR"/>
              <a:t>0.58 → </a:t>
            </a:r>
            <a:r>
              <a:rPr lang="ko-KR" altLang="en-US"/>
              <a:t>차단 </a:t>
            </a:r>
            <a:r>
              <a:rPr lang="en-US" altLang="ko-KR"/>
              <a:t>LLM: "</a:t>
            </a:r>
            <a:r>
              <a:rPr lang="ko-KR" altLang="en-US"/>
              <a:t>이 사용자의 평소 흐름은 조회 후 처리인데</a:t>
            </a:r>
            <a:r>
              <a:rPr lang="en-US" altLang="ko-KR"/>
              <a:t>, </a:t>
            </a:r>
            <a:r>
              <a:rPr lang="ko-KR" altLang="en-US"/>
              <a:t>지금은 처리 없이 조회만 반복되고 있다</a:t>
            </a:r>
            <a:r>
              <a:rPr lang="en-US" altLang="ko-KR"/>
              <a:t>. </a:t>
            </a:r>
            <a:r>
              <a:rPr lang="ko-KR" altLang="en-US"/>
              <a:t>이건 데이터 수집 의도로 해석된다</a:t>
            </a:r>
            <a:r>
              <a:rPr lang="en-US" altLang="ko-KR"/>
              <a:t>" → </a:t>
            </a:r>
            <a:r>
              <a:rPr lang="ko-KR" altLang="en-US"/>
              <a:t>차단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E0"/>
                </a:solidFill>
              </a:rPr>
              <a:t>핵심 통찰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공격자는 열쇠를 훔쳤습니다.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하지만 행동은 훔칠 수 없습니다.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00200"/>
            <a:ext cx="3931920" cy="3200400"/>
          </a:xfrm>
          <a:prstGeom prst="rect">
            <a:avLst/>
          </a:prstGeom>
          <a:solidFill>
            <a:srgbClr val="1C1010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393192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기존 보안  —  자격증명 검증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ID / PW 가 맞는가?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791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토큰이 유효한가?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권한이 있는가?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484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63946"/>
                </a:solidFill>
              </a:rPr>
              <a:t>→ 세 가지 통과 = 무조건 허용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63946"/>
                </a:solidFill>
              </a:rPr>
              <a:t>퇴사자도, 공격자도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63946"/>
                </a:solidFill>
              </a:rPr>
              <a:t>자격증명만 있으면 들어온다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651760"/>
            <a:ext cx="822960" cy="82296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600200"/>
            <a:ext cx="3931920" cy="3200400"/>
          </a:xfrm>
          <a:prstGeom prst="rect">
            <a:avLst/>
          </a:prstGeom>
          <a:solidFill>
            <a:srgbClr val="0A1E1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600200"/>
            <a:ext cx="39319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Contexa  —  행동의 진정성 검증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1945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평소 접속 위치와 같은가?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6791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접속 시간대가 정상인가?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16382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디바이스 / OS / Agent 가 같은가?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6484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요청 패턴이 업무 흐름과 일치하는가?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41330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6D6A0"/>
                </a:solidFill>
              </a:rPr>
              <a:t>→ 모두 일치해야만 허용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자격증명은 탈취할 수 있습니다. 그러나 사용자의 행동 환경 전체는 복제할 수 없습니다.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E0"/>
                </a:solidFill>
              </a:rPr>
              <a:t>솔루션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Contexa의 3-Layer 행동 기반 분석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00C2E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640080" cy="109728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2161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기준선 (Behavioral Baseline)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사용자의 행동 지문 수집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위치 · 시간 · 디바이스 · OS · Agent · 요청 흐름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261872"/>
            <a:ext cx="2560320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618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0C2E0"/>
                </a:solidFill>
              </a:rPr>
              <a:t>리소스 정보 제외 — 사람 중심의 순수한 행동 패턴만 학습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404872"/>
            <a:ext cx="8595360" cy="1097280"/>
          </a:xfrm>
          <a:prstGeom prst="rect">
            <a:avLst/>
          </a:prstGeom>
          <a:solidFill>
            <a:srgbClr val="1A4060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04872"/>
            <a:ext cx="640080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04872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RAG 유사도 분석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과거 허용(Allow)된 정상 패턴과 현재 요청 비교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유사도 이탈 시 다음 레이어로 전달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496312"/>
            <a:ext cx="2560320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49631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D166"/>
                </a:solidFill>
              </a:rPr>
              <a:t>Allow 패턴만 학습 — Deny 저장 금지로 RAG 오염 공격 원천 차단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8595360" cy="1097280"/>
          </a:xfrm>
          <a:prstGeom prst="rect">
            <a:avLst/>
          </a:prstGeom>
          <a:solidFill>
            <a:srgbClr val="1A3A1A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39312"/>
            <a:ext cx="640080" cy="10972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39312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36850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 최종 판단 (민감 리소스 전용)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의미와 맥락으로 판단 — 규칙 없이 의도를 읽습니다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새로운 공격 패턴도 별도 업데이트 없이 탐지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3730752"/>
            <a:ext cx="2560320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73075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6D6A0"/>
                </a:solidFill>
              </a:rPr>
              <a:t>LLM 품질 타협 없음 — 보안 판단의 정확도가 플랫폼의 신뢰성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D166"/>
                </a:solidFill>
              </a:rPr>
              <a:t>기술적 해자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공격자가 기준선을 위장하려면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이 모든 것을 동시에 복제해야 합니다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54480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🏢  기업 내부 네트워크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외부에서 재현 불가능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5448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💻  디바이스 고유값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하드웨어 식별자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5448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🕐  접속 시간대 패턴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수개월의 행동 이력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1752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OS / Browser / 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환경 정보 복합 검증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01752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업무 요청 흐름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자연스러운 순서와 맥락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17520"/>
            <a:ext cx="27432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📍  위치 정보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IP + 네트워크 레이어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6가지를 동시에 완벽히 위장하는 것은 현실적으로 불가능합니다  —  이것이 Contexa의 근본적 방어력입니다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D6A0"/>
                </a:solidFill>
              </a:rPr>
              <a:t>설계 철학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이론이 아닙니다.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직접 써보고, 실패하고, 제거한 결과입니다.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4160520" cy="1508760"/>
          </a:xfrm>
          <a:prstGeom prst="rect">
            <a:avLst/>
          </a:prstGeom>
          <a:solidFill>
            <a:srgbClr val="1A2B3C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73152" cy="1508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규칙 기반 완전 제거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965960"/>
            <a:ext cx="109728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6596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직접 구현 후 폐기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2585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규칙은 공격자가 학습하고 우회합니다. 방어자는 모든 경우를 예측해야 하지만 공격자는 하나의 구멍만 찾으면 됩니다.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60520" cy="1508760"/>
          </a:xfrm>
          <a:prstGeom prst="rect">
            <a:avLst/>
          </a:prstGeom>
          <a:solidFill>
            <a:srgbClr val="1A2B3C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73152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6002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Allow 패턴만 RAG 학습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28032" y="1965960"/>
            <a:ext cx="1097280" cy="2194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96596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오염 공격 차단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28032" y="22585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Deny 패턴을 저장하면 공격자가 RAG를 역이용할 수 있습니다. 정상 패턴만 학습해 기준선의 순수성을 설계로 보장합니다.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4160520" cy="1508760"/>
          </a:xfrm>
          <a:prstGeom prst="rect">
            <a:avLst/>
          </a:prstGeom>
          <a:solidFill>
            <a:srgbClr val="1A2B3C"/>
          </a:solidFill>
          <a:ln w="12700">
            <a:solidFill>
              <a:srgbClr val="00C2E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00400"/>
            <a:ext cx="73152" cy="150876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E0"/>
                </a:solidFill>
              </a:rPr>
              <a:t>리소스 레벨 RAG 제외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" y="3657600"/>
            <a:ext cx="1097280" cy="21945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65760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역공학 방지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8912" y="3950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리소스 정보가 RAG에 있으면 공격자가 접근 패턴을 역으로 추론합니다. 사람 중심 판단으로 리소스 추가 시 재학습도 불필요합니다.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0"/>
            <a:ext cx="4160520" cy="1508760"/>
          </a:xfrm>
          <a:prstGeom prst="rect">
            <a:avLst/>
          </a:prstGeom>
          <a:solidFill>
            <a:srgbClr val="1A2B3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200400"/>
            <a:ext cx="73152" cy="1508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LLM 품질 타협 없음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28032" y="3657600"/>
            <a:ext cx="1097280" cy="21945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65760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경량 모델 실험 후 폐기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28032" y="3950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빠르지만 틀린 판단이 느리지만 정확한 판단보다 훨씬 위험합니다. 성능은 아키텍처로 해결하고 판단 품질은 절대 타협하지 않습니다.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E0"/>
                </a:solidFill>
              </a:rPr>
              <a:t>경쟁 우위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FFFFFF"/>
                </a:solidFill>
              </a:rPr>
              <a:t>글로벌 보안 리더들이 풀지 못한 문제를</a:t>
            </a:r>
            <a:endParaRPr lang="en-US" sz="2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FFFFFF"/>
                </a:solidFill>
              </a:rPr>
              <a:t>Contexa는 이미 구현했습니다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2103120" cy="365760"/>
          </a:xfrm>
          <a:prstGeom prst="rect">
            <a:avLst/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</a:rPr>
              <a:t>항목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508760"/>
            <a:ext cx="164592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508760"/>
            <a:ext cx="1645920" cy="365760"/>
          </a:xfrm>
          <a:prstGeom prst="rect">
            <a:avLst/>
          </a:prstGeom>
          <a:solidFill>
            <a:srgbClr val="0E1A26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</a:rPr>
              <a:t>Okta / Auth0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508760"/>
            <a:ext cx="1737360" cy="365760"/>
          </a:xfrm>
          <a:prstGeom prst="rect">
            <a:avLst/>
          </a:prstGeom>
          <a:solidFill>
            <a:srgbClr val="0E1A26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508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</a:rPr>
              <a:t>Microsoft Entra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1508760"/>
            <a:ext cx="1691640" cy="365760"/>
          </a:xfrm>
          <a:prstGeom prst="rect">
            <a:avLst/>
          </a:prstGeom>
          <a:solidFill>
            <a:srgbClr val="0E1A26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5087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99AA"/>
                </a:solidFill>
              </a:rPr>
              <a:t>Palo Alto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01952"/>
            <a:ext cx="210312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9019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2"/>
                </a:solidFill>
              </a:rPr>
              <a:t>Spring Native 통합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77440" y="1901952"/>
            <a:ext cx="1645920" cy="438912"/>
          </a:xfrm>
          <a:prstGeom prst="rect">
            <a:avLst/>
          </a:prstGeom>
          <a:solidFill>
            <a:srgbClr val="0A1E30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1901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심장부 작동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1901952"/>
            <a:ext cx="164592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901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약함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901952"/>
            <a:ext cx="173736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9019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</a:rPr>
              <a:t>⚠️ 보통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901952"/>
            <a:ext cx="169164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9019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359152"/>
            <a:ext cx="210312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3591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2"/>
                </a:solidFill>
              </a:rPr>
              <a:t>AI-Native 설계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0" y="2359152"/>
            <a:ext cx="1645920" cy="438912"/>
          </a:xfrm>
          <a:prstGeom prst="rect">
            <a:avLst/>
          </a:prstGeom>
          <a:solidFill>
            <a:srgbClr val="0A1E30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23591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핵심 DNA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0" y="2359152"/>
            <a:ext cx="164592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23591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2359152"/>
            <a:ext cx="173736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3591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</a:rPr>
              <a:t>⚠️ 실험적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2359152"/>
            <a:ext cx="169164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23591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816352"/>
            <a:ext cx="210312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8163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2"/>
                </a:solidFill>
              </a:rPr>
              <a:t>행동 기반 판단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77440" y="2816352"/>
            <a:ext cx="1645920" cy="438912"/>
          </a:xfrm>
          <a:prstGeom prst="rect">
            <a:avLst/>
          </a:prstGeom>
          <a:solidFill>
            <a:srgbClr val="0A1E30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28163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완전 구현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23360" y="2816352"/>
            <a:ext cx="164592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28163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0" y="2816352"/>
            <a:ext cx="173736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28163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06640" y="2816352"/>
            <a:ext cx="169164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28163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273552"/>
            <a:ext cx="210312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32735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2"/>
                </a:solidFill>
              </a:rPr>
              <a:t>RAG 오염 방지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377440" y="3273552"/>
            <a:ext cx="1645920" cy="438912"/>
          </a:xfrm>
          <a:prstGeom prst="rect">
            <a:avLst/>
          </a:prstGeom>
          <a:solidFill>
            <a:srgbClr val="0A1E30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32735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설계 내장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023360" y="3273552"/>
            <a:ext cx="164592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0" y="32735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69280" y="3273552"/>
            <a:ext cx="173736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32735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06640" y="3273552"/>
            <a:ext cx="169164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32735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없음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" y="3730752"/>
            <a:ext cx="210312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7307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2"/>
                </a:solidFill>
              </a:rPr>
              <a:t>레거시 점진 통합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377440" y="3730752"/>
            <a:ext cx="1645920" cy="438912"/>
          </a:xfrm>
          <a:prstGeom prst="rect">
            <a:avLst/>
          </a:prstGeom>
          <a:solidFill>
            <a:srgbClr val="0A1E30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77440" y="37307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최소 침습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023360" y="3730752"/>
            <a:ext cx="164592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3360" y="37307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전면 교체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669280" y="3730752"/>
            <a:ext cx="173736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37307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재구축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406640" y="3730752"/>
            <a:ext cx="1691640" cy="438912"/>
          </a:xfrm>
          <a:prstGeom prst="rect">
            <a:avLst/>
          </a:prstGeom>
          <a:solidFill>
            <a:srgbClr val="0E1A2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0" y="37307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불가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4187952"/>
            <a:ext cx="210312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18795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DF2"/>
                </a:solidFill>
              </a:rPr>
              <a:t>오픈소스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377440" y="4187952"/>
            <a:ext cx="1645920" cy="438912"/>
          </a:xfrm>
          <a:prstGeom prst="rect">
            <a:avLst/>
          </a:prstGeom>
          <a:solidFill>
            <a:srgbClr val="0A1E30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0" y="4187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계획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023360" y="4187952"/>
            <a:ext cx="164592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23360" y="4187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독점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669280" y="4187952"/>
            <a:ext cx="173736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418795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독점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406640" y="4187952"/>
            <a:ext cx="1691640" cy="438912"/>
          </a:xfrm>
          <a:prstGeom prst="rect">
            <a:avLst/>
          </a:prstGeom>
          <a:solidFill>
            <a:srgbClr val="111F2E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06640" y="418795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3946"/>
                </a:solidFill>
              </a:rPr>
              <a:t>❌ 독점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“AI 공격은 이미 규칙으로 탐지할 수 없는 수준에 도달했습니다. 행동 기반 AI 판단만이 유일한 대안입니다”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D166"/>
                </a:solidFill>
              </a:rPr>
              <a:t>시장 기회 &amp; 비즈니스 모델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왜 기업은 Contexa에 지갑을 여는가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1417320"/>
          </a:xfrm>
          <a:prstGeom prst="rect">
            <a:avLst/>
          </a:prstGeom>
          <a:solidFill>
            <a:srgbClr val="1A2B3C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</a:rPr>
              <a:t>AI Security 시장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$20B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</a:rPr>
              <a:t>→ $100B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CAGR 34%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743200" cy="1417320"/>
          </a:xfrm>
          <a:prstGeom prst="rect">
            <a:avLst/>
          </a:prstGeom>
          <a:solidFill>
            <a:srgbClr val="1A2B3C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Zero Trust 시장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$34B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166"/>
                </a:solidFill>
              </a:rPr>
              <a:t>→ $71B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20299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CAGR 19%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743200" cy="1417320"/>
          </a:xfrm>
          <a:prstGeom prst="rect">
            <a:avLst/>
          </a:prstGeom>
          <a:solidFill>
            <a:srgbClr val="1A2B3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IAM 통합 시장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508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$250B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</a:rPr>
              <a:t>→ $600B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0299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CAGR 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E0"/>
                </a:solidFill>
              </a:rPr>
              <a:t>Contexa 수익 구조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108960"/>
            <a:ext cx="2743200" cy="178308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20240" y="3154680"/>
            <a:ext cx="100584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154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무료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1821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Community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566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오픈소스 Core — Spring 생태계 표준 선점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GitHub 커뮤니티 · 개발자 신뢰 확보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마케팅 비용 ₩0 — 5,000명 채널 즉시 활용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108960"/>
            <a:ext cx="2743200" cy="1783080"/>
          </a:xfrm>
          <a:prstGeom prst="rect">
            <a:avLst/>
          </a:prstGeom>
          <a:solidFill>
            <a:srgbClr val="1A2B3C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154680"/>
            <a:ext cx="1005840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154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Enterprise SaaS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31821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Enterprise Full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566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보호 API 수 기반 과금 (중견기업 타겟)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연간 계약 — 대기업 · 금융 · 공공 대상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SOAR + 컴플라이언스 리포트 전체 포함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108960"/>
            <a:ext cx="2743200" cy="1783080"/>
          </a:xfrm>
          <a:prstGeom prst="rect">
            <a:avLst/>
          </a:prstGeom>
          <a:solidFill>
            <a:srgbClr val="1A2B3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0" y="3154680"/>
            <a:ext cx="100584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154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36개월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31821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M&amp;A Exit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3566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Okta / CrowdStrike 등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글로벌 보안 리더 타겟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$50~100M+ 목표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E0"/>
                </a:solidFill>
              </a:rPr>
              <a:t>팀 &amp; 자산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이 조합은 세상에 없습니다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3657600"/>
          </a:xfrm>
          <a:prstGeom prst="rect">
            <a:avLst/>
          </a:prstGeom>
          <a:solidFill>
            <a:srgbClr val="1A2B3C"/>
          </a:solidFill>
          <a:ln w="12700">
            <a:solidFill>
              <a:srgbClr val="00C2E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정수원  —  Founder &amp; Chief Architect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</a:rPr>
              <a:t>경력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664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25년 Java/Spring 시큐리티 개발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</a:rPr>
              <a:t>강의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2128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인프런 Spring Security 분야 1위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761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</a:rPr>
              <a:t>수강생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7614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5,000명+ 현직 개발자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</a:rPr>
              <a:t>PoC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3101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5개월, 500+ 파일 단독 설계·구현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8587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E0"/>
                </a:solidFill>
              </a:rPr>
              <a:t>차별성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38587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Spring Security 심층 아키텍처 재설계 가능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</a:rPr>
              <a:t>5,000명 현직 개발자 — 광고 없이 즉시 전파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4206240" cy="1600200"/>
          </a:xfrm>
          <a:prstGeom prst="rect">
            <a:avLst/>
          </a:prstGeom>
          <a:solidFill>
            <a:srgbClr val="1A2B3C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🏆  언페어 어드밴티지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D166"/>
                </a:solidFill>
              </a:rPr>
              <a:t>5,000명</a:t>
            </a:r>
            <a:r>
              <a:rPr lang="en-US" sz="1100" dirty="0">
                <a:solidFill>
                  <a:srgbClr val="FFFFFF"/>
                </a:solidFill>
              </a:rPr>
              <a:t>  현직 개발자 수강생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8EDF2"/>
                </a:solidFill>
              </a:rPr>
              <a:t>네이버 · 카카오 · 금융권 재직자 포함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</a:rPr>
              <a:t>마케팅 비용 ₩0 으로 즉시 전파 가능한 채널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206240" cy="1920240"/>
          </a:xfrm>
          <a:prstGeom prst="rect">
            <a:avLst/>
          </a:prstGeom>
          <a:solidFill>
            <a:srgbClr val="1A2B3C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971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🔓  오픈소스 전략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40156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🟢 contexa-core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12280" y="340156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🟢 contexa-iam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378561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🟢 contexa-identity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378561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🟢 contexa-autoconfigure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416966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🔒 contexa-core-enterprise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416966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🔒 contexa-mcp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D6A0"/>
                </a:solidFill>
              </a:rPr>
              <a:t>로드맵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3년 안에 M&amp;A Exit — 단계별 실행 계획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7498080" cy="0"/>
          </a:xfrm>
          <a:prstGeom prst="line">
            <a:avLst/>
          </a:prstGeom>
          <a:noFill/>
          <a:ln w="25400">
            <a:solidFill>
              <a:srgbClr val="1B6C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874520"/>
            <a:ext cx="457200" cy="4572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2743200" cy="68580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1차년도 — 생태계 진입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기업가치 $10M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274320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오픈소스 Core 공개 · Spring 생태계 표준 선점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044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GitHub Star 1K+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5753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spring-boot-starter 출시 · KISA 인증 준비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1056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초기 사용자 피드백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1874520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143000"/>
            <a:ext cx="2743200" cy="685800"/>
          </a:xfrm>
          <a:prstGeom prst="rect">
            <a:avLst/>
          </a:prstGeom>
          <a:solidFill>
            <a:srgbClr val="1A2B3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2차년도 — 상업화 증명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508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기업가치 $30~50M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274320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Enterprise Full 유료 고객 확보 (금융 · 공공 우선)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3044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핵심 커미터 확보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5753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ARR 성장 증명 · 인수 협상 레버리지 확보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41056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M&amp;A 주관사 선정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187452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143000"/>
            <a:ext cx="2743200" cy="685800"/>
          </a:xfrm>
          <a:prstGeom prst="rect">
            <a:avLst/>
          </a:prstGeom>
          <a:solidFill>
            <a:srgbClr val="1A2B3C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3차년도 — Exit 실행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1508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$50~100M+ EXIT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423160"/>
            <a:ext cx="2743200" cy="2468880"/>
          </a:xfrm>
          <a:prstGeom prst="rect">
            <a:avLst/>
          </a:prstGeom>
          <a:solidFill>
            <a:srgbClr val="1A2B3C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글로벌 보안 리더 접촉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3044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CrowdStrike · Palo Alto · Okta 동시 접촉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5753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협상력 극대화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41056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</a:rPr>
              <a:t>→  전략적 M&amp;A 완료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C2E0"/>
                </a:solidFill>
              </a:rPr>
              <a:t>정책 정렬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38912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KISA 제로트러스트 2.0 —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정부의 청사진을 이미 구현했습니다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859536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384048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81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KISA 제로트러스트 2.0 요구사항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481328"/>
            <a:ext cx="4023360" cy="365760"/>
          </a:xfrm>
          <a:prstGeom prst="rect">
            <a:avLst/>
          </a:prstGeom>
          <a:solidFill>
            <a:srgbClr val="1A406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481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E0"/>
                </a:solidFill>
              </a:rPr>
              <a:t>Contexa 구현 현황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21040" y="1481328"/>
            <a:ext cx="548640" cy="365760"/>
          </a:xfrm>
          <a:prstGeom prst="rect">
            <a:avLst/>
          </a:prstGeom>
          <a:solidFill>
            <a:srgbClr val="1A2B3C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4813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899AA"/>
                </a:solidFill>
              </a:rPr>
              <a:t>상태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384048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02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</a:rPr>
              <a:t>AI/ML 기반 동적 신뢰 평가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920240"/>
            <a:ext cx="402336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9202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E0"/>
                </a:solidFill>
              </a:rPr>
              <a:t>HCADFilter + BaselineVector 실시간 분석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21040" y="1920240"/>
            <a:ext cx="54864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92024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D6A0"/>
                </a:solidFill>
              </a:rPr>
              <a:t>✅ 구현 완료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450592"/>
            <a:ext cx="3840480" cy="475488"/>
          </a:xfrm>
          <a:prstGeom prst="rect">
            <a:avLst/>
          </a:prstGeom>
          <a:solidFill>
            <a:srgbClr val="0E1A26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505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</a:rPr>
              <a:t>자동화된 위협 대응 (SOAR)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2450592"/>
            <a:ext cx="4023360" cy="475488"/>
          </a:xfrm>
          <a:prstGeom prst="rect">
            <a:avLst/>
          </a:prstGeom>
          <a:solidFill>
            <a:srgbClr val="0E1A26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4505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E0"/>
                </a:solidFill>
              </a:rPr>
              <a:t>AI SOAR + Human-in-the-Loop 승인 시스템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21040" y="2450592"/>
            <a:ext cx="548640" cy="475488"/>
          </a:xfrm>
          <a:prstGeom prst="rect">
            <a:avLst/>
          </a:prstGeom>
          <a:solidFill>
            <a:srgbClr val="0E1A26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245059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D6A0"/>
                </a:solidFill>
              </a:rPr>
              <a:t>✅ 구현 완료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980944"/>
            <a:ext cx="384048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8094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</a:rPr>
              <a:t>지속적인 학습 루프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2980944"/>
            <a:ext cx="402336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9809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E0"/>
                </a:solidFill>
              </a:rPr>
              <a:t>FeedbackLoopSystem + AutonomousLearningCoordinator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2980944"/>
            <a:ext cx="54864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298094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D6A0"/>
                </a:solidFill>
              </a:rPr>
              <a:t>✅ 구현 완료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511296"/>
            <a:ext cx="3840480" cy="475488"/>
          </a:xfrm>
          <a:prstGeom prst="rect">
            <a:avLst/>
          </a:prstGeom>
          <a:solidFill>
            <a:srgbClr val="0E1A26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1129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</a:rPr>
              <a:t>행동 기반 이상 탐지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3511296"/>
            <a:ext cx="4023360" cy="475488"/>
          </a:xfrm>
          <a:prstGeom prst="rect">
            <a:avLst/>
          </a:prstGeom>
          <a:solidFill>
            <a:srgbClr val="0E1A26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5112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E0"/>
                </a:solidFill>
              </a:rPr>
              <a:t>행동패턴 + 요청 컨텍스트 기준선 분석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21040" y="3511296"/>
            <a:ext cx="548640" cy="475488"/>
          </a:xfrm>
          <a:prstGeom prst="rect">
            <a:avLst/>
          </a:prstGeom>
          <a:solidFill>
            <a:srgbClr val="0E1A26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351129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D6A0"/>
                </a:solidFill>
              </a:rPr>
              <a:t>✅ 구현 완료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4041648"/>
            <a:ext cx="384048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4164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</a:rPr>
              <a:t>제로트러스트 Level 4 (최적)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06240" y="4041648"/>
            <a:ext cx="402336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404164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E0"/>
                </a:solidFill>
              </a:rPr>
              <a:t>'자율(Autonomous)' 단계 — Level 4 초과 구현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21040" y="4041648"/>
            <a:ext cx="548640" cy="475488"/>
          </a:xfrm>
          <a:prstGeom prst="rect">
            <a:avLst/>
          </a:prstGeom>
          <a:solidFill>
            <a:srgbClr val="1A2B3C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404164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166"/>
                </a:solidFill>
              </a:rPr>
              <a:t>🔥 초과 달성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A204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E0"/>
                </a:solidFill>
              </a:rPr>
              <a:t>KISA의 청사진은 Contexa에게 미래 과제가 아닌 이미 구현된 현재입니다  —  국내 유일의 자율(Autonomous) 단계 AI 보안 플랫폼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D2235"/>
          </a:solidFill>
          <a:ln w="12700">
            <a:solidFill>
              <a:srgbClr val="0D22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91828"/>
          </a:solidFill>
          <a:ln w="12700">
            <a:solidFill>
              <a:srgbClr val="091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1200" dirty="0">
                <a:solidFill>
                  <a:srgbClr val="FFFFFF"/>
                </a:solidFill>
              </a:rPr>
              <a:t>CONTEXA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1508760"/>
            <a:ext cx="4572000" cy="4572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E0"/>
                </a:solidFill>
              </a:rPr>
              <a:t>AI-Native Security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E8EDF2"/>
                </a:solidFill>
              </a:rPr>
              <a:t>쿠팡 사태는 예고였습니다.</a:t>
            </a:r>
            <a:endParaRPr lang="en-US" sz="15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i="1" dirty="0">
                <a:solidFill>
                  <a:srgbClr val="E8EDF2"/>
                </a:solidFill>
              </a:rPr>
              <a:t>다음 피해자가 나오기 전에, 보안의 패러다임을 바꿔야 합니다.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286000" y="3337560"/>
            <a:ext cx="4572000" cy="1188720"/>
          </a:xfrm>
          <a:prstGeom prst="rect">
            <a:avLst/>
          </a:prstGeom>
          <a:solidFill>
            <a:srgbClr val="1A2B3C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3337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정수원  |  Founder &amp; Chief Architect
</a:t>
            </a:r>
            <a:r>
              <a:rPr lang="en-US" sz="1200" dirty="0">
                <a:solidFill>
                  <a:srgbClr val="00C2E0"/>
                </a:solidFill>
              </a:rPr>
              <a:t>leaven73@gmail.com  |  github.com/onjsdnjs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9AA"/>
                </a:solidFill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1270</Words>
  <Application>Microsoft Office PowerPoint</Application>
  <PresentationFormat>화면 슬라이드 쇼(16:9)</PresentationFormat>
  <Paragraphs>262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-apple-system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Contexa - AI-Native Security Platform</dc:title>
  <dc:subject>PptxGenJS Presentation</dc:subject>
  <dc:creator>PptxGenJS</dc:creator>
  <cp:lastModifiedBy>leaven</cp:lastModifiedBy>
  <cp:revision>2</cp:revision>
  <dcterms:created xsi:type="dcterms:W3CDTF">2026-02-18T04:57:27Z</dcterms:created>
  <dcterms:modified xsi:type="dcterms:W3CDTF">2026-02-18T09:19:58Z</dcterms:modified>
</cp:coreProperties>
</file>